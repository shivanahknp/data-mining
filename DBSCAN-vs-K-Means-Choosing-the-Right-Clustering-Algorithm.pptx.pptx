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5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CFD0D8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5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rgbClr val="CFD0D8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5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5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17">
              <a:alpha val="9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0082" y="642439"/>
            <a:ext cx="16441572" cy="2093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5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22060" y="3659867"/>
            <a:ext cx="9384030" cy="5391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CFD0D8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image" Target="../media/image14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1430000" y="0"/>
            <a:ext cx="6858000" cy="10287000"/>
            <a:chOff x="11430000" y="0"/>
            <a:chExt cx="6858000" cy="10287000"/>
          </a:xfrm>
        </p:grpSpPr>
        <p:pic>
          <p:nvPicPr>
            <p:cNvPr id="3" name="object 3" descr="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49016" y="9686925"/>
              <a:ext cx="2153221" cy="51434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30000" y="0"/>
              <a:ext cx="6857998" cy="1028699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79538" y="2306751"/>
            <a:ext cx="9328785" cy="262572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6900"/>
              </a:lnSpc>
            </a:pPr>
            <a:r>
              <a:rPr dirty="0" sz="5550"/>
              <a:t>DBSCAN</a:t>
            </a:r>
            <a:r>
              <a:rPr dirty="0" sz="5550" spc="-160"/>
              <a:t> </a:t>
            </a:r>
            <a:r>
              <a:rPr dirty="0" sz="5550"/>
              <a:t>vs.</a:t>
            </a:r>
            <a:r>
              <a:rPr dirty="0" sz="5550" spc="-155"/>
              <a:t> </a:t>
            </a:r>
            <a:r>
              <a:rPr dirty="0" sz="5550" spc="-530"/>
              <a:t>K-</a:t>
            </a:r>
            <a:r>
              <a:rPr dirty="0" sz="5550" spc="-10"/>
              <a:t>Means: </a:t>
            </a:r>
            <a:r>
              <a:rPr dirty="0" sz="5550"/>
              <a:t>Choosing</a:t>
            </a:r>
            <a:r>
              <a:rPr dirty="0" sz="5550" spc="-240"/>
              <a:t> </a:t>
            </a:r>
            <a:r>
              <a:rPr dirty="0" sz="5550"/>
              <a:t>the</a:t>
            </a:r>
            <a:r>
              <a:rPr dirty="0" sz="5550" spc="-235"/>
              <a:t> </a:t>
            </a:r>
            <a:r>
              <a:rPr dirty="0" sz="5550" spc="-20"/>
              <a:t>Right</a:t>
            </a:r>
            <a:r>
              <a:rPr dirty="0" sz="5550" spc="-240"/>
              <a:t> </a:t>
            </a:r>
            <a:r>
              <a:rPr dirty="0" sz="5550" spc="-10"/>
              <a:t>Clustering Algorithm</a:t>
            </a:r>
            <a:endParaRPr sz="5550"/>
          </a:p>
        </p:txBody>
      </p:sp>
      <p:sp>
        <p:nvSpPr>
          <p:cNvPr id="6" name="object 6" descr=""/>
          <p:cNvSpPr txBox="1"/>
          <p:nvPr/>
        </p:nvSpPr>
        <p:spPr>
          <a:xfrm>
            <a:off x="979538" y="5299306"/>
            <a:ext cx="9207500" cy="24720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6600"/>
              </a:lnSpc>
              <a:spcBef>
                <a:spcPts val="90"/>
              </a:spcBef>
            </a:pPr>
            <a:r>
              <a:rPr dirty="0" sz="2150" spc="50">
                <a:solidFill>
                  <a:srgbClr val="CFD0D8"/>
                </a:solidFill>
                <a:latin typeface="Roboto"/>
                <a:cs typeface="Roboto"/>
              </a:rPr>
              <a:t>A</a:t>
            </a:r>
            <a:r>
              <a:rPr dirty="0" sz="2150" spc="-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comprehensive</a:t>
            </a:r>
            <a:r>
              <a:rPr dirty="0" sz="2150" spc="-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guide</a:t>
            </a:r>
            <a:r>
              <a:rPr dirty="0" sz="2150" spc="-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to</a:t>
            </a:r>
            <a:r>
              <a:rPr dirty="0" sz="2150" spc="-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selecting</a:t>
            </a:r>
            <a:r>
              <a:rPr dirty="0" sz="2150" spc="-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the</a:t>
            </a:r>
            <a:r>
              <a:rPr dirty="0" sz="2150" spc="-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optimal</a:t>
            </a:r>
            <a:r>
              <a:rPr dirty="0" sz="2150" spc="-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clustering</a:t>
            </a:r>
            <a:r>
              <a:rPr dirty="0" sz="2150" spc="-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method</a:t>
            </a:r>
            <a:r>
              <a:rPr dirty="0" sz="2150" spc="-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for</a:t>
            </a:r>
            <a:r>
              <a:rPr dirty="0" sz="2150" spc="-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20">
                <a:solidFill>
                  <a:srgbClr val="CFD0D8"/>
                </a:solidFill>
                <a:latin typeface="Roboto"/>
                <a:cs typeface="Roboto"/>
              </a:rPr>
              <a:t>your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data</a:t>
            </a:r>
            <a:r>
              <a:rPr dirty="0" sz="215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analysis</a:t>
            </a:r>
            <a:r>
              <a:rPr dirty="0" sz="215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20">
                <a:solidFill>
                  <a:srgbClr val="CFD0D8"/>
                </a:solidFill>
                <a:latin typeface="Roboto"/>
                <a:cs typeface="Roboto"/>
              </a:rPr>
              <a:t>needs</a:t>
            </a:r>
            <a:endParaRPr sz="2150">
              <a:latin typeface="Roboto"/>
              <a:cs typeface="Roboto"/>
            </a:endParaRPr>
          </a:p>
          <a:p>
            <a:pPr marL="12700" marR="4657090">
              <a:lnSpc>
                <a:spcPct val="235800"/>
              </a:lnSpc>
              <a:spcBef>
                <a:spcPts val="50"/>
              </a:spcBef>
            </a:pP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Submitted</a:t>
            </a:r>
            <a:r>
              <a:rPr dirty="0" sz="215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to</a:t>
            </a:r>
            <a:r>
              <a:rPr dirty="0" sz="21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200">
                <a:solidFill>
                  <a:srgbClr val="CFD0D8"/>
                </a:solidFill>
                <a:latin typeface="Roboto"/>
                <a:cs typeface="Roboto"/>
              </a:rPr>
              <a:t>:-</a:t>
            </a:r>
            <a:r>
              <a:rPr dirty="0" sz="21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Dr.</a:t>
            </a:r>
            <a:r>
              <a:rPr dirty="0" sz="215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Anirudha</a:t>
            </a:r>
            <a:r>
              <a:rPr dirty="0" sz="21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Gaikwad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Assistant</a:t>
            </a:r>
            <a:r>
              <a:rPr dirty="0" sz="21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professor(Dept</a:t>
            </a:r>
            <a:r>
              <a:rPr dirty="0" sz="21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of</a:t>
            </a:r>
            <a:r>
              <a:rPr dirty="0" sz="2150" spc="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20">
                <a:solidFill>
                  <a:srgbClr val="CFD0D8"/>
                </a:solidFill>
                <a:latin typeface="Roboto"/>
                <a:cs typeface="Roboto"/>
              </a:rPr>
              <a:t>CSE)</a:t>
            </a:r>
            <a:endParaRPr sz="21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9538" y="2500966"/>
            <a:ext cx="15647669" cy="8731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50"/>
              <a:t>The</a:t>
            </a:r>
            <a:r>
              <a:rPr dirty="0" sz="5550" spc="-245"/>
              <a:t> </a:t>
            </a:r>
            <a:r>
              <a:rPr dirty="0" sz="5550"/>
              <a:t>Challenge:</a:t>
            </a:r>
            <a:r>
              <a:rPr dirty="0" sz="5550" spc="-240"/>
              <a:t> </a:t>
            </a:r>
            <a:r>
              <a:rPr dirty="0" sz="5550" spc="-10"/>
              <a:t>Finding</a:t>
            </a:r>
            <a:r>
              <a:rPr dirty="0" sz="5550" spc="-240"/>
              <a:t> </a:t>
            </a:r>
            <a:r>
              <a:rPr dirty="0" sz="5550" spc="-20"/>
              <a:t>Patterns</a:t>
            </a:r>
            <a:r>
              <a:rPr dirty="0" sz="5550" spc="-240"/>
              <a:t> </a:t>
            </a:r>
            <a:r>
              <a:rPr dirty="0" sz="5550"/>
              <a:t>in</a:t>
            </a:r>
            <a:r>
              <a:rPr dirty="0" sz="5550" spc="-240"/>
              <a:t> </a:t>
            </a:r>
            <a:r>
              <a:rPr dirty="0" sz="5550" spc="-20"/>
              <a:t>Unlabeled</a:t>
            </a:r>
            <a:r>
              <a:rPr dirty="0" sz="5550" spc="-240"/>
              <a:t> </a:t>
            </a:r>
            <a:r>
              <a:rPr dirty="0" sz="5550" spc="-20"/>
              <a:t>Data</a:t>
            </a:r>
            <a:endParaRPr sz="5550"/>
          </a:p>
        </p:txBody>
      </p:sp>
      <p:grpSp>
        <p:nvGrpSpPr>
          <p:cNvPr id="3" name="object 3" descr=""/>
          <p:cNvGrpSpPr/>
          <p:nvPr/>
        </p:nvGrpSpPr>
        <p:grpSpPr>
          <a:xfrm>
            <a:off x="987475" y="4018207"/>
            <a:ext cx="5255260" cy="3703320"/>
            <a:chOff x="987475" y="4018207"/>
            <a:chExt cx="5255260" cy="3703320"/>
          </a:xfrm>
        </p:grpSpPr>
        <p:sp>
          <p:nvSpPr>
            <p:cNvPr id="4" name="object 4" descr=""/>
            <p:cNvSpPr/>
            <p:nvPr/>
          </p:nvSpPr>
          <p:spPr>
            <a:xfrm>
              <a:off x="992238" y="4022970"/>
              <a:ext cx="5245735" cy="3694429"/>
            </a:xfrm>
            <a:custGeom>
              <a:avLst/>
              <a:gdLst/>
              <a:ahLst/>
              <a:cxnLst/>
              <a:rect l="l" t="t" r="r" b="b"/>
              <a:pathLst>
                <a:path w="5245735" h="3694429">
                  <a:moveTo>
                    <a:pt x="5126259" y="3693985"/>
                  </a:moveTo>
                  <a:lnTo>
                    <a:pt x="119157" y="3693985"/>
                  </a:lnTo>
                  <a:lnTo>
                    <a:pt x="72772" y="3684677"/>
                  </a:lnTo>
                  <a:lnTo>
                    <a:pt x="34897" y="3659171"/>
                  </a:lnTo>
                  <a:lnTo>
                    <a:pt x="9362" y="3621306"/>
                  </a:lnTo>
                  <a:lnTo>
                    <a:pt x="0" y="3574923"/>
                  </a:lnTo>
                  <a:lnTo>
                    <a:pt x="0" y="119062"/>
                  </a:lnTo>
                  <a:lnTo>
                    <a:pt x="9362" y="72732"/>
                  </a:lnTo>
                  <a:lnTo>
                    <a:pt x="34897" y="34885"/>
                  </a:lnTo>
                  <a:lnTo>
                    <a:pt x="72772" y="9361"/>
                  </a:lnTo>
                  <a:lnTo>
                    <a:pt x="119157" y="0"/>
                  </a:lnTo>
                  <a:lnTo>
                    <a:pt x="5126259" y="0"/>
                  </a:lnTo>
                  <a:lnTo>
                    <a:pt x="5172644" y="9361"/>
                  </a:lnTo>
                  <a:lnTo>
                    <a:pt x="5210520" y="34885"/>
                  </a:lnTo>
                  <a:lnTo>
                    <a:pt x="5236054" y="72732"/>
                  </a:lnTo>
                  <a:lnTo>
                    <a:pt x="5245417" y="119062"/>
                  </a:lnTo>
                  <a:lnTo>
                    <a:pt x="5245417" y="3574923"/>
                  </a:lnTo>
                  <a:lnTo>
                    <a:pt x="5236045" y="3621306"/>
                  </a:lnTo>
                  <a:lnTo>
                    <a:pt x="5210467" y="3659171"/>
                  </a:lnTo>
                  <a:lnTo>
                    <a:pt x="5172445" y="3684677"/>
                  </a:lnTo>
                  <a:lnTo>
                    <a:pt x="5126259" y="3693985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87475" y="4018207"/>
              <a:ext cx="5255260" cy="3703320"/>
            </a:xfrm>
            <a:custGeom>
              <a:avLst/>
              <a:gdLst/>
              <a:ahLst/>
              <a:cxnLst/>
              <a:rect l="l" t="t" r="r" b="b"/>
              <a:pathLst>
                <a:path w="5255260" h="3703320">
                  <a:moveTo>
                    <a:pt x="123920" y="3703231"/>
                  </a:moveTo>
                  <a:lnTo>
                    <a:pt x="122534" y="3703231"/>
                  </a:lnTo>
                  <a:lnTo>
                    <a:pt x="75665" y="3693780"/>
                  </a:lnTo>
                  <a:lnTo>
                    <a:pt x="36278" y="3667244"/>
                  </a:lnTo>
                  <a:lnTo>
                    <a:pt x="9731" y="3627885"/>
                  </a:lnTo>
                  <a:lnTo>
                    <a:pt x="0" y="3579685"/>
                  </a:lnTo>
                  <a:lnTo>
                    <a:pt x="0" y="123825"/>
                  </a:lnTo>
                  <a:lnTo>
                    <a:pt x="9745" y="75625"/>
                  </a:lnTo>
                  <a:lnTo>
                    <a:pt x="36314" y="36266"/>
                  </a:lnTo>
                  <a:lnTo>
                    <a:pt x="75705" y="9730"/>
                  </a:lnTo>
                  <a:lnTo>
                    <a:pt x="123920" y="0"/>
                  </a:lnTo>
                  <a:lnTo>
                    <a:pt x="5131021" y="0"/>
                  </a:lnTo>
                  <a:lnTo>
                    <a:pt x="5131021" y="4762"/>
                  </a:lnTo>
                  <a:lnTo>
                    <a:pt x="123920" y="4762"/>
                  </a:lnTo>
                  <a:lnTo>
                    <a:pt x="123920" y="9525"/>
                  </a:lnTo>
                  <a:lnTo>
                    <a:pt x="79404" y="18503"/>
                  </a:lnTo>
                  <a:lnTo>
                    <a:pt x="43041" y="42993"/>
                  </a:lnTo>
                  <a:lnTo>
                    <a:pt x="18518" y="79323"/>
                  </a:lnTo>
                  <a:lnTo>
                    <a:pt x="9525" y="123825"/>
                  </a:lnTo>
                  <a:lnTo>
                    <a:pt x="9525" y="3579685"/>
                  </a:lnTo>
                  <a:lnTo>
                    <a:pt x="18518" y="3624186"/>
                  </a:lnTo>
                  <a:lnTo>
                    <a:pt x="43041" y="3660517"/>
                  </a:lnTo>
                  <a:lnTo>
                    <a:pt x="79404" y="3685007"/>
                  </a:lnTo>
                  <a:lnTo>
                    <a:pt x="123920" y="3693985"/>
                  </a:lnTo>
                  <a:lnTo>
                    <a:pt x="5178218" y="3693985"/>
                  </a:lnTo>
                  <a:lnTo>
                    <a:pt x="5154620" y="3698748"/>
                  </a:lnTo>
                  <a:lnTo>
                    <a:pt x="123920" y="3698748"/>
                  </a:lnTo>
                  <a:lnTo>
                    <a:pt x="123920" y="3703231"/>
                  </a:lnTo>
                  <a:close/>
                </a:path>
                <a:path w="5255260" h="3703320">
                  <a:moveTo>
                    <a:pt x="5178218" y="3693985"/>
                  </a:moveTo>
                  <a:lnTo>
                    <a:pt x="5131021" y="3693985"/>
                  </a:lnTo>
                  <a:lnTo>
                    <a:pt x="5175578" y="3685007"/>
                  </a:lnTo>
                  <a:lnTo>
                    <a:pt x="5211936" y="3660517"/>
                  </a:lnTo>
                  <a:lnTo>
                    <a:pt x="5236437" y="3624186"/>
                  </a:lnTo>
                  <a:lnTo>
                    <a:pt x="5245417" y="3579685"/>
                  </a:lnTo>
                  <a:lnTo>
                    <a:pt x="5245417" y="123825"/>
                  </a:lnTo>
                  <a:lnTo>
                    <a:pt x="5236423" y="79323"/>
                  </a:lnTo>
                  <a:lnTo>
                    <a:pt x="5211901" y="42993"/>
                  </a:lnTo>
                  <a:lnTo>
                    <a:pt x="5175538" y="18503"/>
                  </a:lnTo>
                  <a:lnTo>
                    <a:pt x="5131021" y="9525"/>
                  </a:lnTo>
                  <a:lnTo>
                    <a:pt x="123920" y="9525"/>
                  </a:lnTo>
                  <a:lnTo>
                    <a:pt x="123920" y="4762"/>
                  </a:lnTo>
                  <a:lnTo>
                    <a:pt x="5131021" y="4762"/>
                  </a:lnTo>
                  <a:lnTo>
                    <a:pt x="5131021" y="0"/>
                  </a:lnTo>
                  <a:lnTo>
                    <a:pt x="5179276" y="9730"/>
                  </a:lnTo>
                  <a:lnTo>
                    <a:pt x="5218664" y="36266"/>
                  </a:lnTo>
                  <a:lnTo>
                    <a:pt x="5245210" y="75625"/>
                  </a:lnTo>
                  <a:lnTo>
                    <a:pt x="5254970" y="123825"/>
                  </a:lnTo>
                  <a:lnTo>
                    <a:pt x="5254970" y="3579685"/>
                  </a:lnTo>
                  <a:lnTo>
                    <a:pt x="5245197" y="3627885"/>
                  </a:lnTo>
                  <a:lnTo>
                    <a:pt x="5218628" y="3667244"/>
                  </a:lnTo>
                  <a:lnTo>
                    <a:pt x="5179236" y="3693780"/>
                  </a:lnTo>
                  <a:lnTo>
                    <a:pt x="5178218" y="3693985"/>
                  </a:lnTo>
                  <a:close/>
                </a:path>
                <a:path w="5255260" h="3703320">
                  <a:moveTo>
                    <a:pt x="5131021" y="3703231"/>
                  </a:moveTo>
                  <a:lnTo>
                    <a:pt x="123920" y="3703231"/>
                  </a:lnTo>
                  <a:lnTo>
                    <a:pt x="123920" y="3698748"/>
                  </a:lnTo>
                  <a:lnTo>
                    <a:pt x="5131021" y="3698748"/>
                  </a:lnTo>
                  <a:lnTo>
                    <a:pt x="5131021" y="3703231"/>
                  </a:lnTo>
                  <a:close/>
                </a:path>
                <a:path w="5255260" h="3703320">
                  <a:moveTo>
                    <a:pt x="5132406" y="3703231"/>
                  </a:moveTo>
                  <a:lnTo>
                    <a:pt x="5131021" y="3703231"/>
                  </a:lnTo>
                  <a:lnTo>
                    <a:pt x="5131021" y="3698748"/>
                  </a:lnTo>
                  <a:lnTo>
                    <a:pt x="5154620" y="3698748"/>
                  </a:lnTo>
                  <a:lnTo>
                    <a:pt x="5132406" y="3703231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285284" y="4316015"/>
              <a:ext cx="850900" cy="850900"/>
            </a:xfrm>
            <a:custGeom>
              <a:avLst/>
              <a:gdLst/>
              <a:ahLst/>
              <a:cxnLst/>
              <a:rect l="l" t="t" r="r" b="b"/>
              <a:pathLst>
                <a:path w="850900" h="850900">
                  <a:moveTo>
                    <a:pt x="425291" y="850582"/>
                  </a:moveTo>
                  <a:lnTo>
                    <a:pt x="378950" y="848086"/>
                  </a:lnTo>
                  <a:lnTo>
                    <a:pt x="334054" y="840773"/>
                  </a:lnTo>
                  <a:lnTo>
                    <a:pt x="290864" y="828901"/>
                  </a:lnTo>
                  <a:lnTo>
                    <a:pt x="249638" y="812729"/>
                  </a:lnTo>
                  <a:lnTo>
                    <a:pt x="210636" y="792518"/>
                  </a:lnTo>
                  <a:lnTo>
                    <a:pt x="174117" y="768527"/>
                  </a:lnTo>
                  <a:lnTo>
                    <a:pt x="140341" y="741014"/>
                  </a:lnTo>
                  <a:lnTo>
                    <a:pt x="109567" y="710240"/>
                  </a:lnTo>
                  <a:lnTo>
                    <a:pt x="82055" y="676464"/>
                  </a:lnTo>
                  <a:lnTo>
                    <a:pt x="58063" y="639945"/>
                  </a:lnTo>
                  <a:lnTo>
                    <a:pt x="37852" y="600943"/>
                  </a:lnTo>
                  <a:lnTo>
                    <a:pt x="21681" y="559717"/>
                  </a:lnTo>
                  <a:lnTo>
                    <a:pt x="9809" y="516527"/>
                  </a:lnTo>
                  <a:lnTo>
                    <a:pt x="2495" y="471632"/>
                  </a:lnTo>
                  <a:lnTo>
                    <a:pt x="0" y="425291"/>
                  </a:lnTo>
                  <a:lnTo>
                    <a:pt x="2495" y="378950"/>
                  </a:lnTo>
                  <a:lnTo>
                    <a:pt x="9809" y="334054"/>
                  </a:lnTo>
                  <a:lnTo>
                    <a:pt x="21681" y="290864"/>
                  </a:lnTo>
                  <a:lnTo>
                    <a:pt x="37852" y="249638"/>
                  </a:lnTo>
                  <a:lnTo>
                    <a:pt x="58063" y="210636"/>
                  </a:lnTo>
                  <a:lnTo>
                    <a:pt x="82055" y="174117"/>
                  </a:lnTo>
                  <a:lnTo>
                    <a:pt x="109567" y="140341"/>
                  </a:lnTo>
                  <a:lnTo>
                    <a:pt x="140341" y="109567"/>
                  </a:lnTo>
                  <a:lnTo>
                    <a:pt x="174117" y="82055"/>
                  </a:lnTo>
                  <a:lnTo>
                    <a:pt x="210636" y="58063"/>
                  </a:lnTo>
                  <a:lnTo>
                    <a:pt x="249638" y="37852"/>
                  </a:lnTo>
                  <a:lnTo>
                    <a:pt x="290864" y="21681"/>
                  </a:lnTo>
                  <a:lnTo>
                    <a:pt x="334054" y="9809"/>
                  </a:lnTo>
                  <a:lnTo>
                    <a:pt x="378950" y="2495"/>
                  </a:lnTo>
                  <a:lnTo>
                    <a:pt x="425291" y="0"/>
                  </a:lnTo>
                  <a:lnTo>
                    <a:pt x="471632" y="2495"/>
                  </a:lnTo>
                  <a:lnTo>
                    <a:pt x="516527" y="9809"/>
                  </a:lnTo>
                  <a:lnTo>
                    <a:pt x="559717" y="21681"/>
                  </a:lnTo>
                  <a:lnTo>
                    <a:pt x="600943" y="37852"/>
                  </a:lnTo>
                  <a:lnTo>
                    <a:pt x="639945" y="58063"/>
                  </a:lnTo>
                  <a:lnTo>
                    <a:pt x="676464" y="82055"/>
                  </a:lnTo>
                  <a:lnTo>
                    <a:pt x="710240" y="109567"/>
                  </a:lnTo>
                  <a:lnTo>
                    <a:pt x="741014" y="140341"/>
                  </a:lnTo>
                  <a:lnTo>
                    <a:pt x="768527" y="174117"/>
                  </a:lnTo>
                  <a:lnTo>
                    <a:pt x="792518" y="210636"/>
                  </a:lnTo>
                  <a:lnTo>
                    <a:pt x="812729" y="249638"/>
                  </a:lnTo>
                  <a:lnTo>
                    <a:pt x="828901" y="290864"/>
                  </a:lnTo>
                  <a:lnTo>
                    <a:pt x="840773" y="334054"/>
                  </a:lnTo>
                  <a:lnTo>
                    <a:pt x="848086" y="378950"/>
                  </a:lnTo>
                  <a:lnTo>
                    <a:pt x="850582" y="425291"/>
                  </a:lnTo>
                  <a:lnTo>
                    <a:pt x="848086" y="471632"/>
                  </a:lnTo>
                  <a:lnTo>
                    <a:pt x="840773" y="516527"/>
                  </a:lnTo>
                  <a:lnTo>
                    <a:pt x="828901" y="559717"/>
                  </a:lnTo>
                  <a:lnTo>
                    <a:pt x="812729" y="600943"/>
                  </a:lnTo>
                  <a:lnTo>
                    <a:pt x="792518" y="639945"/>
                  </a:lnTo>
                  <a:lnTo>
                    <a:pt x="768527" y="676464"/>
                  </a:lnTo>
                  <a:lnTo>
                    <a:pt x="741014" y="710240"/>
                  </a:lnTo>
                  <a:lnTo>
                    <a:pt x="710240" y="741014"/>
                  </a:lnTo>
                  <a:lnTo>
                    <a:pt x="676464" y="768527"/>
                  </a:lnTo>
                  <a:lnTo>
                    <a:pt x="639945" y="792518"/>
                  </a:lnTo>
                  <a:lnTo>
                    <a:pt x="600943" y="812729"/>
                  </a:lnTo>
                  <a:lnTo>
                    <a:pt x="559717" y="828901"/>
                  </a:lnTo>
                  <a:lnTo>
                    <a:pt x="516527" y="840773"/>
                  </a:lnTo>
                  <a:lnTo>
                    <a:pt x="471632" y="848086"/>
                  </a:lnTo>
                  <a:lnTo>
                    <a:pt x="425291" y="850582"/>
                  </a:lnTo>
                  <a:close/>
                </a:path>
              </a:pathLst>
            </a:custGeom>
            <a:solidFill>
              <a:srgbClr val="596ED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17498" y="4557578"/>
              <a:ext cx="272691" cy="365495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536854" y="4567408"/>
              <a:ext cx="222250" cy="252729"/>
            </a:xfrm>
            <a:custGeom>
              <a:avLst/>
              <a:gdLst/>
              <a:ahLst/>
              <a:cxnLst/>
              <a:rect l="l" t="t" r="r" b="b"/>
              <a:pathLst>
                <a:path w="222250" h="252729">
                  <a:moveTo>
                    <a:pt x="105916" y="0"/>
                  </a:moveTo>
                  <a:lnTo>
                    <a:pt x="98897" y="1372"/>
                  </a:lnTo>
                  <a:lnTo>
                    <a:pt x="92037" y="3307"/>
                  </a:lnTo>
                  <a:lnTo>
                    <a:pt x="85336" y="5805"/>
                  </a:lnTo>
                  <a:lnTo>
                    <a:pt x="78634" y="8302"/>
                  </a:lnTo>
                  <a:lnTo>
                    <a:pt x="72181" y="11329"/>
                  </a:lnTo>
                  <a:lnTo>
                    <a:pt x="65975" y="14884"/>
                  </a:lnTo>
                  <a:lnTo>
                    <a:pt x="59770" y="18440"/>
                  </a:lnTo>
                  <a:lnTo>
                    <a:pt x="32938" y="41816"/>
                  </a:lnTo>
                  <a:lnTo>
                    <a:pt x="28205" y="47177"/>
                  </a:lnTo>
                  <a:lnTo>
                    <a:pt x="10310" y="77937"/>
                  </a:lnTo>
                  <a:lnTo>
                    <a:pt x="7551" y="84536"/>
                  </a:lnTo>
                  <a:lnTo>
                    <a:pt x="5348" y="91314"/>
                  </a:lnTo>
                  <a:lnTo>
                    <a:pt x="3700" y="98274"/>
                  </a:lnTo>
                  <a:lnTo>
                    <a:pt x="2053" y="105233"/>
                  </a:lnTo>
                  <a:lnTo>
                    <a:pt x="983" y="112280"/>
                  </a:lnTo>
                  <a:lnTo>
                    <a:pt x="491" y="119415"/>
                  </a:lnTo>
                  <a:lnTo>
                    <a:pt x="0" y="126550"/>
                  </a:lnTo>
                  <a:lnTo>
                    <a:pt x="92" y="133677"/>
                  </a:lnTo>
                  <a:lnTo>
                    <a:pt x="8731" y="175481"/>
                  </a:lnTo>
                  <a:lnTo>
                    <a:pt x="30347" y="212291"/>
                  </a:lnTo>
                  <a:lnTo>
                    <a:pt x="62648" y="240200"/>
                  </a:lnTo>
                  <a:lnTo>
                    <a:pt x="81768" y="249845"/>
                  </a:lnTo>
                  <a:lnTo>
                    <a:pt x="88532" y="252167"/>
                  </a:lnTo>
                </a:path>
                <a:path w="222250" h="252729">
                  <a:moveTo>
                    <a:pt x="188581" y="248231"/>
                  </a:moveTo>
                  <a:lnTo>
                    <a:pt x="197504" y="243584"/>
                  </a:lnTo>
                  <a:lnTo>
                    <a:pt x="205988" y="238292"/>
                  </a:lnTo>
                  <a:lnTo>
                    <a:pt x="214033" y="232355"/>
                  </a:lnTo>
                  <a:lnTo>
                    <a:pt x="221641" y="225772"/>
                  </a:lnTo>
                </a:path>
              </a:pathLst>
            </a:custGeom>
            <a:ln w="1550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272584" y="5178934"/>
            <a:ext cx="4180840" cy="2093595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 spc="-20">
                <a:solidFill>
                  <a:srgbClr val="CFD0D8"/>
                </a:solidFill>
                <a:latin typeface="Roboto"/>
                <a:cs typeface="Roboto"/>
              </a:rPr>
              <a:t>Uncover</a:t>
            </a:r>
            <a:r>
              <a:rPr dirty="0" sz="2750" spc="-10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Hidden</a:t>
            </a:r>
            <a:r>
              <a:rPr dirty="0" sz="2750" spc="-10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 spc="-20">
                <a:solidFill>
                  <a:srgbClr val="CFD0D8"/>
                </a:solidFill>
                <a:latin typeface="Roboto"/>
                <a:cs typeface="Roboto"/>
              </a:rPr>
              <a:t>Structures</a:t>
            </a:r>
            <a:endParaRPr sz="2750">
              <a:latin typeface="Roboto"/>
              <a:cs typeface="Roboto"/>
            </a:endParaRPr>
          </a:p>
          <a:p>
            <a:pPr marL="12700" marR="36195">
              <a:lnSpc>
                <a:spcPct val="136600"/>
              </a:lnSpc>
              <a:spcBef>
                <a:spcPts val="555"/>
              </a:spcBef>
            </a:pP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Clustering</a:t>
            </a:r>
            <a:r>
              <a:rPr dirty="0" sz="21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reveals</a:t>
            </a:r>
            <a:r>
              <a:rPr dirty="0" sz="215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meaningful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patterns</a:t>
            </a:r>
            <a:r>
              <a:rPr dirty="0" sz="215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and</a:t>
            </a:r>
            <a:r>
              <a:rPr dirty="0" sz="215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relationships</a:t>
            </a:r>
            <a:r>
              <a:rPr dirty="0" sz="21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in</a:t>
            </a:r>
            <a:r>
              <a:rPr dirty="0" sz="215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20">
                <a:solidFill>
                  <a:srgbClr val="CFD0D8"/>
                </a:solidFill>
                <a:latin typeface="Roboto"/>
                <a:cs typeface="Roboto"/>
              </a:rPr>
              <a:t>data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without</a:t>
            </a:r>
            <a:r>
              <a:rPr dirty="0" sz="21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predefined</a:t>
            </a:r>
            <a:r>
              <a:rPr dirty="0" sz="21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labels</a:t>
            </a:r>
            <a:endParaRPr sz="2150">
              <a:latin typeface="Roboto"/>
              <a:cs typeface="Roboto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6516443" y="4018207"/>
            <a:ext cx="5255260" cy="3703320"/>
            <a:chOff x="6516443" y="4018207"/>
            <a:chExt cx="5255260" cy="3703320"/>
          </a:xfrm>
        </p:grpSpPr>
        <p:sp>
          <p:nvSpPr>
            <p:cNvPr id="11" name="object 11" descr=""/>
            <p:cNvSpPr/>
            <p:nvPr/>
          </p:nvSpPr>
          <p:spPr>
            <a:xfrm>
              <a:off x="6521206" y="4022970"/>
              <a:ext cx="5245735" cy="3694429"/>
            </a:xfrm>
            <a:custGeom>
              <a:avLst/>
              <a:gdLst/>
              <a:ahLst/>
              <a:cxnLst/>
              <a:rect l="l" t="t" r="r" b="b"/>
              <a:pathLst>
                <a:path w="5245734" h="3694429">
                  <a:moveTo>
                    <a:pt x="5126259" y="3693985"/>
                  </a:moveTo>
                  <a:lnTo>
                    <a:pt x="119157" y="3693985"/>
                  </a:lnTo>
                  <a:lnTo>
                    <a:pt x="72772" y="3684677"/>
                  </a:lnTo>
                  <a:lnTo>
                    <a:pt x="34897" y="3659171"/>
                  </a:lnTo>
                  <a:lnTo>
                    <a:pt x="9362" y="3621306"/>
                  </a:lnTo>
                  <a:lnTo>
                    <a:pt x="0" y="3574923"/>
                  </a:lnTo>
                  <a:lnTo>
                    <a:pt x="0" y="119062"/>
                  </a:lnTo>
                  <a:lnTo>
                    <a:pt x="9362" y="72732"/>
                  </a:lnTo>
                  <a:lnTo>
                    <a:pt x="34897" y="34885"/>
                  </a:lnTo>
                  <a:lnTo>
                    <a:pt x="72772" y="9361"/>
                  </a:lnTo>
                  <a:lnTo>
                    <a:pt x="119157" y="0"/>
                  </a:lnTo>
                  <a:lnTo>
                    <a:pt x="5126259" y="0"/>
                  </a:lnTo>
                  <a:lnTo>
                    <a:pt x="5172644" y="9361"/>
                  </a:lnTo>
                  <a:lnTo>
                    <a:pt x="5210520" y="34885"/>
                  </a:lnTo>
                  <a:lnTo>
                    <a:pt x="5236054" y="72732"/>
                  </a:lnTo>
                  <a:lnTo>
                    <a:pt x="5245417" y="119062"/>
                  </a:lnTo>
                  <a:lnTo>
                    <a:pt x="5245417" y="3574923"/>
                  </a:lnTo>
                  <a:lnTo>
                    <a:pt x="5236045" y="3621306"/>
                  </a:lnTo>
                  <a:lnTo>
                    <a:pt x="5210467" y="3659171"/>
                  </a:lnTo>
                  <a:lnTo>
                    <a:pt x="5172445" y="3684677"/>
                  </a:lnTo>
                  <a:lnTo>
                    <a:pt x="5126259" y="3693985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516443" y="4018207"/>
              <a:ext cx="5255260" cy="3703320"/>
            </a:xfrm>
            <a:custGeom>
              <a:avLst/>
              <a:gdLst/>
              <a:ahLst/>
              <a:cxnLst/>
              <a:rect l="l" t="t" r="r" b="b"/>
              <a:pathLst>
                <a:path w="5255259" h="3703320">
                  <a:moveTo>
                    <a:pt x="123920" y="3703231"/>
                  </a:moveTo>
                  <a:lnTo>
                    <a:pt x="122534" y="3703231"/>
                  </a:lnTo>
                  <a:lnTo>
                    <a:pt x="75665" y="3693780"/>
                  </a:lnTo>
                  <a:lnTo>
                    <a:pt x="36278" y="3667244"/>
                  </a:lnTo>
                  <a:lnTo>
                    <a:pt x="9732" y="3627885"/>
                  </a:lnTo>
                  <a:lnTo>
                    <a:pt x="0" y="3579685"/>
                  </a:lnTo>
                  <a:lnTo>
                    <a:pt x="0" y="123825"/>
                  </a:lnTo>
                  <a:lnTo>
                    <a:pt x="9745" y="75625"/>
                  </a:lnTo>
                  <a:lnTo>
                    <a:pt x="36314" y="36266"/>
                  </a:lnTo>
                  <a:lnTo>
                    <a:pt x="75705" y="9730"/>
                  </a:lnTo>
                  <a:lnTo>
                    <a:pt x="123920" y="0"/>
                  </a:lnTo>
                  <a:lnTo>
                    <a:pt x="5131022" y="0"/>
                  </a:lnTo>
                  <a:lnTo>
                    <a:pt x="5131022" y="4762"/>
                  </a:lnTo>
                  <a:lnTo>
                    <a:pt x="123920" y="4762"/>
                  </a:lnTo>
                  <a:lnTo>
                    <a:pt x="123920" y="9525"/>
                  </a:lnTo>
                  <a:lnTo>
                    <a:pt x="79404" y="18503"/>
                  </a:lnTo>
                  <a:lnTo>
                    <a:pt x="43041" y="42993"/>
                  </a:lnTo>
                  <a:lnTo>
                    <a:pt x="18518" y="79323"/>
                  </a:lnTo>
                  <a:lnTo>
                    <a:pt x="9525" y="123825"/>
                  </a:lnTo>
                  <a:lnTo>
                    <a:pt x="9525" y="3579685"/>
                  </a:lnTo>
                  <a:lnTo>
                    <a:pt x="18518" y="3624186"/>
                  </a:lnTo>
                  <a:lnTo>
                    <a:pt x="43041" y="3660517"/>
                  </a:lnTo>
                  <a:lnTo>
                    <a:pt x="79404" y="3685007"/>
                  </a:lnTo>
                  <a:lnTo>
                    <a:pt x="123920" y="3693985"/>
                  </a:lnTo>
                  <a:lnTo>
                    <a:pt x="5178219" y="3693985"/>
                  </a:lnTo>
                  <a:lnTo>
                    <a:pt x="5154620" y="3698748"/>
                  </a:lnTo>
                  <a:lnTo>
                    <a:pt x="123920" y="3698748"/>
                  </a:lnTo>
                  <a:lnTo>
                    <a:pt x="123920" y="3703231"/>
                  </a:lnTo>
                  <a:close/>
                </a:path>
                <a:path w="5255259" h="3703320">
                  <a:moveTo>
                    <a:pt x="5178219" y="3693985"/>
                  </a:moveTo>
                  <a:lnTo>
                    <a:pt x="5131022" y="3693985"/>
                  </a:lnTo>
                  <a:lnTo>
                    <a:pt x="5175578" y="3685007"/>
                  </a:lnTo>
                  <a:lnTo>
                    <a:pt x="5211937" y="3660517"/>
                  </a:lnTo>
                  <a:lnTo>
                    <a:pt x="5236437" y="3624186"/>
                  </a:lnTo>
                  <a:lnTo>
                    <a:pt x="5245417" y="3579685"/>
                  </a:lnTo>
                  <a:lnTo>
                    <a:pt x="5245417" y="123825"/>
                  </a:lnTo>
                  <a:lnTo>
                    <a:pt x="5236423" y="79323"/>
                  </a:lnTo>
                  <a:lnTo>
                    <a:pt x="5211901" y="42993"/>
                  </a:lnTo>
                  <a:lnTo>
                    <a:pt x="5175538" y="18503"/>
                  </a:lnTo>
                  <a:lnTo>
                    <a:pt x="5131022" y="9525"/>
                  </a:lnTo>
                  <a:lnTo>
                    <a:pt x="123920" y="9525"/>
                  </a:lnTo>
                  <a:lnTo>
                    <a:pt x="123920" y="4762"/>
                  </a:lnTo>
                  <a:lnTo>
                    <a:pt x="5131022" y="4762"/>
                  </a:lnTo>
                  <a:lnTo>
                    <a:pt x="5131022" y="0"/>
                  </a:lnTo>
                  <a:lnTo>
                    <a:pt x="5179277" y="9730"/>
                  </a:lnTo>
                  <a:lnTo>
                    <a:pt x="5218664" y="36266"/>
                  </a:lnTo>
                  <a:lnTo>
                    <a:pt x="5245211" y="75625"/>
                  </a:lnTo>
                  <a:lnTo>
                    <a:pt x="5254970" y="123825"/>
                  </a:lnTo>
                  <a:lnTo>
                    <a:pt x="5254970" y="3579685"/>
                  </a:lnTo>
                  <a:lnTo>
                    <a:pt x="5245197" y="3627885"/>
                  </a:lnTo>
                  <a:lnTo>
                    <a:pt x="5218628" y="3667244"/>
                  </a:lnTo>
                  <a:lnTo>
                    <a:pt x="5179236" y="3693780"/>
                  </a:lnTo>
                  <a:lnTo>
                    <a:pt x="5178219" y="3693985"/>
                  </a:lnTo>
                  <a:close/>
                </a:path>
                <a:path w="5255259" h="3703320">
                  <a:moveTo>
                    <a:pt x="5131022" y="3703231"/>
                  </a:moveTo>
                  <a:lnTo>
                    <a:pt x="123920" y="3703231"/>
                  </a:lnTo>
                  <a:lnTo>
                    <a:pt x="123920" y="3698748"/>
                  </a:lnTo>
                  <a:lnTo>
                    <a:pt x="5131022" y="3698748"/>
                  </a:lnTo>
                  <a:lnTo>
                    <a:pt x="5131022" y="3703231"/>
                  </a:lnTo>
                  <a:close/>
                </a:path>
                <a:path w="5255259" h="3703320">
                  <a:moveTo>
                    <a:pt x="5132406" y="3703231"/>
                  </a:moveTo>
                  <a:lnTo>
                    <a:pt x="5131022" y="3703231"/>
                  </a:lnTo>
                  <a:lnTo>
                    <a:pt x="5131022" y="3698748"/>
                  </a:lnTo>
                  <a:lnTo>
                    <a:pt x="5154620" y="3698748"/>
                  </a:lnTo>
                  <a:lnTo>
                    <a:pt x="5132406" y="3703231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814241" y="4316015"/>
              <a:ext cx="850900" cy="850900"/>
            </a:xfrm>
            <a:custGeom>
              <a:avLst/>
              <a:gdLst/>
              <a:ahLst/>
              <a:cxnLst/>
              <a:rect l="l" t="t" r="r" b="b"/>
              <a:pathLst>
                <a:path w="850900" h="850900">
                  <a:moveTo>
                    <a:pt x="425291" y="850582"/>
                  </a:moveTo>
                  <a:lnTo>
                    <a:pt x="378950" y="848086"/>
                  </a:lnTo>
                  <a:lnTo>
                    <a:pt x="334054" y="840773"/>
                  </a:lnTo>
                  <a:lnTo>
                    <a:pt x="290864" y="828901"/>
                  </a:lnTo>
                  <a:lnTo>
                    <a:pt x="249638" y="812729"/>
                  </a:lnTo>
                  <a:lnTo>
                    <a:pt x="210636" y="792518"/>
                  </a:lnTo>
                  <a:lnTo>
                    <a:pt x="174117" y="768527"/>
                  </a:lnTo>
                  <a:lnTo>
                    <a:pt x="140341" y="741014"/>
                  </a:lnTo>
                  <a:lnTo>
                    <a:pt x="109567" y="710240"/>
                  </a:lnTo>
                  <a:lnTo>
                    <a:pt x="82055" y="676464"/>
                  </a:lnTo>
                  <a:lnTo>
                    <a:pt x="58063" y="639945"/>
                  </a:lnTo>
                  <a:lnTo>
                    <a:pt x="37852" y="600943"/>
                  </a:lnTo>
                  <a:lnTo>
                    <a:pt x="21681" y="559717"/>
                  </a:lnTo>
                  <a:lnTo>
                    <a:pt x="9809" y="516527"/>
                  </a:lnTo>
                  <a:lnTo>
                    <a:pt x="2495" y="471632"/>
                  </a:lnTo>
                  <a:lnTo>
                    <a:pt x="0" y="425291"/>
                  </a:lnTo>
                  <a:lnTo>
                    <a:pt x="2495" y="378950"/>
                  </a:lnTo>
                  <a:lnTo>
                    <a:pt x="9809" y="334054"/>
                  </a:lnTo>
                  <a:lnTo>
                    <a:pt x="21681" y="290864"/>
                  </a:lnTo>
                  <a:lnTo>
                    <a:pt x="37852" y="249638"/>
                  </a:lnTo>
                  <a:lnTo>
                    <a:pt x="58063" y="210636"/>
                  </a:lnTo>
                  <a:lnTo>
                    <a:pt x="82055" y="174117"/>
                  </a:lnTo>
                  <a:lnTo>
                    <a:pt x="109567" y="140341"/>
                  </a:lnTo>
                  <a:lnTo>
                    <a:pt x="140341" y="109567"/>
                  </a:lnTo>
                  <a:lnTo>
                    <a:pt x="174117" y="82055"/>
                  </a:lnTo>
                  <a:lnTo>
                    <a:pt x="210636" y="58063"/>
                  </a:lnTo>
                  <a:lnTo>
                    <a:pt x="249638" y="37852"/>
                  </a:lnTo>
                  <a:lnTo>
                    <a:pt x="290864" y="21681"/>
                  </a:lnTo>
                  <a:lnTo>
                    <a:pt x="334054" y="9809"/>
                  </a:lnTo>
                  <a:lnTo>
                    <a:pt x="378950" y="2495"/>
                  </a:lnTo>
                  <a:lnTo>
                    <a:pt x="425291" y="0"/>
                  </a:lnTo>
                  <a:lnTo>
                    <a:pt x="471632" y="2495"/>
                  </a:lnTo>
                  <a:lnTo>
                    <a:pt x="516527" y="9809"/>
                  </a:lnTo>
                  <a:lnTo>
                    <a:pt x="559717" y="21681"/>
                  </a:lnTo>
                  <a:lnTo>
                    <a:pt x="600943" y="37852"/>
                  </a:lnTo>
                  <a:lnTo>
                    <a:pt x="639945" y="58063"/>
                  </a:lnTo>
                  <a:lnTo>
                    <a:pt x="676464" y="82055"/>
                  </a:lnTo>
                  <a:lnTo>
                    <a:pt x="710240" y="109567"/>
                  </a:lnTo>
                  <a:lnTo>
                    <a:pt x="741014" y="140341"/>
                  </a:lnTo>
                  <a:lnTo>
                    <a:pt x="768527" y="174117"/>
                  </a:lnTo>
                  <a:lnTo>
                    <a:pt x="792518" y="210636"/>
                  </a:lnTo>
                  <a:lnTo>
                    <a:pt x="812729" y="249638"/>
                  </a:lnTo>
                  <a:lnTo>
                    <a:pt x="828901" y="290864"/>
                  </a:lnTo>
                  <a:lnTo>
                    <a:pt x="840773" y="334054"/>
                  </a:lnTo>
                  <a:lnTo>
                    <a:pt x="848086" y="378950"/>
                  </a:lnTo>
                  <a:lnTo>
                    <a:pt x="850582" y="425291"/>
                  </a:lnTo>
                  <a:lnTo>
                    <a:pt x="848086" y="471632"/>
                  </a:lnTo>
                  <a:lnTo>
                    <a:pt x="840773" y="516527"/>
                  </a:lnTo>
                  <a:lnTo>
                    <a:pt x="828901" y="559717"/>
                  </a:lnTo>
                  <a:lnTo>
                    <a:pt x="812729" y="600943"/>
                  </a:lnTo>
                  <a:lnTo>
                    <a:pt x="792518" y="639945"/>
                  </a:lnTo>
                  <a:lnTo>
                    <a:pt x="768527" y="676464"/>
                  </a:lnTo>
                  <a:lnTo>
                    <a:pt x="741014" y="710240"/>
                  </a:lnTo>
                  <a:lnTo>
                    <a:pt x="710240" y="741014"/>
                  </a:lnTo>
                  <a:lnTo>
                    <a:pt x="676464" y="768527"/>
                  </a:lnTo>
                  <a:lnTo>
                    <a:pt x="639945" y="792518"/>
                  </a:lnTo>
                  <a:lnTo>
                    <a:pt x="600943" y="812729"/>
                  </a:lnTo>
                  <a:lnTo>
                    <a:pt x="559717" y="828901"/>
                  </a:lnTo>
                  <a:lnTo>
                    <a:pt x="516527" y="840773"/>
                  </a:lnTo>
                  <a:lnTo>
                    <a:pt x="471632" y="848086"/>
                  </a:lnTo>
                  <a:lnTo>
                    <a:pt x="425291" y="850582"/>
                  </a:lnTo>
                  <a:close/>
                </a:path>
              </a:pathLst>
            </a:custGeom>
            <a:solidFill>
              <a:srgbClr val="596E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106201" y="4565180"/>
              <a:ext cx="254635" cy="149860"/>
            </a:xfrm>
            <a:custGeom>
              <a:avLst/>
              <a:gdLst/>
              <a:ahLst/>
              <a:cxnLst/>
              <a:rect l="l" t="t" r="r" b="b"/>
              <a:pathLst>
                <a:path w="254634" h="149860">
                  <a:moveTo>
                    <a:pt x="247970" y="149718"/>
                  </a:moveTo>
                  <a:lnTo>
                    <a:pt x="251002" y="141228"/>
                  </a:lnTo>
                  <a:lnTo>
                    <a:pt x="252648" y="135442"/>
                  </a:lnTo>
                  <a:lnTo>
                    <a:pt x="253688" y="129648"/>
                  </a:lnTo>
                  <a:lnTo>
                    <a:pt x="254208" y="122380"/>
                  </a:lnTo>
                  <a:lnTo>
                    <a:pt x="254078" y="115132"/>
                  </a:lnTo>
                  <a:lnTo>
                    <a:pt x="241154" y="78938"/>
                  </a:lnTo>
                  <a:lnTo>
                    <a:pt x="215841" y="56058"/>
                  </a:lnTo>
                  <a:lnTo>
                    <a:pt x="214424" y="54703"/>
                  </a:lnTo>
                  <a:lnTo>
                    <a:pt x="213374" y="53215"/>
                  </a:lnTo>
                  <a:lnTo>
                    <a:pt x="212317" y="50043"/>
                  </a:lnTo>
                  <a:lnTo>
                    <a:pt x="210236" y="39746"/>
                  </a:lnTo>
                  <a:lnTo>
                    <a:pt x="208816" y="35492"/>
                  </a:lnTo>
                  <a:lnTo>
                    <a:pt x="178459" y="5365"/>
                  </a:lnTo>
                  <a:lnTo>
                    <a:pt x="153941" y="44"/>
                  </a:lnTo>
                  <a:lnTo>
                    <a:pt x="148247" y="301"/>
                  </a:lnTo>
                  <a:lnTo>
                    <a:pt x="112935" y="17445"/>
                  </a:lnTo>
                  <a:lnTo>
                    <a:pt x="106584" y="24388"/>
                  </a:lnTo>
                  <a:lnTo>
                    <a:pt x="100365" y="18155"/>
                  </a:lnTo>
                  <a:lnTo>
                    <a:pt x="59412" y="0"/>
                  </a:lnTo>
                  <a:lnTo>
                    <a:pt x="52294" y="592"/>
                  </a:lnTo>
                  <a:lnTo>
                    <a:pt x="14666" y="19019"/>
                  </a:lnTo>
                  <a:lnTo>
                    <a:pt x="0" y="54296"/>
                  </a:lnTo>
                  <a:lnTo>
                    <a:pt x="869" y="62211"/>
                  </a:lnTo>
                </a:path>
              </a:pathLst>
            </a:custGeom>
            <a:ln w="153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55740" y="4611777"/>
              <a:ext cx="365721" cy="311479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7212717" y="4589568"/>
              <a:ext cx="635" cy="264795"/>
            </a:xfrm>
            <a:custGeom>
              <a:avLst/>
              <a:gdLst/>
              <a:ahLst/>
              <a:cxnLst/>
              <a:rect l="l" t="t" r="r" b="b"/>
              <a:pathLst>
                <a:path w="634" h="264795">
                  <a:moveTo>
                    <a:pt x="68" y="0"/>
                  </a:moveTo>
                  <a:lnTo>
                    <a:pt x="0" y="264546"/>
                  </a:lnTo>
                </a:path>
              </a:pathLst>
            </a:custGeom>
            <a:ln w="153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99534" y="4619679"/>
              <a:ext cx="63509" cy="69962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7239116" y="4698493"/>
              <a:ext cx="144780" cy="164465"/>
            </a:xfrm>
            <a:custGeom>
              <a:avLst/>
              <a:gdLst/>
              <a:ahLst/>
              <a:cxnLst/>
              <a:rect l="l" t="t" r="r" b="b"/>
              <a:pathLst>
                <a:path w="144779" h="164464">
                  <a:moveTo>
                    <a:pt x="31163" y="0"/>
                  </a:moveTo>
                  <a:lnTo>
                    <a:pt x="65791" y="16458"/>
                  </a:lnTo>
                  <a:lnTo>
                    <a:pt x="70509" y="22793"/>
                  </a:lnTo>
                </a:path>
                <a:path w="144779" h="164464">
                  <a:moveTo>
                    <a:pt x="109436" y="94350"/>
                  </a:moveTo>
                  <a:lnTo>
                    <a:pt x="144433" y="129805"/>
                  </a:lnTo>
                </a:path>
                <a:path w="144779" h="164464">
                  <a:moveTo>
                    <a:pt x="109450" y="164453"/>
                  </a:moveTo>
                  <a:lnTo>
                    <a:pt x="144433" y="129805"/>
                  </a:lnTo>
                </a:path>
                <a:path w="144779" h="164464">
                  <a:moveTo>
                    <a:pt x="42131" y="55600"/>
                  </a:moveTo>
                  <a:lnTo>
                    <a:pt x="13446" y="82885"/>
                  </a:lnTo>
                  <a:lnTo>
                    <a:pt x="1712" y="110217"/>
                  </a:lnTo>
                  <a:lnTo>
                    <a:pt x="0" y="120122"/>
                  </a:lnTo>
                </a:path>
                <a:path w="144779" h="164464">
                  <a:moveTo>
                    <a:pt x="29892" y="129696"/>
                  </a:moveTo>
                  <a:lnTo>
                    <a:pt x="64978" y="94593"/>
                  </a:lnTo>
                </a:path>
                <a:path w="144779" h="164464">
                  <a:moveTo>
                    <a:pt x="29892" y="129696"/>
                  </a:moveTo>
                  <a:lnTo>
                    <a:pt x="64564" y="164073"/>
                  </a:lnTo>
                </a:path>
              </a:pathLst>
            </a:custGeom>
            <a:ln w="1539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6801542" y="5178934"/>
            <a:ext cx="4439285" cy="2093595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939"/>
              </a:spcBef>
            </a:pPr>
            <a:r>
              <a:rPr dirty="0" sz="2750" spc="-10">
                <a:solidFill>
                  <a:srgbClr val="CFD0D8"/>
                </a:solidFill>
                <a:latin typeface="Roboto"/>
                <a:cs typeface="Roboto"/>
              </a:rPr>
              <a:t>Algorithm</a:t>
            </a:r>
            <a:r>
              <a:rPr dirty="0" sz="2750" spc="-10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 spc="-10">
                <a:solidFill>
                  <a:srgbClr val="CFD0D8"/>
                </a:solidFill>
                <a:latin typeface="Roboto"/>
                <a:cs typeface="Roboto"/>
              </a:rPr>
              <a:t>Selection</a:t>
            </a:r>
            <a:endParaRPr sz="2750">
              <a:latin typeface="Roboto"/>
              <a:cs typeface="Roboto"/>
            </a:endParaRPr>
          </a:p>
          <a:p>
            <a:pPr algn="just" marL="12700" marR="5080">
              <a:lnSpc>
                <a:spcPct val="136600"/>
              </a:lnSpc>
              <a:spcBef>
                <a:spcPts val="555"/>
              </a:spcBef>
            </a:pP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Not all</a:t>
            </a:r>
            <a:r>
              <a:rPr dirty="0" sz="21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algorithms</a:t>
            </a:r>
            <a:r>
              <a:rPr dirty="0" sz="21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perform</a:t>
            </a:r>
            <a:r>
              <a:rPr dirty="0" sz="21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equally—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choosing</a:t>
            </a:r>
            <a:r>
              <a:rPr dirty="0" sz="215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the</a:t>
            </a:r>
            <a:r>
              <a:rPr dirty="0" sz="215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right</a:t>
            </a:r>
            <a:r>
              <a:rPr dirty="0" sz="21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one</a:t>
            </a:r>
            <a:r>
              <a:rPr dirty="0" sz="215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is</a:t>
            </a:r>
            <a:r>
              <a:rPr dirty="0" sz="215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critical</a:t>
            </a:r>
            <a:r>
              <a:rPr dirty="0" sz="21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25">
                <a:solidFill>
                  <a:srgbClr val="CFD0D8"/>
                </a:solidFill>
                <a:latin typeface="Roboto"/>
                <a:cs typeface="Roboto"/>
              </a:rPr>
              <a:t>for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accurate</a:t>
            </a:r>
            <a:r>
              <a:rPr dirty="0" sz="215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results</a:t>
            </a:r>
            <a:endParaRPr sz="2150">
              <a:latin typeface="Roboto"/>
              <a:cs typeface="Roboto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2045398" y="4018207"/>
            <a:ext cx="5255260" cy="3703320"/>
            <a:chOff x="12045398" y="4018207"/>
            <a:chExt cx="5255260" cy="3703320"/>
          </a:xfrm>
        </p:grpSpPr>
        <p:sp>
          <p:nvSpPr>
            <p:cNvPr id="21" name="object 21" descr=""/>
            <p:cNvSpPr/>
            <p:nvPr/>
          </p:nvSpPr>
          <p:spPr>
            <a:xfrm>
              <a:off x="12050161" y="4022970"/>
              <a:ext cx="5245735" cy="3694429"/>
            </a:xfrm>
            <a:custGeom>
              <a:avLst/>
              <a:gdLst/>
              <a:ahLst/>
              <a:cxnLst/>
              <a:rect l="l" t="t" r="r" b="b"/>
              <a:pathLst>
                <a:path w="5245734" h="3694429">
                  <a:moveTo>
                    <a:pt x="5126260" y="3693985"/>
                  </a:moveTo>
                  <a:lnTo>
                    <a:pt x="119157" y="3693985"/>
                  </a:lnTo>
                  <a:lnTo>
                    <a:pt x="72772" y="3684677"/>
                  </a:lnTo>
                  <a:lnTo>
                    <a:pt x="34897" y="3659171"/>
                  </a:lnTo>
                  <a:lnTo>
                    <a:pt x="9362" y="3621306"/>
                  </a:lnTo>
                  <a:lnTo>
                    <a:pt x="0" y="3574923"/>
                  </a:lnTo>
                  <a:lnTo>
                    <a:pt x="0" y="119062"/>
                  </a:lnTo>
                  <a:lnTo>
                    <a:pt x="9362" y="72732"/>
                  </a:lnTo>
                  <a:lnTo>
                    <a:pt x="34897" y="34885"/>
                  </a:lnTo>
                  <a:lnTo>
                    <a:pt x="72772" y="9361"/>
                  </a:lnTo>
                  <a:lnTo>
                    <a:pt x="119157" y="0"/>
                  </a:lnTo>
                  <a:lnTo>
                    <a:pt x="5126260" y="0"/>
                  </a:lnTo>
                  <a:lnTo>
                    <a:pt x="5172645" y="9361"/>
                  </a:lnTo>
                  <a:lnTo>
                    <a:pt x="5210520" y="34885"/>
                  </a:lnTo>
                  <a:lnTo>
                    <a:pt x="5236054" y="72732"/>
                  </a:lnTo>
                  <a:lnTo>
                    <a:pt x="5245417" y="119062"/>
                  </a:lnTo>
                  <a:lnTo>
                    <a:pt x="5245417" y="3574923"/>
                  </a:lnTo>
                  <a:lnTo>
                    <a:pt x="5236045" y="3621306"/>
                  </a:lnTo>
                  <a:lnTo>
                    <a:pt x="5210467" y="3659171"/>
                  </a:lnTo>
                  <a:lnTo>
                    <a:pt x="5172446" y="3684677"/>
                  </a:lnTo>
                  <a:lnTo>
                    <a:pt x="5126260" y="3693985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2045398" y="4018207"/>
              <a:ext cx="5255260" cy="3703320"/>
            </a:xfrm>
            <a:custGeom>
              <a:avLst/>
              <a:gdLst/>
              <a:ahLst/>
              <a:cxnLst/>
              <a:rect l="l" t="t" r="r" b="b"/>
              <a:pathLst>
                <a:path w="5255259" h="3703320">
                  <a:moveTo>
                    <a:pt x="123920" y="3703231"/>
                  </a:moveTo>
                  <a:lnTo>
                    <a:pt x="122534" y="3703231"/>
                  </a:lnTo>
                  <a:lnTo>
                    <a:pt x="75665" y="3693780"/>
                  </a:lnTo>
                  <a:lnTo>
                    <a:pt x="36278" y="3667244"/>
                  </a:lnTo>
                  <a:lnTo>
                    <a:pt x="9732" y="3627885"/>
                  </a:lnTo>
                  <a:lnTo>
                    <a:pt x="0" y="3579685"/>
                  </a:lnTo>
                  <a:lnTo>
                    <a:pt x="0" y="123825"/>
                  </a:lnTo>
                  <a:lnTo>
                    <a:pt x="9745" y="75625"/>
                  </a:lnTo>
                  <a:lnTo>
                    <a:pt x="36314" y="36266"/>
                  </a:lnTo>
                  <a:lnTo>
                    <a:pt x="75706" y="9730"/>
                  </a:lnTo>
                  <a:lnTo>
                    <a:pt x="123920" y="0"/>
                  </a:lnTo>
                  <a:lnTo>
                    <a:pt x="5131023" y="0"/>
                  </a:lnTo>
                  <a:lnTo>
                    <a:pt x="5131023" y="4762"/>
                  </a:lnTo>
                  <a:lnTo>
                    <a:pt x="123920" y="4762"/>
                  </a:lnTo>
                  <a:lnTo>
                    <a:pt x="123920" y="9525"/>
                  </a:lnTo>
                  <a:lnTo>
                    <a:pt x="79404" y="18503"/>
                  </a:lnTo>
                  <a:lnTo>
                    <a:pt x="43041" y="42993"/>
                  </a:lnTo>
                  <a:lnTo>
                    <a:pt x="18518" y="79323"/>
                  </a:lnTo>
                  <a:lnTo>
                    <a:pt x="9525" y="123825"/>
                  </a:lnTo>
                  <a:lnTo>
                    <a:pt x="9525" y="3579685"/>
                  </a:lnTo>
                  <a:lnTo>
                    <a:pt x="18518" y="3624186"/>
                  </a:lnTo>
                  <a:lnTo>
                    <a:pt x="43041" y="3660517"/>
                  </a:lnTo>
                  <a:lnTo>
                    <a:pt x="79404" y="3685007"/>
                  </a:lnTo>
                  <a:lnTo>
                    <a:pt x="123920" y="3693985"/>
                  </a:lnTo>
                  <a:lnTo>
                    <a:pt x="5178219" y="3693985"/>
                  </a:lnTo>
                  <a:lnTo>
                    <a:pt x="5154621" y="3698748"/>
                  </a:lnTo>
                  <a:lnTo>
                    <a:pt x="123920" y="3698748"/>
                  </a:lnTo>
                  <a:lnTo>
                    <a:pt x="123920" y="3703231"/>
                  </a:lnTo>
                  <a:close/>
                </a:path>
                <a:path w="5255259" h="3703320">
                  <a:moveTo>
                    <a:pt x="5178219" y="3693985"/>
                  </a:moveTo>
                  <a:lnTo>
                    <a:pt x="5131023" y="3693985"/>
                  </a:lnTo>
                  <a:lnTo>
                    <a:pt x="5175579" y="3685007"/>
                  </a:lnTo>
                  <a:lnTo>
                    <a:pt x="5211937" y="3660517"/>
                  </a:lnTo>
                  <a:lnTo>
                    <a:pt x="5236437" y="3624186"/>
                  </a:lnTo>
                  <a:lnTo>
                    <a:pt x="5245418" y="3579685"/>
                  </a:lnTo>
                  <a:lnTo>
                    <a:pt x="5245418" y="123825"/>
                  </a:lnTo>
                  <a:lnTo>
                    <a:pt x="5236424" y="79323"/>
                  </a:lnTo>
                  <a:lnTo>
                    <a:pt x="5211902" y="42993"/>
                  </a:lnTo>
                  <a:lnTo>
                    <a:pt x="5175538" y="18503"/>
                  </a:lnTo>
                  <a:lnTo>
                    <a:pt x="5131023" y="9525"/>
                  </a:lnTo>
                  <a:lnTo>
                    <a:pt x="123920" y="9525"/>
                  </a:lnTo>
                  <a:lnTo>
                    <a:pt x="123920" y="4762"/>
                  </a:lnTo>
                  <a:lnTo>
                    <a:pt x="5131023" y="4762"/>
                  </a:lnTo>
                  <a:lnTo>
                    <a:pt x="5131023" y="0"/>
                  </a:lnTo>
                  <a:lnTo>
                    <a:pt x="5179277" y="9730"/>
                  </a:lnTo>
                  <a:lnTo>
                    <a:pt x="5218664" y="36266"/>
                  </a:lnTo>
                  <a:lnTo>
                    <a:pt x="5245211" y="75625"/>
                  </a:lnTo>
                  <a:lnTo>
                    <a:pt x="5254970" y="123825"/>
                  </a:lnTo>
                  <a:lnTo>
                    <a:pt x="5254970" y="3579685"/>
                  </a:lnTo>
                  <a:lnTo>
                    <a:pt x="5245197" y="3627885"/>
                  </a:lnTo>
                  <a:lnTo>
                    <a:pt x="5218629" y="3667244"/>
                  </a:lnTo>
                  <a:lnTo>
                    <a:pt x="5179237" y="3693780"/>
                  </a:lnTo>
                  <a:lnTo>
                    <a:pt x="5178219" y="3693985"/>
                  </a:lnTo>
                  <a:close/>
                </a:path>
                <a:path w="5255259" h="3703320">
                  <a:moveTo>
                    <a:pt x="5131023" y="3703231"/>
                  </a:moveTo>
                  <a:lnTo>
                    <a:pt x="123920" y="3703231"/>
                  </a:lnTo>
                  <a:lnTo>
                    <a:pt x="123920" y="3698748"/>
                  </a:lnTo>
                  <a:lnTo>
                    <a:pt x="5131023" y="3698748"/>
                  </a:lnTo>
                  <a:lnTo>
                    <a:pt x="5131023" y="3703231"/>
                  </a:lnTo>
                  <a:close/>
                </a:path>
                <a:path w="5255259" h="3703320">
                  <a:moveTo>
                    <a:pt x="5132407" y="3703231"/>
                  </a:moveTo>
                  <a:lnTo>
                    <a:pt x="5131023" y="3703231"/>
                  </a:lnTo>
                  <a:lnTo>
                    <a:pt x="5131023" y="3698748"/>
                  </a:lnTo>
                  <a:lnTo>
                    <a:pt x="5154621" y="3698748"/>
                  </a:lnTo>
                  <a:lnTo>
                    <a:pt x="5132407" y="3703231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2343209" y="4316015"/>
              <a:ext cx="850900" cy="850900"/>
            </a:xfrm>
            <a:custGeom>
              <a:avLst/>
              <a:gdLst/>
              <a:ahLst/>
              <a:cxnLst/>
              <a:rect l="l" t="t" r="r" b="b"/>
              <a:pathLst>
                <a:path w="850900" h="850900">
                  <a:moveTo>
                    <a:pt x="425291" y="850582"/>
                  </a:moveTo>
                  <a:lnTo>
                    <a:pt x="378950" y="848086"/>
                  </a:lnTo>
                  <a:lnTo>
                    <a:pt x="334054" y="840773"/>
                  </a:lnTo>
                  <a:lnTo>
                    <a:pt x="290864" y="828901"/>
                  </a:lnTo>
                  <a:lnTo>
                    <a:pt x="249638" y="812729"/>
                  </a:lnTo>
                  <a:lnTo>
                    <a:pt x="210636" y="792518"/>
                  </a:lnTo>
                  <a:lnTo>
                    <a:pt x="174117" y="768527"/>
                  </a:lnTo>
                  <a:lnTo>
                    <a:pt x="140341" y="741014"/>
                  </a:lnTo>
                  <a:lnTo>
                    <a:pt x="109567" y="710240"/>
                  </a:lnTo>
                  <a:lnTo>
                    <a:pt x="82055" y="676464"/>
                  </a:lnTo>
                  <a:lnTo>
                    <a:pt x="58063" y="639945"/>
                  </a:lnTo>
                  <a:lnTo>
                    <a:pt x="37852" y="600943"/>
                  </a:lnTo>
                  <a:lnTo>
                    <a:pt x="21681" y="559717"/>
                  </a:lnTo>
                  <a:lnTo>
                    <a:pt x="9809" y="516527"/>
                  </a:lnTo>
                  <a:lnTo>
                    <a:pt x="2495" y="471632"/>
                  </a:lnTo>
                  <a:lnTo>
                    <a:pt x="0" y="425291"/>
                  </a:lnTo>
                  <a:lnTo>
                    <a:pt x="2495" y="378950"/>
                  </a:lnTo>
                  <a:lnTo>
                    <a:pt x="9809" y="334054"/>
                  </a:lnTo>
                  <a:lnTo>
                    <a:pt x="21681" y="290864"/>
                  </a:lnTo>
                  <a:lnTo>
                    <a:pt x="37852" y="249638"/>
                  </a:lnTo>
                  <a:lnTo>
                    <a:pt x="58063" y="210636"/>
                  </a:lnTo>
                  <a:lnTo>
                    <a:pt x="82055" y="174117"/>
                  </a:lnTo>
                  <a:lnTo>
                    <a:pt x="109567" y="140341"/>
                  </a:lnTo>
                  <a:lnTo>
                    <a:pt x="140341" y="109567"/>
                  </a:lnTo>
                  <a:lnTo>
                    <a:pt x="174117" y="82055"/>
                  </a:lnTo>
                  <a:lnTo>
                    <a:pt x="210636" y="58063"/>
                  </a:lnTo>
                  <a:lnTo>
                    <a:pt x="249638" y="37852"/>
                  </a:lnTo>
                  <a:lnTo>
                    <a:pt x="290864" y="21681"/>
                  </a:lnTo>
                  <a:lnTo>
                    <a:pt x="334054" y="9809"/>
                  </a:lnTo>
                  <a:lnTo>
                    <a:pt x="378950" y="2495"/>
                  </a:lnTo>
                  <a:lnTo>
                    <a:pt x="425291" y="0"/>
                  </a:lnTo>
                  <a:lnTo>
                    <a:pt x="471632" y="2495"/>
                  </a:lnTo>
                  <a:lnTo>
                    <a:pt x="516527" y="9809"/>
                  </a:lnTo>
                  <a:lnTo>
                    <a:pt x="559717" y="21681"/>
                  </a:lnTo>
                  <a:lnTo>
                    <a:pt x="600943" y="37852"/>
                  </a:lnTo>
                  <a:lnTo>
                    <a:pt x="639945" y="58063"/>
                  </a:lnTo>
                  <a:lnTo>
                    <a:pt x="676464" y="82055"/>
                  </a:lnTo>
                  <a:lnTo>
                    <a:pt x="710240" y="109567"/>
                  </a:lnTo>
                  <a:lnTo>
                    <a:pt x="741014" y="140341"/>
                  </a:lnTo>
                  <a:lnTo>
                    <a:pt x="768527" y="174117"/>
                  </a:lnTo>
                  <a:lnTo>
                    <a:pt x="792518" y="210636"/>
                  </a:lnTo>
                  <a:lnTo>
                    <a:pt x="812729" y="249638"/>
                  </a:lnTo>
                  <a:lnTo>
                    <a:pt x="828901" y="290864"/>
                  </a:lnTo>
                  <a:lnTo>
                    <a:pt x="840773" y="334054"/>
                  </a:lnTo>
                  <a:lnTo>
                    <a:pt x="848086" y="378950"/>
                  </a:lnTo>
                  <a:lnTo>
                    <a:pt x="850582" y="425291"/>
                  </a:lnTo>
                  <a:lnTo>
                    <a:pt x="848086" y="471632"/>
                  </a:lnTo>
                  <a:lnTo>
                    <a:pt x="840773" y="516527"/>
                  </a:lnTo>
                  <a:lnTo>
                    <a:pt x="828901" y="559717"/>
                  </a:lnTo>
                  <a:lnTo>
                    <a:pt x="812729" y="600943"/>
                  </a:lnTo>
                  <a:lnTo>
                    <a:pt x="792518" y="639945"/>
                  </a:lnTo>
                  <a:lnTo>
                    <a:pt x="768527" y="676464"/>
                  </a:lnTo>
                  <a:lnTo>
                    <a:pt x="741014" y="710240"/>
                  </a:lnTo>
                  <a:lnTo>
                    <a:pt x="710240" y="741014"/>
                  </a:lnTo>
                  <a:lnTo>
                    <a:pt x="676464" y="768527"/>
                  </a:lnTo>
                  <a:lnTo>
                    <a:pt x="639945" y="792518"/>
                  </a:lnTo>
                  <a:lnTo>
                    <a:pt x="600943" y="812729"/>
                  </a:lnTo>
                  <a:lnTo>
                    <a:pt x="559717" y="828901"/>
                  </a:lnTo>
                  <a:lnTo>
                    <a:pt x="516527" y="840773"/>
                  </a:lnTo>
                  <a:lnTo>
                    <a:pt x="471632" y="848086"/>
                  </a:lnTo>
                  <a:lnTo>
                    <a:pt x="425291" y="850582"/>
                  </a:lnTo>
                  <a:close/>
                </a:path>
              </a:pathLst>
            </a:custGeom>
            <a:solidFill>
              <a:srgbClr val="596ED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588026" y="4557656"/>
              <a:ext cx="359289" cy="365337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12330508" y="5178934"/>
            <a:ext cx="3642995" cy="2093595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939"/>
              </a:spcBef>
            </a:pP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Impact</a:t>
            </a:r>
            <a:r>
              <a:rPr dirty="0" sz="2750" spc="-10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on</a:t>
            </a:r>
            <a:r>
              <a:rPr dirty="0" sz="2750" spc="-10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 spc="-10">
                <a:solidFill>
                  <a:srgbClr val="CFD0D8"/>
                </a:solidFill>
                <a:latin typeface="Roboto"/>
                <a:cs typeface="Roboto"/>
              </a:rPr>
              <a:t>Analysis</a:t>
            </a:r>
            <a:endParaRPr sz="2750">
              <a:latin typeface="Roboto"/>
              <a:cs typeface="Roboto"/>
            </a:endParaRPr>
          </a:p>
          <a:p>
            <a:pPr algn="just" marL="12700" marR="5080">
              <a:lnSpc>
                <a:spcPct val="136600"/>
              </a:lnSpc>
              <a:spcBef>
                <a:spcPts val="555"/>
              </a:spcBef>
            </a:pP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The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wrong</a:t>
            </a:r>
            <a:r>
              <a:rPr dirty="0" sz="21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choice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can</a:t>
            </a:r>
            <a:r>
              <a:rPr dirty="0" sz="21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lead</a:t>
            </a:r>
            <a:r>
              <a:rPr dirty="0" sz="21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25">
                <a:solidFill>
                  <a:srgbClr val="CFD0D8"/>
                </a:solidFill>
                <a:latin typeface="Roboto"/>
                <a:cs typeface="Roboto"/>
              </a:rPr>
              <a:t>to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misleading</a:t>
            </a:r>
            <a:r>
              <a:rPr dirty="0" sz="21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insights</a:t>
            </a:r>
            <a:r>
              <a:rPr dirty="0" sz="215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and</a:t>
            </a:r>
            <a:r>
              <a:rPr dirty="0" sz="215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20">
                <a:solidFill>
                  <a:srgbClr val="CFD0D8"/>
                </a:solidFill>
                <a:latin typeface="Roboto"/>
                <a:cs typeface="Roboto"/>
              </a:rPr>
              <a:t>poor </a:t>
            </a:r>
            <a:r>
              <a:rPr dirty="0" sz="2150" spc="-55">
                <a:solidFill>
                  <a:srgbClr val="CFD0D8"/>
                </a:solidFill>
                <a:latin typeface="Roboto"/>
                <a:cs typeface="Roboto"/>
              </a:rPr>
              <a:t>decision-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making</a:t>
            </a:r>
            <a:endParaRPr sz="21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55600">
              <a:lnSpc>
                <a:spcPct val="100000"/>
              </a:lnSpc>
              <a:spcBef>
                <a:spcPts val="100"/>
              </a:spcBef>
            </a:pPr>
            <a:r>
              <a:rPr dirty="0" sz="4500"/>
              <a:t>Meet</a:t>
            </a:r>
            <a:r>
              <a:rPr dirty="0" sz="4500" spc="-125"/>
              <a:t> </a:t>
            </a:r>
            <a:r>
              <a:rPr dirty="0" sz="4500"/>
              <a:t>the</a:t>
            </a:r>
            <a:r>
              <a:rPr dirty="0" sz="4500" spc="-125"/>
              <a:t> </a:t>
            </a:r>
            <a:r>
              <a:rPr dirty="0" sz="4500"/>
              <a:t>Contenders:</a:t>
            </a:r>
            <a:r>
              <a:rPr dirty="0" sz="4500" spc="-125"/>
              <a:t> </a:t>
            </a:r>
            <a:r>
              <a:rPr dirty="0" sz="4500" spc="-130"/>
              <a:t>K-</a:t>
            </a:r>
            <a:r>
              <a:rPr dirty="0" sz="4500" spc="-105"/>
              <a:t>Means</a:t>
            </a:r>
            <a:endParaRPr sz="45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65746" y="1899494"/>
            <a:ext cx="10135342" cy="573860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41946" y="8514454"/>
            <a:ext cx="66674" cy="6667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41946" y="8847829"/>
            <a:ext cx="66674" cy="6667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41946" y="9181204"/>
            <a:ext cx="66674" cy="6667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183430" y="3804891"/>
            <a:ext cx="10128250" cy="5530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>
                <a:solidFill>
                  <a:srgbClr val="FFFFFF"/>
                </a:solidFill>
                <a:latin typeface="Roboto"/>
                <a:cs typeface="Roboto"/>
              </a:rPr>
              <a:t>What</a:t>
            </a:r>
            <a:r>
              <a:rPr dirty="0" sz="2250" spc="-6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250">
                <a:solidFill>
                  <a:srgbClr val="FFFFFF"/>
                </a:solidFill>
                <a:latin typeface="Roboto"/>
                <a:cs typeface="Roboto"/>
              </a:rPr>
              <a:t>It</a:t>
            </a:r>
            <a:r>
              <a:rPr dirty="0" sz="2250" spc="-6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250" spc="-25">
                <a:solidFill>
                  <a:srgbClr val="FFFFFF"/>
                </a:solidFill>
                <a:latin typeface="Roboto"/>
                <a:cs typeface="Roboto"/>
              </a:rPr>
              <a:t>Is</a:t>
            </a:r>
            <a:endParaRPr sz="2250">
              <a:latin typeface="Roboto"/>
              <a:cs typeface="Roboto"/>
            </a:endParaRPr>
          </a:p>
          <a:p>
            <a:pPr marL="12700" marR="5159375">
              <a:lnSpc>
                <a:spcPct val="121500"/>
              </a:lnSpc>
              <a:spcBef>
                <a:spcPts val="1195"/>
              </a:spcBef>
            </a:pP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A</a:t>
            </a:r>
            <a:r>
              <a:rPr dirty="0" sz="180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popular,</a:t>
            </a:r>
            <a:r>
              <a:rPr dirty="0" sz="180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simple,</a:t>
            </a:r>
            <a:r>
              <a:rPr dirty="0" sz="180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and</a:t>
            </a:r>
            <a:r>
              <a:rPr dirty="0" sz="180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fast</a:t>
            </a:r>
            <a:r>
              <a:rPr dirty="0" sz="180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algorithm</a:t>
            </a:r>
            <a:r>
              <a:rPr dirty="0" sz="180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20">
                <a:solidFill>
                  <a:srgbClr val="CFD0D8"/>
                </a:solidFill>
                <a:latin typeface="Roboto"/>
                <a:cs typeface="Roboto"/>
              </a:rPr>
              <a:t>that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partitions</a:t>
            </a:r>
            <a:r>
              <a:rPr dirty="0" sz="18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data</a:t>
            </a:r>
            <a:r>
              <a:rPr dirty="0" sz="18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into</a:t>
            </a:r>
            <a:r>
              <a:rPr dirty="0" sz="18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a</a:t>
            </a:r>
            <a:r>
              <a:rPr dirty="0" sz="18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predefined</a:t>
            </a:r>
            <a:r>
              <a:rPr dirty="0" sz="18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number</a:t>
            </a:r>
            <a:r>
              <a:rPr dirty="0" sz="18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25">
                <a:solidFill>
                  <a:srgbClr val="CFD0D8"/>
                </a:solidFill>
                <a:latin typeface="Roboto"/>
                <a:cs typeface="Roboto"/>
              </a:rPr>
              <a:t>of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clusters</a:t>
            </a:r>
            <a:r>
              <a:rPr dirty="0" sz="180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(K).</a:t>
            </a:r>
            <a:r>
              <a:rPr dirty="0" sz="180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Known</a:t>
            </a:r>
            <a:r>
              <a:rPr dirty="0" sz="180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for</a:t>
            </a:r>
            <a:r>
              <a:rPr dirty="0" sz="180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its</a:t>
            </a:r>
            <a:r>
              <a:rPr dirty="0" sz="180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efficiency</a:t>
            </a:r>
            <a:r>
              <a:rPr dirty="0" sz="180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and</a:t>
            </a:r>
            <a:r>
              <a:rPr dirty="0" sz="180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ease</a:t>
            </a:r>
            <a:r>
              <a:rPr dirty="0" sz="180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25">
                <a:solidFill>
                  <a:srgbClr val="CFD0D8"/>
                </a:solidFill>
                <a:latin typeface="Roboto"/>
                <a:cs typeface="Roboto"/>
              </a:rPr>
              <a:t>of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implementation.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dirty="0" sz="2250">
                <a:solidFill>
                  <a:srgbClr val="FFFFFF"/>
                </a:solidFill>
                <a:latin typeface="Roboto"/>
                <a:cs typeface="Roboto"/>
              </a:rPr>
              <a:t>How</a:t>
            </a:r>
            <a:r>
              <a:rPr dirty="0" sz="2250" spc="-3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250">
                <a:solidFill>
                  <a:srgbClr val="FFFFFF"/>
                </a:solidFill>
                <a:latin typeface="Roboto"/>
                <a:cs typeface="Roboto"/>
              </a:rPr>
              <a:t>It</a:t>
            </a:r>
            <a:r>
              <a:rPr dirty="0" sz="2250" spc="-3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Roboto"/>
                <a:cs typeface="Roboto"/>
              </a:rPr>
              <a:t>Works</a:t>
            </a:r>
            <a:endParaRPr sz="2250">
              <a:latin typeface="Roboto"/>
              <a:cs typeface="Roboto"/>
            </a:endParaRPr>
          </a:p>
          <a:p>
            <a:pPr marL="12700" marR="4965065">
              <a:lnSpc>
                <a:spcPct val="121500"/>
              </a:lnSpc>
              <a:spcBef>
                <a:spcPts val="1195"/>
              </a:spcBef>
            </a:pP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Assigns</a:t>
            </a:r>
            <a:r>
              <a:rPr dirty="0" sz="18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data</a:t>
            </a:r>
            <a:r>
              <a:rPr dirty="0" sz="18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points</a:t>
            </a:r>
            <a:r>
              <a:rPr dirty="0" sz="18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to</a:t>
            </a:r>
            <a:r>
              <a:rPr dirty="0" sz="18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the</a:t>
            </a:r>
            <a:r>
              <a:rPr dirty="0" sz="18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nearest</a:t>
            </a:r>
            <a:r>
              <a:rPr dirty="0" sz="18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cluster</a:t>
            </a:r>
            <a:r>
              <a:rPr dirty="0" sz="18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centroid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and</a:t>
            </a:r>
            <a:r>
              <a:rPr dirty="0" sz="180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iteratively</a:t>
            </a:r>
            <a:r>
              <a:rPr dirty="0" sz="180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updates</a:t>
            </a:r>
            <a:r>
              <a:rPr dirty="0" sz="180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centroids</a:t>
            </a:r>
            <a:r>
              <a:rPr dirty="0" sz="180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until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convergence.</a:t>
            </a:r>
            <a:r>
              <a:rPr dirty="0" sz="180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Uses</a:t>
            </a:r>
            <a:r>
              <a:rPr dirty="0" sz="180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55">
                <a:solidFill>
                  <a:srgbClr val="CFD0D8"/>
                </a:solidFill>
                <a:latin typeface="Roboto"/>
                <a:cs typeface="Roboto"/>
              </a:rPr>
              <a:t>distance-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based</a:t>
            </a:r>
            <a:r>
              <a:rPr dirty="0" sz="180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optimization.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340"/>
              </a:spcBef>
            </a:pPr>
            <a:endParaRPr sz="1800">
              <a:latin typeface="Roboto"/>
              <a:cs typeface="Roboto"/>
            </a:endParaRPr>
          </a:p>
          <a:p>
            <a:pPr marL="5782310">
              <a:lnSpc>
                <a:spcPct val="100000"/>
              </a:lnSpc>
            </a:pPr>
            <a:r>
              <a:rPr dirty="0" sz="2250">
                <a:solidFill>
                  <a:srgbClr val="FFFFFF"/>
                </a:solidFill>
                <a:latin typeface="Roboto"/>
                <a:cs typeface="Roboto"/>
              </a:rPr>
              <a:t>Best</a:t>
            </a:r>
            <a:r>
              <a:rPr dirty="0" sz="2250" spc="-10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250" spc="-25">
                <a:solidFill>
                  <a:srgbClr val="FFFFFF"/>
                </a:solidFill>
                <a:latin typeface="Roboto"/>
                <a:cs typeface="Roboto"/>
              </a:rPr>
              <a:t>For</a:t>
            </a:r>
            <a:endParaRPr sz="2250">
              <a:latin typeface="Roboto"/>
              <a:cs typeface="Roboto"/>
            </a:endParaRPr>
          </a:p>
          <a:p>
            <a:pPr marL="6055360" marR="5080">
              <a:lnSpc>
                <a:spcPct val="121500"/>
              </a:lnSpc>
              <a:spcBef>
                <a:spcPts val="1200"/>
              </a:spcBef>
            </a:pPr>
            <a:r>
              <a:rPr dirty="0" sz="1800" spc="-70">
                <a:solidFill>
                  <a:srgbClr val="CFD0D8"/>
                </a:solidFill>
                <a:latin typeface="Roboto"/>
                <a:cs typeface="Roboto"/>
              </a:rPr>
              <a:t>Well-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separated,</a:t>
            </a:r>
            <a:r>
              <a:rPr dirty="0" sz="18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spherical</a:t>
            </a:r>
            <a:r>
              <a:rPr dirty="0" sz="18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clusters</a:t>
            </a:r>
            <a:r>
              <a:rPr dirty="0" sz="1800" spc="50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Large</a:t>
            </a:r>
            <a:r>
              <a:rPr dirty="0" sz="180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datasets</a:t>
            </a:r>
            <a:r>
              <a:rPr dirty="0" sz="180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where</a:t>
            </a:r>
            <a:r>
              <a:rPr dirty="0" sz="180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speed</a:t>
            </a:r>
            <a:r>
              <a:rPr dirty="0" sz="180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is</a:t>
            </a:r>
            <a:r>
              <a:rPr dirty="0" sz="180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crucial </a:t>
            </a:r>
            <a:r>
              <a:rPr dirty="0" sz="1800" spc="-20">
                <a:solidFill>
                  <a:srgbClr val="CFD0D8"/>
                </a:solidFill>
                <a:latin typeface="Roboto"/>
                <a:cs typeface="Roboto"/>
              </a:rPr>
              <a:t>Situations</a:t>
            </a:r>
            <a:r>
              <a:rPr dirty="0" sz="18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where</a:t>
            </a:r>
            <a:r>
              <a:rPr dirty="0" sz="18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cluster</a:t>
            </a:r>
            <a:r>
              <a:rPr dirty="0" sz="180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count</a:t>
            </a:r>
            <a:r>
              <a:rPr dirty="0" sz="18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is</a:t>
            </a:r>
            <a:r>
              <a:rPr dirty="0" sz="18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known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857999" cy="10286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22060" y="709165"/>
            <a:ext cx="9459595" cy="171132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6750"/>
              </a:lnSpc>
            </a:pPr>
            <a:r>
              <a:rPr dirty="0" sz="5400" spc="-500"/>
              <a:t>K-</a:t>
            </a:r>
            <a:r>
              <a:rPr dirty="0" sz="5400"/>
              <a:t>Means</a:t>
            </a:r>
            <a:r>
              <a:rPr dirty="0" sz="5400" spc="-100"/>
              <a:t> </a:t>
            </a:r>
            <a:r>
              <a:rPr dirty="0" sz="5400"/>
              <a:t>in</a:t>
            </a:r>
            <a:r>
              <a:rPr dirty="0" sz="5400" spc="-100"/>
              <a:t> </a:t>
            </a:r>
            <a:r>
              <a:rPr dirty="0" sz="5400"/>
              <a:t>Action:</a:t>
            </a:r>
            <a:r>
              <a:rPr dirty="0" sz="5400" spc="-95"/>
              <a:t> </a:t>
            </a:r>
            <a:r>
              <a:rPr dirty="0" sz="5400"/>
              <a:t>The</a:t>
            </a:r>
            <a:r>
              <a:rPr dirty="0" sz="5400" spc="-100"/>
              <a:t> </a:t>
            </a:r>
            <a:r>
              <a:rPr dirty="0" sz="5400" spc="-25"/>
              <a:t>"Round </a:t>
            </a:r>
            <a:r>
              <a:rPr dirty="0" sz="5400"/>
              <a:t>Pegs,</a:t>
            </a:r>
            <a:r>
              <a:rPr dirty="0" sz="5400" spc="-160"/>
              <a:t> </a:t>
            </a:r>
            <a:r>
              <a:rPr dirty="0" sz="5400"/>
              <a:t>Round</a:t>
            </a:r>
            <a:r>
              <a:rPr dirty="0" sz="5400" spc="-160"/>
              <a:t> </a:t>
            </a:r>
            <a:r>
              <a:rPr dirty="0" sz="5400"/>
              <a:t>Holes"</a:t>
            </a:r>
            <a:r>
              <a:rPr dirty="0" sz="5400" spc="-155"/>
              <a:t> </a:t>
            </a:r>
            <a:r>
              <a:rPr dirty="0" sz="5400" spc="-10"/>
              <a:t>Scenario</a:t>
            </a:r>
            <a:endParaRPr sz="5400"/>
          </a:p>
        </p:txBody>
      </p:sp>
      <p:grpSp>
        <p:nvGrpSpPr>
          <p:cNvPr id="4" name="object 4" descr=""/>
          <p:cNvGrpSpPr/>
          <p:nvPr/>
        </p:nvGrpSpPr>
        <p:grpSpPr>
          <a:xfrm>
            <a:off x="7815710" y="4977707"/>
            <a:ext cx="9513570" cy="2159635"/>
            <a:chOff x="7815710" y="4977707"/>
            <a:chExt cx="9513570" cy="2159635"/>
          </a:xfrm>
        </p:grpSpPr>
        <p:sp>
          <p:nvSpPr>
            <p:cNvPr id="5" name="object 5" descr=""/>
            <p:cNvSpPr/>
            <p:nvPr/>
          </p:nvSpPr>
          <p:spPr>
            <a:xfrm>
              <a:off x="7834760" y="4996757"/>
              <a:ext cx="9476740" cy="2121535"/>
            </a:xfrm>
            <a:custGeom>
              <a:avLst/>
              <a:gdLst/>
              <a:ahLst/>
              <a:cxnLst/>
              <a:rect l="l" t="t" r="r" b="b"/>
              <a:pathLst>
                <a:path w="9476740" h="2121534">
                  <a:moveTo>
                    <a:pt x="9357645" y="2120931"/>
                  </a:moveTo>
                  <a:lnTo>
                    <a:pt x="118871" y="2120931"/>
                  </a:lnTo>
                  <a:lnTo>
                    <a:pt x="72611" y="2111719"/>
                  </a:lnTo>
                  <a:lnTo>
                    <a:pt x="34825" y="2086594"/>
                  </a:lnTo>
                  <a:lnTo>
                    <a:pt x="9344" y="2049324"/>
                  </a:lnTo>
                  <a:lnTo>
                    <a:pt x="0" y="2003678"/>
                  </a:lnTo>
                  <a:lnTo>
                    <a:pt x="0" y="117252"/>
                  </a:lnTo>
                  <a:lnTo>
                    <a:pt x="9344" y="71607"/>
                  </a:lnTo>
                  <a:lnTo>
                    <a:pt x="34825" y="34337"/>
                  </a:lnTo>
                  <a:lnTo>
                    <a:pt x="72611" y="9212"/>
                  </a:lnTo>
                  <a:lnTo>
                    <a:pt x="118871" y="0"/>
                  </a:lnTo>
                  <a:lnTo>
                    <a:pt x="9357645" y="0"/>
                  </a:lnTo>
                  <a:lnTo>
                    <a:pt x="9403905" y="9212"/>
                  </a:lnTo>
                  <a:lnTo>
                    <a:pt x="9441691" y="34337"/>
                  </a:lnTo>
                  <a:lnTo>
                    <a:pt x="9467172" y="71607"/>
                  </a:lnTo>
                  <a:lnTo>
                    <a:pt x="9476517" y="117252"/>
                  </a:lnTo>
                  <a:lnTo>
                    <a:pt x="9476517" y="2003678"/>
                  </a:lnTo>
                  <a:lnTo>
                    <a:pt x="9467172" y="2049324"/>
                  </a:lnTo>
                  <a:lnTo>
                    <a:pt x="9441691" y="2086594"/>
                  </a:lnTo>
                  <a:lnTo>
                    <a:pt x="9403905" y="2111719"/>
                  </a:lnTo>
                  <a:lnTo>
                    <a:pt x="9357645" y="2120931"/>
                  </a:lnTo>
                  <a:close/>
                </a:path>
              </a:pathLst>
            </a:custGeom>
            <a:solidFill>
              <a:srgbClr val="000017">
                <a:alpha val="9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815710" y="4977707"/>
              <a:ext cx="9513570" cy="2159635"/>
            </a:xfrm>
            <a:custGeom>
              <a:avLst/>
              <a:gdLst/>
              <a:ahLst/>
              <a:cxnLst/>
              <a:rect l="l" t="t" r="r" b="b"/>
              <a:pathLst>
                <a:path w="9513569" h="2159634">
                  <a:moveTo>
                    <a:pt x="137922" y="2159032"/>
                  </a:moveTo>
                  <a:lnTo>
                    <a:pt x="94427" y="2152107"/>
                  </a:lnTo>
                  <a:lnTo>
                    <a:pt x="56578" y="2132807"/>
                  </a:lnTo>
                  <a:lnTo>
                    <a:pt x="26685" y="2103338"/>
                  </a:lnTo>
                  <a:lnTo>
                    <a:pt x="7056" y="2065909"/>
                  </a:lnTo>
                  <a:lnTo>
                    <a:pt x="0" y="2022729"/>
                  </a:lnTo>
                  <a:lnTo>
                    <a:pt x="0" y="136302"/>
                  </a:lnTo>
                  <a:lnTo>
                    <a:pt x="7056" y="93122"/>
                  </a:lnTo>
                  <a:lnTo>
                    <a:pt x="26685" y="55693"/>
                  </a:lnTo>
                  <a:lnTo>
                    <a:pt x="56578" y="26225"/>
                  </a:lnTo>
                  <a:lnTo>
                    <a:pt x="94427" y="6924"/>
                  </a:lnTo>
                  <a:lnTo>
                    <a:pt x="137922" y="0"/>
                  </a:lnTo>
                  <a:lnTo>
                    <a:pt x="9376695" y="0"/>
                  </a:lnTo>
                  <a:lnTo>
                    <a:pt x="9376695" y="19050"/>
                  </a:lnTo>
                  <a:lnTo>
                    <a:pt x="137922" y="19050"/>
                  </a:lnTo>
                  <a:lnTo>
                    <a:pt x="137922" y="38100"/>
                  </a:lnTo>
                  <a:lnTo>
                    <a:pt x="98978" y="45849"/>
                  </a:lnTo>
                  <a:lnTo>
                    <a:pt x="67258" y="66948"/>
                  </a:lnTo>
                  <a:lnTo>
                    <a:pt x="45915" y="98174"/>
                  </a:lnTo>
                  <a:lnTo>
                    <a:pt x="38100" y="136302"/>
                  </a:lnTo>
                  <a:lnTo>
                    <a:pt x="38100" y="2022729"/>
                  </a:lnTo>
                  <a:lnTo>
                    <a:pt x="45915" y="2060857"/>
                  </a:lnTo>
                  <a:lnTo>
                    <a:pt x="67258" y="2092083"/>
                  </a:lnTo>
                  <a:lnTo>
                    <a:pt x="98978" y="2113182"/>
                  </a:lnTo>
                  <a:lnTo>
                    <a:pt x="137922" y="2120932"/>
                  </a:lnTo>
                  <a:lnTo>
                    <a:pt x="9470085" y="2120932"/>
                  </a:lnTo>
                  <a:lnTo>
                    <a:pt x="9458039" y="2132807"/>
                  </a:lnTo>
                  <a:lnTo>
                    <a:pt x="9443969" y="2139982"/>
                  </a:lnTo>
                  <a:lnTo>
                    <a:pt x="137922" y="2139982"/>
                  </a:lnTo>
                  <a:lnTo>
                    <a:pt x="137922" y="2159032"/>
                  </a:lnTo>
                  <a:close/>
                </a:path>
                <a:path w="9513569" h="2159634">
                  <a:moveTo>
                    <a:pt x="9470085" y="2120932"/>
                  </a:moveTo>
                  <a:lnTo>
                    <a:pt x="9376695" y="2120932"/>
                  </a:lnTo>
                  <a:lnTo>
                    <a:pt x="9415639" y="2113182"/>
                  </a:lnTo>
                  <a:lnTo>
                    <a:pt x="9447358" y="2092083"/>
                  </a:lnTo>
                  <a:lnTo>
                    <a:pt x="9468701" y="2060857"/>
                  </a:lnTo>
                  <a:lnTo>
                    <a:pt x="9476516" y="2022729"/>
                  </a:lnTo>
                  <a:lnTo>
                    <a:pt x="9476516" y="136302"/>
                  </a:lnTo>
                  <a:lnTo>
                    <a:pt x="9468701" y="98174"/>
                  </a:lnTo>
                  <a:lnTo>
                    <a:pt x="9447358" y="66948"/>
                  </a:lnTo>
                  <a:lnTo>
                    <a:pt x="9415639" y="45849"/>
                  </a:lnTo>
                  <a:lnTo>
                    <a:pt x="9376695" y="38100"/>
                  </a:lnTo>
                  <a:lnTo>
                    <a:pt x="137922" y="38100"/>
                  </a:lnTo>
                  <a:lnTo>
                    <a:pt x="137922" y="19050"/>
                  </a:lnTo>
                  <a:lnTo>
                    <a:pt x="9376695" y="19050"/>
                  </a:lnTo>
                  <a:lnTo>
                    <a:pt x="9376695" y="0"/>
                  </a:lnTo>
                  <a:lnTo>
                    <a:pt x="9420190" y="6924"/>
                  </a:lnTo>
                  <a:lnTo>
                    <a:pt x="9458039" y="26225"/>
                  </a:lnTo>
                  <a:lnTo>
                    <a:pt x="9487932" y="55693"/>
                  </a:lnTo>
                  <a:lnTo>
                    <a:pt x="9507561" y="93122"/>
                  </a:lnTo>
                  <a:lnTo>
                    <a:pt x="9513316" y="128341"/>
                  </a:lnTo>
                  <a:lnTo>
                    <a:pt x="9513316" y="2030690"/>
                  </a:lnTo>
                  <a:lnTo>
                    <a:pt x="9507561" y="2065909"/>
                  </a:lnTo>
                  <a:lnTo>
                    <a:pt x="9487932" y="2103338"/>
                  </a:lnTo>
                  <a:lnTo>
                    <a:pt x="9470085" y="2120932"/>
                  </a:lnTo>
                  <a:close/>
                </a:path>
                <a:path w="9513569" h="2159634">
                  <a:moveTo>
                    <a:pt x="9376695" y="2159032"/>
                  </a:moveTo>
                  <a:lnTo>
                    <a:pt x="137922" y="2159032"/>
                  </a:lnTo>
                  <a:lnTo>
                    <a:pt x="137922" y="2139982"/>
                  </a:lnTo>
                  <a:lnTo>
                    <a:pt x="9376695" y="2139982"/>
                  </a:lnTo>
                  <a:lnTo>
                    <a:pt x="9376695" y="2159032"/>
                  </a:lnTo>
                  <a:close/>
                </a:path>
                <a:path w="9513569" h="2159634">
                  <a:moveTo>
                    <a:pt x="9376695" y="2159032"/>
                  </a:moveTo>
                  <a:lnTo>
                    <a:pt x="9376695" y="2139982"/>
                  </a:lnTo>
                  <a:lnTo>
                    <a:pt x="9443969" y="2139982"/>
                  </a:lnTo>
                  <a:lnTo>
                    <a:pt x="9420190" y="2152107"/>
                  </a:lnTo>
                  <a:lnTo>
                    <a:pt x="9376695" y="2159032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7815710" y="7373387"/>
            <a:ext cx="9513570" cy="2159635"/>
            <a:chOff x="7815710" y="7373387"/>
            <a:chExt cx="9513570" cy="2159635"/>
          </a:xfrm>
        </p:grpSpPr>
        <p:sp>
          <p:nvSpPr>
            <p:cNvPr id="8" name="object 8" descr=""/>
            <p:cNvSpPr/>
            <p:nvPr/>
          </p:nvSpPr>
          <p:spPr>
            <a:xfrm>
              <a:off x="7834760" y="7392438"/>
              <a:ext cx="9476740" cy="2121535"/>
            </a:xfrm>
            <a:custGeom>
              <a:avLst/>
              <a:gdLst/>
              <a:ahLst/>
              <a:cxnLst/>
              <a:rect l="l" t="t" r="r" b="b"/>
              <a:pathLst>
                <a:path w="9476740" h="2121534">
                  <a:moveTo>
                    <a:pt x="9357645" y="2120931"/>
                  </a:moveTo>
                  <a:lnTo>
                    <a:pt x="118871" y="2120931"/>
                  </a:lnTo>
                  <a:lnTo>
                    <a:pt x="72611" y="2111719"/>
                  </a:lnTo>
                  <a:lnTo>
                    <a:pt x="34825" y="2086594"/>
                  </a:lnTo>
                  <a:lnTo>
                    <a:pt x="9344" y="2049324"/>
                  </a:lnTo>
                  <a:lnTo>
                    <a:pt x="0" y="2003678"/>
                  </a:lnTo>
                  <a:lnTo>
                    <a:pt x="0" y="117252"/>
                  </a:lnTo>
                  <a:lnTo>
                    <a:pt x="9344" y="71607"/>
                  </a:lnTo>
                  <a:lnTo>
                    <a:pt x="34825" y="34337"/>
                  </a:lnTo>
                  <a:lnTo>
                    <a:pt x="72611" y="9212"/>
                  </a:lnTo>
                  <a:lnTo>
                    <a:pt x="118871" y="0"/>
                  </a:lnTo>
                  <a:lnTo>
                    <a:pt x="9357645" y="0"/>
                  </a:lnTo>
                  <a:lnTo>
                    <a:pt x="9403905" y="9212"/>
                  </a:lnTo>
                  <a:lnTo>
                    <a:pt x="9441691" y="34337"/>
                  </a:lnTo>
                  <a:lnTo>
                    <a:pt x="9467172" y="71607"/>
                  </a:lnTo>
                  <a:lnTo>
                    <a:pt x="9476517" y="117252"/>
                  </a:lnTo>
                  <a:lnTo>
                    <a:pt x="9476517" y="2003678"/>
                  </a:lnTo>
                  <a:lnTo>
                    <a:pt x="9467172" y="2049324"/>
                  </a:lnTo>
                  <a:lnTo>
                    <a:pt x="9441691" y="2086594"/>
                  </a:lnTo>
                  <a:lnTo>
                    <a:pt x="9403905" y="2111719"/>
                  </a:lnTo>
                  <a:lnTo>
                    <a:pt x="9357645" y="2120931"/>
                  </a:lnTo>
                  <a:close/>
                </a:path>
              </a:pathLst>
            </a:custGeom>
            <a:solidFill>
              <a:srgbClr val="000017">
                <a:alpha val="9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815710" y="7373387"/>
              <a:ext cx="9513570" cy="2159635"/>
            </a:xfrm>
            <a:custGeom>
              <a:avLst/>
              <a:gdLst/>
              <a:ahLst/>
              <a:cxnLst/>
              <a:rect l="l" t="t" r="r" b="b"/>
              <a:pathLst>
                <a:path w="9513569" h="2159634">
                  <a:moveTo>
                    <a:pt x="137922" y="2159031"/>
                  </a:moveTo>
                  <a:lnTo>
                    <a:pt x="94427" y="2152107"/>
                  </a:lnTo>
                  <a:lnTo>
                    <a:pt x="56578" y="2132806"/>
                  </a:lnTo>
                  <a:lnTo>
                    <a:pt x="26685" y="2103338"/>
                  </a:lnTo>
                  <a:lnTo>
                    <a:pt x="7056" y="2065909"/>
                  </a:lnTo>
                  <a:lnTo>
                    <a:pt x="0" y="2022729"/>
                  </a:lnTo>
                  <a:lnTo>
                    <a:pt x="0" y="136302"/>
                  </a:lnTo>
                  <a:lnTo>
                    <a:pt x="7056" y="93122"/>
                  </a:lnTo>
                  <a:lnTo>
                    <a:pt x="26685" y="55694"/>
                  </a:lnTo>
                  <a:lnTo>
                    <a:pt x="56578" y="26225"/>
                  </a:lnTo>
                  <a:lnTo>
                    <a:pt x="94427" y="6924"/>
                  </a:lnTo>
                  <a:lnTo>
                    <a:pt x="137922" y="0"/>
                  </a:lnTo>
                  <a:lnTo>
                    <a:pt x="9376695" y="0"/>
                  </a:lnTo>
                  <a:lnTo>
                    <a:pt x="9376695" y="19050"/>
                  </a:lnTo>
                  <a:lnTo>
                    <a:pt x="137922" y="19050"/>
                  </a:lnTo>
                  <a:lnTo>
                    <a:pt x="137922" y="38100"/>
                  </a:lnTo>
                  <a:lnTo>
                    <a:pt x="98978" y="45849"/>
                  </a:lnTo>
                  <a:lnTo>
                    <a:pt x="45915" y="98174"/>
                  </a:lnTo>
                  <a:lnTo>
                    <a:pt x="38100" y="136302"/>
                  </a:lnTo>
                  <a:lnTo>
                    <a:pt x="38100" y="2022729"/>
                  </a:lnTo>
                  <a:lnTo>
                    <a:pt x="45915" y="2060857"/>
                  </a:lnTo>
                  <a:lnTo>
                    <a:pt x="67258" y="2092082"/>
                  </a:lnTo>
                  <a:lnTo>
                    <a:pt x="98978" y="2113182"/>
                  </a:lnTo>
                  <a:lnTo>
                    <a:pt x="137922" y="2120931"/>
                  </a:lnTo>
                  <a:lnTo>
                    <a:pt x="9470085" y="2120931"/>
                  </a:lnTo>
                  <a:lnTo>
                    <a:pt x="9458039" y="2132806"/>
                  </a:lnTo>
                  <a:lnTo>
                    <a:pt x="9443969" y="2139981"/>
                  </a:lnTo>
                  <a:lnTo>
                    <a:pt x="137922" y="2139981"/>
                  </a:lnTo>
                  <a:lnTo>
                    <a:pt x="137922" y="2159031"/>
                  </a:lnTo>
                  <a:close/>
                </a:path>
                <a:path w="9513569" h="2159634">
                  <a:moveTo>
                    <a:pt x="9470085" y="2120931"/>
                  </a:moveTo>
                  <a:lnTo>
                    <a:pt x="9376695" y="2120931"/>
                  </a:lnTo>
                  <a:lnTo>
                    <a:pt x="9415639" y="2113182"/>
                  </a:lnTo>
                  <a:lnTo>
                    <a:pt x="9447358" y="2092082"/>
                  </a:lnTo>
                  <a:lnTo>
                    <a:pt x="9468701" y="2060857"/>
                  </a:lnTo>
                  <a:lnTo>
                    <a:pt x="9476516" y="2022729"/>
                  </a:lnTo>
                  <a:lnTo>
                    <a:pt x="9476516" y="136302"/>
                  </a:lnTo>
                  <a:lnTo>
                    <a:pt x="9468701" y="98174"/>
                  </a:lnTo>
                  <a:lnTo>
                    <a:pt x="9447358" y="66949"/>
                  </a:lnTo>
                  <a:lnTo>
                    <a:pt x="9415639" y="45849"/>
                  </a:lnTo>
                  <a:lnTo>
                    <a:pt x="9376695" y="38100"/>
                  </a:lnTo>
                  <a:lnTo>
                    <a:pt x="137922" y="38100"/>
                  </a:lnTo>
                  <a:lnTo>
                    <a:pt x="137922" y="19050"/>
                  </a:lnTo>
                  <a:lnTo>
                    <a:pt x="9376695" y="19050"/>
                  </a:lnTo>
                  <a:lnTo>
                    <a:pt x="9376695" y="0"/>
                  </a:lnTo>
                  <a:lnTo>
                    <a:pt x="9420190" y="6924"/>
                  </a:lnTo>
                  <a:lnTo>
                    <a:pt x="9458039" y="26225"/>
                  </a:lnTo>
                  <a:lnTo>
                    <a:pt x="9487932" y="55694"/>
                  </a:lnTo>
                  <a:lnTo>
                    <a:pt x="9507561" y="93122"/>
                  </a:lnTo>
                  <a:lnTo>
                    <a:pt x="9513316" y="128341"/>
                  </a:lnTo>
                  <a:lnTo>
                    <a:pt x="9513316" y="2030690"/>
                  </a:lnTo>
                  <a:lnTo>
                    <a:pt x="9507561" y="2065909"/>
                  </a:lnTo>
                  <a:lnTo>
                    <a:pt x="9487932" y="2103338"/>
                  </a:lnTo>
                  <a:lnTo>
                    <a:pt x="9470085" y="2120931"/>
                  </a:lnTo>
                  <a:close/>
                </a:path>
                <a:path w="9513569" h="2159634">
                  <a:moveTo>
                    <a:pt x="9376695" y="2159031"/>
                  </a:moveTo>
                  <a:lnTo>
                    <a:pt x="137922" y="2159031"/>
                  </a:lnTo>
                  <a:lnTo>
                    <a:pt x="137922" y="2139981"/>
                  </a:lnTo>
                  <a:lnTo>
                    <a:pt x="9376695" y="2139981"/>
                  </a:lnTo>
                  <a:lnTo>
                    <a:pt x="9376695" y="2159031"/>
                  </a:lnTo>
                  <a:close/>
                </a:path>
                <a:path w="9513569" h="2159634">
                  <a:moveTo>
                    <a:pt x="9376695" y="2159031"/>
                  </a:moveTo>
                  <a:lnTo>
                    <a:pt x="9376695" y="2139981"/>
                  </a:lnTo>
                  <a:lnTo>
                    <a:pt x="9443969" y="2139981"/>
                  </a:lnTo>
                  <a:lnTo>
                    <a:pt x="9420190" y="2152107"/>
                  </a:lnTo>
                  <a:lnTo>
                    <a:pt x="9376695" y="2159031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0800"/>
              </a:lnSpc>
              <a:spcBef>
                <a:spcPts val="90"/>
              </a:spcBef>
            </a:pPr>
            <a:r>
              <a:rPr dirty="0"/>
              <a:t>Imagine</a:t>
            </a:r>
            <a:r>
              <a:rPr dirty="0" spc="-20"/>
              <a:t> </a:t>
            </a:r>
            <a:r>
              <a:rPr dirty="0"/>
              <a:t>sorting</a:t>
            </a:r>
            <a:r>
              <a:rPr dirty="0" spc="-20"/>
              <a:t> </a:t>
            </a:r>
            <a:r>
              <a:rPr dirty="0"/>
              <a:t>marbles</a:t>
            </a:r>
            <a:r>
              <a:rPr dirty="0" spc="-15"/>
              <a:t> </a:t>
            </a:r>
            <a:r>
              <a:rPr dirty="0"/>
              <a:t>by</a:t>
            </a:r>
            <a:r>
              <a:rPr dirty="0" spc="-20"/>
              <a:t> </a:t>
            </a:r>
            <a:r>
              <a:rPr dirty="0"/>
              <a:t>color.</a:t>
            </a:r>
            <a:r>
              <a:rPr dirty="0" spc="-15"/>
              <a:t> </a:t>
            </a:r>
            <a:r>
              <a:rPr dirty="0" spc="-204"/>
              <a:t>K-</a:t>
            </a:r>
            <a:r>
              <a:rPr dirty="0"/>
              <a:t>Means</a:t>
            </a:r>
            <a:r>
              <a:rPr dirty="0" spc="-20"/>
              <a:t> </a:t>
            </a:r>
            <a:r>
              <a:rPr dirty="0"/>
              <a:t>excels</a:t>
            </a:r>
            <a:r>
              <a:rPr dirty="0" spc="-15"/>
              <a:t> </a:t>
            </a:r>
            <a:r>
              <a:rPr dirty="0"/>
              <a:t>when</a:t>
            </a:r>
            <a:r>
              <a:rPr dirty="0" spc="-20"/>
              <a:t> </a:t>
            </a:r>
            <a:r>
              <a:rPr dirty="0"/>
              <a:t>clusters</a:t>
            </a:r>
            <a:r>
              <a:rPr dirty="0" spc="-15"/>
              <a:t> </a:t>
            </a:r>
            <a:r>
              <a:rPr dirty="0"/>
              <a:t>are</a:t>
            </a:r>
            <a:r>
              <a:rPr dirty="0" spc="-20"/>
              <a:t> </a:t>
            </a:r>
            <a:r>
              <a:rPr dirty="0" spc="-10"/>
              <a:t>distinct </a:t>
            </a:r>
            <a:r>
              <a:rPr dirty="0"/>
              <a:t>and</a:t>
            </a:r>
            <a:r>
              <a:rPr dirty="0" spc="-50"/>
              <a:t> </a:t>
            </a:r>
            <a:r>
              <a:rPr dirty="0" spc="-10"/>
              <a:t>roughly</a:t>
            </a:r>
            <a:r>
              <a:rPr dirty="0" spc="-45"/>
              <a:t> </a:t>
            </a:r>
            <a:r>
              <a:rPr dirty="0"/>
              <a:t>spherical,</a:t>
            </a:r>
            <a:r>
              <a:rPr dirty="0" spc="-45"/>
              <a:t> </a:t>
            </a:r>
            <a:r>
              <a:rPr dirty="0"/>
              <a:t>creating</a:t>
            </a:r>
            <a:r>
              <a:rPr dirty="0" spc="-50"/>
              <a:t> </a:t>
            </a:r>
            <a:r>
              <a:rPr dirty="0"/>
              <a:t>clear</a:t>
            </a:r>
            <a:r>
              <a:rPr dirty="0" spc="-45"/>
              <a:t> </a:t>
            </a:r>
            <a:r>
              <a:rPr dirty="0" spc="-10"/>
              <a:t>boundaries.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844"/>
              </a:spcBef>
            </a:pPr>
          </a:p>
          <a:p>
            <a:pPr marL="329565">
              <a:lnSpc>
                <a:spcPct val="100000"/>
              </a:lnSpc>
            </a:pPr>
            <a:r>
              <a:rPr dirty="0" sz="2650"/>
              <a:t>Use</a:t>
            </a:r>
            <a:r>
              <a:rPr dirty="0" sz="2650" spc="-45"/>
              <a:t> </a:t>
            </a:r>
            <a:r>
              <a:rPr dirty="0" sz="2650" spc="-20"/>
              <a:t>Case</a:t>
            </a:r>
            <a:endParaRPr sz="2650"/>
          </a:p>
          <a:p>
            <a:pPr marL="329565" marR="203835">
              <a:lnSpc>
                <a:spcPct val="130800"/>
              </a:lnSpc>
              <a:spcBef>
                <a:spcPts val="700"/>
              </a:spcBef>
            </a:pPr>
            <a:r>
              <a:rPr dirty="0"/>
              <a:t>Customer</a:t>
            </a:r>
            <a:r>
              <a:rPr dirty="0" spc="-25"/>
              <a:t> </a:t>
            </a:r>
            <a:r>
              <a:rPr dirty="0"/>
              <a:t>segmentation</a:t>
            </a:r>
            <a:r>
              <a:rPr dirty="0" spc="-20"/>
              <a:t> </a:t>
            </a:r>
            <a:r>
              <a:rPr dirty="0"/>
              <a:t>for</a:t>
            </a:r>
            <a:r>
              <a:rPr dirty="0" spc="-20"/>
              <a:t> </a:t>
            </a:r>
            <a:r>
              <a:rPr dirty="0"/>
              <a:t>personalized</a:t>
            </a:r>
            <a:r>
              <a:rPr dirty="0" spc="-20"/>
              <a:t> </a:t>
            </a:r>
            <a:r>
              <a:rPr dirty="0"/>
              <a:t>marketing</a:t>
            </a:r>
            <a:r>
              <a:rPr dirty="0" spc="-25"/>
              <a:t> </a:t>
            </a:r>
            <a:r>
              <a:rPr dirty="0"/>
              <a:t>when</a:t>
            </a:r>
            <a:r>
              <a:rPr dirty="0" spc="-20"/>
              <a:t> </a:t>
            </a:r>
            <a:r>
              <a:rPr dirty="0"/>
              <a:t>you</a:t>
            </a:r>
            <a:r>
              <a:rPr dirty="0" spc="-20"/>
              <a:t> </a:t>
            </a:r>
            <a:r>
              <a:rPr dirty="0"/>
              <a:t>know</a:t>
            </a:r>
            <a:r>
              <a:rPr dirty="0" spc="-20"/>
              <a:t> </a:t>
            </a:r>
            <a:r>
              <a:rPr dirty="0" spc="-25"/>
              <a:t>you </a:t>
            </a:r>
            <a:r>
              <a:rPr dirty="0"/>
              <a:t>want,</a:t>
            </a:r>
            <a:r>
              <a:rPr dirty="0" spc="-35"/>
              <a:t> </a:t>
            </a:r>
            <a:r>
              <a:rPr dirty="0"/>
              <a:t>say,</a:t>
            </a:r>
            <a:r>
              <a:rPr dirty="0" spc="-35"/>
              <a:t> </a:t>
            </a:r>
            <a:r>
              <a:rPr dirty="0"/>
              <a:t>5</a:t>
            </a:r>
            <a:r>
              <a:rPr dirty="0" spc="-35"/>
              <a:t> </a:t>
            </a:r>
            <a:r>
              <a:rPr dirty="0"/>
              <a:t>distinct</a:t>
            </a:r>
            <a:r>
              <a:rPr dirty="0" spc="-35"/>
              <a:t> </a:t>
            </a:r>
            <a:r>
              <a:rPr dirty="0"/>
              <a:t>customer</a:t>
            </a:r>
            <a:r>
              <a:rPr dirty="0" spc="-35"/>
              <a:t> </a:t>
            </a:r>
            <a:r>
              <a:rPr dirty="0" spc="-10"/>
              <a:t>groups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495"/>
              </a:spcBef>
            </a:pPr>
          </a:p>
          <a:p>
            <a:pPr marL="329565">
              <a:lnSpc>
                <a:spcPct val="100000"/>
              </a:lnSpc>
            </a:pPr>
            <a:r>
              <a:rPr dirty="0" sz="2650" spc="-10"/>
              <a:t>Limitation</a:t>
            </a:r>
            <a:endParaRPr sz="2650"/>
          </a:p>
          <a:p>
            <a:pPr marL="329565" marR="547370">
              <a:lnSpc>
                <a:spcPct val="130800"/>
              </a:lnSpc>
              <a:spcBef>
                <a:spcPts val="700"/>
              </a:spcBef>
            </a:pPr>
            <a:r>
              <a:rPr dirty="0"/>
              <a:t>Struggles</a:t>
            </a:r>
            <a:r>
              <a:rPr dirty="0" spc="-55"/>
              <a:t> </a:t>
            </a:r>
            <a:r>
              <a:rPr dirty="0"/>
              <a:t>with</a:t>
            </a:r>
            <a:r>
              <a:rPr dirty="0" spc="-50"/>
              <a:t> </a:t>
            </a:r>
            <a:r>
              <a:rPr dirty="0"/>
              <a:t>irregular</a:t>
            </a:r>
            <a:r>
              <a:rPr dirty="0" spc="-55"/>
              <a:t> </a:t>
            </a:r>
            <a:r>
              <a:rPr dirty="0"/>
              <a:t>shapes</a:t>
            </a:r>
            <a:r>
              <a:rPr dirty="0" spc="-50"/>
              <a:t> </a:t>
            </a:r>
            <a:r>
              <a:rPr dirty="0"/>
              <a:t>and</a:t>
            </a:r>
            <a:r>
              <a:rPr dirty="0" spc="-55"/>
              <a:t> </a:t>
            </a:r>
            <a:r>
              <a:rPr dirty="0"/>
              <a:t>is</a:t>
            </a:r>
            <a:r>
              <a:rPr dirty="0" spc="-50"/>
              <a:t> </a:t>
            </a:r>
            <a:r>
              <a:rPr dirty="0"/>
              <a:t>sensitive</a:t>
            </a:r>
            <a:r>
              <a:rPr dirty="0" spc="-55"/>
              <a:t> </a:t>
            </a:r>
            <a:r>
              <a:rPr dirty="0"/>
              <a:t>to</a:t>
            </a:r>
            <a:r>
              <a:rPr dirty="0" spc="-50"/>
              <a:t> </a:t>
            </a:r>
            <a:r>
              <a:rPr dirty="0"/>
              <a:t>outliers,</a:t>
            </a:r>
            <a:r>
              <a:rPr dirty="0" spc="-50"/>
              <a:t> </a:t>
            </a:r>
            <a:r>
              <a:rPr dirty="0" spc="-10"/>
              <a:t>potentially </a:t>
            </a:r>
            <a:r>
              <a:rPr dirty="0"/>
              <a:t>misclassifying</a:t>
            </a:r>
            <a:r>
              <a:rPr dirty="0" spc="-95"/>
              <a:t> </a:t>
            </a:r>
            <a:r>
              <a:rPr dirty="0" spc="-10"/>
              <a:t>points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857999" cy="10286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3614" rIns="0" bIns="0" rtlCol="0" vert="horz">
            <a:spAutoFit/>
          </a:bodyPr>
          <a:lstStyle/>
          <a:p>
            <a:pPr marL="7009765" marR="5080">
              <a:lnSpc>
                <a:spcPts val="6900"/>
              </a:lnSpc>
            </a:pPr>
            <a:r>
              <a:rPr dirty="0" sz="5550"/>
              <a:t>Meet</a:t>
            </a:r>
            <a:r>
              <a:rPr dirty="0" sz="5550" spc="-100"/>
              <a:t> </a:t>
            </a:r>
            <a:r>
              <a:rPr dirty="0" sz="5550"/>
              <a:t>the</a:t>
            </a:r>
            <a:r>
              <a:rPr dirty="0" sz="5550" spc="-95"/>
              <a:t> </a:t>
            </a:r>
            <a:r>
              <a:rPr dirty="0" sz="5550" spc="-10"/>
              <a:t>Contenders: DBSCAN</a:t>
            </a:r>
            <a:endParaRPr sz="5550"/>
          </a:p>
        </p:txBody>
      </p:sp>
      <p:sp>
        <p:nvSpPr>
          <p:cNvPr id="4" name="object 4" descr=""/>
          <p:cNvSpPr/>
          <p:nvPr/>
        </p:nvSpPr>
        <p:spPr>
          <a:xfrm>
            <a:off x="7850237" y="3695995"/>
            <a:ext cx="4581525" cy="38100"/>
          </a:xfrm>
          <a:custGeom>
            <a:avLst/>
            <a:gdLst/>
            <a:ahLst/>
            <a:cxnLst/>
            <a:rect l="l" t="t" r="r" b="b"/>
            <a:pathLst>
              <a:path w="4581525" h="38100">
                <a:moveTo>
                  <a:pt x="4580929" y="38099"/>
                </a:moveTo>
                <a:lnTo>
                  <a:pt x="0" y="38099"/>
                </a:lnTo>
                <a:lnTo>
                  <a:pt x="0" y="0"/>
                </a:lnTo>
                <a:lnTo>
                  <a:pt x="4580929" y="0"/>
                </a:lnTo>
                <a:lnTo>
                  <a:pt x="4580929" y="38099"/>
                </a:lnTo>
                <a:close/>
              </a:path>
            </a:pathLst>
          </a:custGeom>
          <a:solidFill>
            <a:srgbClr val="596E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7837538" y="3642712"/>
            <a:ext cx="4350385" cy="2541270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What</a:t>
            </a:r>
            <a:r>
              <a:rPr dirty="0" sz="275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It</a:t>
            </a:r>
            <a:r>
              <a:rPr dirty="0" sz="275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 spc="-25">
                <a:solidFill>
                  <a:srgbClr val="CFD0D8"/>
                </a:solidFill>
                <a:latin typeface="Roboto"/>
                <a:cs typeface="Roboto"/>
              </a:rPr>
              <a:t>Is</a:t>
            </a:r>
            <a:endParaRPr sz="2750">
              <a:latin typeface="Roboto"/>
              <a:cs typeface="Roboto"/>
            </a:endParaRPr>
          </a:p>
          <a:p>
            <a:pPr marL="12700" marR="5080">
              <a:lnSpc>
                <a:spcPct val="136600"/>
              </a:lnSpc>
              <a:spcBef>
                <a:spcPts val="560"/>
              </a:spcBef>
            </a:pPr>
            <a:r>
              <a:rPr dirty="0" sz="2150" spc="-75">
                <a:solidFill>
                  <a:srgbClr val="CFD0D8"/>
                </a:solidFill>
                <a:latin typeface="Roboto"/>
                <a:cs typeface="Roboto"/>
              </a:rPr>
              <a:t>Density-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Based</a:t>
            </a:r>
            <a:r>
              <a:rPr dirty="0" sz="215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Spatial</a:t>
            </a:r>
            <a:r>
              <a:rPr dirty="0" sz="215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Clustering</a:t>
            </a:r>
            <a:r>
              <a:rPr dirty="0" sz="215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25">
                <a:solidFill>
                  <a:srgbClr val="CFD0D8"/>
                </a:solidFill>
                <a:latin typeface="Roboto"/>
                <a:cs typeface="Roboto"/>
              </a:rPr>
              <a:t>of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Applications</a:t>
            </a:r>
            <a:r>
              <a:rPr dirty="0" sz="2150" spc="-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with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Noise.</a:t>
            </a:r>
            <a:r>
              <a:rPr dirty="0" sz="2150" spc="-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Finds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clusters</a:t>
            </a:r>
            <a:r>
              <a:rPr dirty="0" sz="21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of</a:t>
            </a:r>
            <a:r>
              <a:rPr dirty="0" sz="215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varying</a:t>
            </a:r>
            <a:r>
              <a:rPr dirty="0" sz="215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shapes</a:t>
            </a:r>
            <a:r>
              <a:rPr dirty="0" sz="215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25">
                <a:solidFill>
                  <a:srgbClr val="CFD0D8"/>
                </a:solidFill>
                <a:latin typeface="Roboto"/>
                <a:cs typeface="Roboto"/>
              </a:rPr>
              <a:t>and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densities</a:t>
            </a:r>
            <a:r>
              <a:rPr dirty="0" sz="215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while</a:t>
            </a:r>
            <a:r>
              <a:rPr dirty="0" sz="215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identifying</a:t>
            </a:r>
            <a:r>
              <a:rPr dirty="0" sz="21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outliers.</a:t>
            </a:r>
            <a:endParaRPr sz="2150">
              <a:latin typeface="Roboto"/>
              <a:cs typeface="Roboto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837538" y="3207016"/>
            <a:ext cx="5201920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876800" algn="l"/>
              </a:tabLst>
            </a:pPr>
            <a:r>
              <a:rPr dirty="0" sz="2150" spc="-25">
                <a:solidFill>
                  <a:srgbClr val="CFD0D8"/>
                </a:solidFill>
                <a:latin typeface="Roboto"/>
                <a:cs typeface="Roboto"/>
              </a:rPr>
              <a:t>01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	</a:t>
            </a:r>
            <a:r>
              <a:rPr dirty="0" sz="2150" spc="-25">
                <a:solidFill>
                  <a:srgbClr val="CFD0D8"/>
                </a:solidFill>
                <a:latin typeface="Roboto"/>
                <a:cs typeface="Roboto"/>
              </a:rPr>
              <a:t>02</a:t>
            </a:r>
            <a:endParaRPr sz="2150">
              <a:latin typeface="Roboto"/>
              <a:cs typeface="Roboto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12714683" y="3695995"/>
            <a:ext cx="4581525" cy="38100"/>
          </a:xfrm>
          <a:custGeom>
            <a:avLst/>
            <a:gdLst/>
            <a:ahLst/>
            <a:cxnLst/>
            <a:rect l="l" t="t" r="r" b="b"/>
            <a:pathLst>
              <a:path w="4581525" h="38100">
                <a:moveTo>
                  <a:pt x="4581078" y="38099"/>
                </a:moveTo>
                <a:lnTo>
                  <a:pt x="0" y="38099"/>
                </a:lnTo>
                <a:lnTo>
                  <a:pt x="0" y="0"/>
                </a:lnTo>
                <a:lnTo>
                  <a:pt x="4581078" y="0"/>
                </a:lnTo>
                <a:lnTo>
                  <a:pt x="4581078" y="38099"/>
                </a:lnTo>
                <a:close/>
              </a:path>
            </a:pathLst>
          </a:custGeom>
          <a:solidFill>
            <a:srgbClr val="596E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2701983" y="3642712"/>
            <a:ext cx="4067175" cy="2541270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How</a:t>
            </a:r>
            <a:r>
              <a:rPr dirty="0" sz="27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It</a:t>
            </a:r>
            <a:r>
              <a:rPr dirty="0" sz="27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 spc="-20">
                <a:solidFill>
                  <a:srgbClr val="CFD0D8"/>
                </a:solidFill>
                <a:latin typeface="Roboto"/>
                <a:cs typeface="Roboto"/>
              </a:rPr>
              <a:t>Works</a:t>
            </a:r>
            <a:endParaRPr sz="2750">
              <a:latin typeface="Roboto"/>
              <a:cs typeface="Roboto"/>
            </a:endParaRPr>
          </a:p>
          <a:p>
            <a:pPr marL="12700" marR="5080">
              <a:lnSpc>
                <a:spcPct val="136600"/>
              </a:lnSpc>
              <a:spcBef>
                <a:spcPts val="560"/>
              </a:spcBef>
            </a:pP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Groups</a:t>
            </a:r>
            <a:r>
              <a:rPr dirty="0" sz="215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together</a:t>
            </a:r>
            <a:r>
              <a:rPr dirty="0" sz="2150" spc="-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points</a:t>
            </a:r>
            <a:r>
              <a:rPr dirty="0" sz="2150" spc="-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that</a:t>
            </a:r>
            <a:r>
              <a:rPr dirty="0" sz="2150" spc="-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25">
                <a:solidFill>
                  <a:srgbClr val="CFD0D8"/>
                </a:solidFill>
                <a:latin typeface="Roboto"/>
                <a:cs typeface="Roboto"/>
              </a:rPr>
              <a:t>are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closely</a:t>
            </a:r>
            <a:r>
              <a:rPr dirty="0" sz="2150" spc="-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packed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based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on</a:t>
            </a:r>
            <a:r>
              <a:rPr dirty="0" sz="2150" spc="-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density,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marking</a:t>
            </a:r>
            <a:r>
              <a:rPr dirty="0" sz="21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points</a:t>
            </a:r>
            <a:r>
              <a:rPr dirty="0" sz="215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in</a:t>
            </a:r>
            <a:r>
              <a:rPr dirty="0" sz="215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5">
                <a:solidFill>
                  <a:srgbClr val="CFD0D8"/>
                </a:solidFill>
                <a:latin typeface="Roboto"/>
                <a:cs typeface="Roboto"/>
              </a:rPr>
              <a:t>low-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density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regions</a:t>
            </a:r>
            <a:r>
              <a:rPr dirty="0" sz="2150" spc="-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as</a:t>
            </a:r>
            <a:r>
              <a:rPr dirty="0" sz="2150" spc="-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noise</a:t>
            </a:r>
            <a:r>
              <a:rPr dirty="0" sz="2150" spc="-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or</a:t>
            </a:r>
            <a:r>
              <a:rPr dirty="0" sz="2150" spc="-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outliers.</a:t>
            </a:r>
            <a:endParaRPr sz="2150">
              <a:latin typeface="Roboto"/>
              <a:cs typeface="Roboto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7850237" y="7281271"/>
            <a:ext cx="9445625" cy="38100"/>
          </a:xfrm>
          <a:custGeom>
            <a:avLst/>
            <a:gdLst/>
            <a:ahLst/>
            <a:cxnLst/>
            <a:rect l="l" t="t" r="r" b="b"/>
            <a:pathLst>
              <a:path w="9445625" h="38100">
                <a:moveTo>
                  <a:pt x="9445525" y="38099"/>
                </a:moveTo>
                <a:lnTo>
                  <a:pt x="0" y="38099"/>
                </a:lnTo>
                <a:lnTo>
                  <a:pt x="0" y="0"/>
                </a:lnTo>
                <a:lnTo>
                  <a:pt x="9445525" y="0"/>
                </a:lnTo>
                <a:lnTo>
                  <a:pt x="9445525" y="38099"/>
                </a:lnTo>
                <a:close/>
              </a:path>
            </a:pathLst>
          </a:custGeom>
          <a:solidFill>
            <a:srgbClr val="596E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7837538" y="6792283"/>
            <a:ext cx="9265920" cy="20815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-25">
                <a:solidFill>
                  <a:srgbClr val="CFD0D8"/>
                </a:solidFill>
                <a:latin typeface="Roboto"/>
                <a:cs typeface="Roboto"/>
              </a:rPr>
              <a:t>03</a:t>
            </a:r>
            <a:endParaRPr sz="21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Best</a:t>
            </a:r>
            <a:r>
              <a:rPr dirty="0" sz="2750" spc="-114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 spc="-25">
                <a:solidFill>
                  <a:srgbClr val="CFD0D8"/>
                </a:solidFill>
                <a:latin typeface="Roboto"/>
                <a:cs typeface="Roboto"/>
              </a:rPr>
              <a:t>For</a:t>
            </a:r>
            <a:endParaRPr sz="2750">
              <a:latin typeface="Roboto"/>
              <a:cs typeface="Roboto"/>
            </a:endParaRPr>
          </a:p>
          <a:p>
            <a:pPr marL="12700" marR="5080">
              <a:lnSpc>
                <a:spcPct val="136600"/>
              </a:lnSpc>
              <a:spcBef>
                <a:spcPts val="560"/>
              </a:spcBef>
            </a:pP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Datasets</a:t>
            </a:r>
            <a:r>
              <a:rPr dirty="0" sz="215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with</a:t>
            </a:r>
            <a:r>
              <a:rPr dirty="0" sz="215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arbitrary</a:t>
            </a:r>
            <a:r>
              <a:rPr dirty="0" sz="21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cluster</a:t>
            </a:r>
            <a:r>
              <a:rPr dirty="0" sz="215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shapes,</a:t>
            </a:r>
            <a:r>
              <a:rPr dirty="0" sz="21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noise</a:t>
            </a:r>
            <a:r>
              <a:rPr dirty="0" sz="215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present,</a:t>
            </a:r>
            <a:r>
              <a:rPr dirty="0" sz="215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and</a:t>
            </a:r>
            <a:r>
              <a:rPr dirty="0" sz="21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when</a:t>
            </a:r>
            <a:r>
              <a:rPr dirty="0" sz="215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the</a:t>
            </a:r>
            <a:r>
              <a:rPr dirty="0" sz="21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number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of</a:t>
            </a:r>
            <a:r>
              <a:rPr dirty="0" sz="21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clusters</a:t>
            </a:r>
            <a:r>
              <a:rPr dirty="0" sz="21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isn't</a:t>
            </a:r>
            <a:r>
              <a:rPr dirty="0" sz="21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known</a:t>
            </a:r>
            <a:r>
              <a:rPr dirty="0" sz="215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beforehand.</a:t>
            </a:r>
            <a:endParaRPr sz="21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dirty="0" sz="5000"/>
              <a:t>DBSCAN</a:t>
            </a:r>
            <a:r>
              <a:rPr dirty="0" sz="5000" spc="-180"/>
              <a:t> </a:t>
            </a:r>
            <a:r>
              <a:rPr dirty="0" sz="5000"/>
              <a:t>in</a:t>
            </a:r>
            <a:r>
              <a:rPr dirty="0" sz="5000" spc="-180"/>
              <a:t> </a:t>
            </a:r>
            <a:r>
              <a:rPr dirty="0" sz="5000"/>
              <a:t>Action:</a:t>
            </a:r>
            <a:r>
              <a:rPr dirty="0" sz="5000" spc="-180"/>
              <a:t> </a:t>
            </a:r>
            <a:r>
              <a:rPr dirty="0" sz="5000"/>
              <a:t>The</a:t>
            </a:r>
            <a:r>
              <a:rPr dirty="0" sz="5000" spc="-180"/>
              <a:t> </a:t>
            </a:r>
            <a:r>
              <a:rPr dirty="0" sz="5000" spc="-45"/>
              <a:t>"Finding</a:t>
            </a:r>
            <a:r>
              <a:rPr dirty="0" sz="5000" spc="-180"/>
              <a:t> </a:t>
            </a:r>
            <a:r>
              <a:rPr dirty="0" sz="5000" spc="-40"/>
              <a:t>Constellations"</a:t>
            </a:r>
            <a:r>
              <a:rPr dirty="0" sz="5000" spc="-180"/>
              <a:t> </a:t>
            </a:r>
            <a:r>
              <a:rPr dirty="0" sz="5000" spc="-10"/>
              <a:t>Scenario</a:t>
            </a:r>
            <a:endParaRPr sz="50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4942" y="5170191"/>
            <a:ext cx="76200" cy="7619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4942" y="5551191"/>
            <a:ext cx="76200" cy="761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4942" y="5932191"/>
            <a:ext cx="76200" cy="7619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886517" y="3290926"/>
            <a:ext cx="10488295" cy="4643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Think</a:t>
            </a:r>
            <a:r>
              <a:rPr dirty="0" sz="20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of</a:t>
            </a:r>
            <a:r>
              <a:rPr dirty="0" sz="20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finding</a:t>
            </a:r>
            <a:r>
              <a:rPr dirty="0" sz="200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star</a:t>
            </a:r>
            <a:r>
              <a:rPr dirty="0" sz="20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20">
                <a:solidFill>
                  <a:srgbClr val="CFD0D8"/>
                </a:solidFill>
                <a:latin typeface="Roboto"/>
                <a:cs typeface="Roboto"/>
              </a:rPr>
              <a:t>patterns</a:t>
            </a:r>
            <a:r>
              <a:rPr dirty="0" sz="200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in</a:t>
            </a:r>
            <a:r>
              <a:rPr dirty="0" sz="20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the</a:t>
            </a:r>
            <a:r>
              <a:rPr dirty="0" sz="200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20">
                <a:solidFill>
                  <a:srgbClr val="CFD0D8"/>
                </a:solidFill>
                <a:latin typeface="Roboto"/>
                <a:cs typeface="Roboto"/>
              </a:rPr>
              <a:t>night</a:t>
            </a:r>
            <a:r>
              <a:rPr dirty="0" sz="20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sky.</a:t>
            </a:r>
            <a:r>
              <a:rPr dirty="0" sz="200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DBSCAN</a:t>
            </a:r>
            <a:r>
              <a:rPr dirty="0" sz="20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can</a:t>
            </a:r>
            <a:r>
              <a:rPr dirty="0" sz="20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identify</a:t>
            </a:r>
            <a:r>
              <a:rPr dirty="0" sz="200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complex,</a:t>
            </a:r>
            <a:r>
              <a:rPr dirty="0" sz="20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25">
                <a:solidFill>
                  <a:srgbClr val="CFD0D8"/>
                </a:solidFill>
                <a:latin typeface="Roboto"/>
                <a:cs typeface="Roboto"/>
              </a:rPr>
              <a:t>arbitrary</a:t>
            </a:r>
            <a:r>
              <a:rPr dirty="0" sz="200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shapes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and</a:t>
            </a:r>
            <a:r>
              <a:rPr dirty="0" sz="20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effectively</a:t>
            </a:r>
            <a:r>
              <a:rPr dirty="0" sz="20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ignore</a:t>
            </a:r>
            <a:r>
              <a:rPr dirty="0" sz="200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20">
                <a:solidFill>
                  <a:srgbClr val="CFD0D8"/>
                </a:solidFill>
                <a:latin typeface="Roboto"/>
                <a:cs typeface="Roboto"/>
              </a:rPr>
              <a:t>stray</a:t>
            </a:r>
            <a:r>
              <a:rPr dirty="0" sz="20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stars</a:t>
            </a:r>
            <a:r>
              <a:rPr dirty="0" sz="200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(noise).</a:t>
            </a:r>
            <a:endParaRPr sz="20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2500">
                <a:solidFill>
                  <a:srgbClr val="FFFFFF"/>
                </a:solidFill>
                <a:latin typeface="Roboto"/>
                <a:cs typeface="Roboto"/>
              </a:rPr>
              <a:t>Use</a:t>
            </a:r>
            <a:r>
              <a:rPr dirty="0" sz="2500" spc="-11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500" spc="-20">
                <a:solidFill>
                  <a:srgbClr val="FFFFFF"/>
                </a:solidFill>
                <a:latin typeface="Roboto"/>
                <a:cs typeface="Roboto"/>
              </a:rPr>
              <a:t>Case</a:t>
            </a:r>
            <a:endParaRPr sz="2500">
              <a:latin typeface="Roboto"/>
              <a:cs typeface="Roboto"/>
            </a:endParaRPr>
          </a:p>
          <a:p>
            <a:pPr marL="313690" marR="4439285">
              <a:lnSpc>
                <a:spcPct val="125000"/>
              </a:lnSpc>
              <a:spcBef>
                <a:spcPts val="1475"/>
              </a:spcBef>
            </a:pP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Anomaly</a:t>
            </a:r>
            <a:r>
              <a:rPr dirty="0" sz="200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detection</a:t>
            </a:r>
            <a:r>
              <a:rPr dirty="0" sz="200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in</a:t>
            </a:r>
            <a:r>
              <a:rPr dirty="0" sz="200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financial</a:t>
            </a:r>
            <a:r>
              <a:rPr dirty="0" sz="200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transactions </a:t>
            </a:r>
            <a:r>
              <a:rPr dirty="0" sz="2000" spc="-20">
                <a:solidFill>
                  <a:srgbClr val="CFD0D8"/>
                </a:solidFill>
                <a:latin typeface="Roboto"/>
                <a:cs typeface="Roboto"/>
              </a:rPr>
              <a:t>Identifying</a:t>
            </a:r>
            <a:r>
              <a:rPr dirty="0" sz="200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20">
                <a:solidFill>
                  <a:srgbClr val="CFD0D8"/>
                </a:solidFill>
                <a:latin typeface="Roboto"/>
                <a:cs typeface="Roboto"/>
              </a:rPr>
              <a:t>geographical</a:t>
            </a:r>
            <a:r>
              <a:rPr dirty="0" sz="2000" spc="-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20">
                <a:solidFill>
                  <a:srgbClr val="CFD0D8"/>
                </a:solidFill>
                <a:latin typeface="Roboto"/>
                <a:cs typeface="Roboto"/>
              </a:rPr>
              <a:t>clusters</a:t>
            </a:r>
            <a:r>
              <a:rPr dirty="0" sz="200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of</a:t>
            </a:r>
            <a:r>
              <a:rPr dirty="0" sz="2000" spc="-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specific</a:t>
            </a:r>
            <a:r>
              <a:rPr dirty="0" sz="200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events </a:t>
            </a:r>
            <a:r>
              <a:rPr dirty="0" sz="2000" spc="-20">
                <a:solidFill>
                  <a:srgbClr val="CFD0D8"/>
                </a:solidFill>
                <a:latin typeface="Roboto"/>
                <a:cs typeface="Roboto"/>
              </a:rPr>
              <a:t>Spatial</a:t>
            </a:r>
            <a:r>
              <a:rPr dirty="0" sz="200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data</a:t>
            </a:r>
            <a:r>
              <a:rPr dirty="0" sz="20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25">
                <a:solidFill>
                  <a:srgbClr val="CFD0D8"/>
                </a:solidFill>
                <a:latin typeface="Roboto"/>
                <a:cs typeface="Roboto"/>
              </a:rPr>
              <a:t>analysis</a:t>
            </a:r>
            <a:r>
              <a:rPr dirty="0" sz="200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with</a:t>
            </a:r>
            <a:r>
              <a:rPr dirty="0" sz="20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20">
                <a:solidFill>
                  <a:srgbClr val="CFD0D8"/>
                </a:solidFill>
                <a:latin typeface="Roboto"/>
                <a:cs typeface="Roboto"/>
              </a:rPr>
              <a:t>irregular</a:t>
            </a:r>
            <a:r>
              <a:rPr dirty="0" sz="200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patterns</a:t>
            </a:r>
            <a:endParaRPr sz="20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490"/>
              </a:spcBef>
            </a:pPr>
            <a:endParaRPr sz="2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2500" spc="-10">
                <a:solidFill>
                  <a:srgbClr val="FFFFFF"/>
                </a:solidFill>
                <a:latin typeface="Roboto"/>
                <a:cs typeface="Roboto"/>
              </a:rPr>
              <a:t>Strength</a:t>
            </a:r>
            <a:endParaRPr sz="2500">
              <a:latin typeface="Roboto"/>
              <a:cs typeface="Roboto"/>
            </a:endParaRPr>
          </a:p>
          <a:p>
            <a:pPr marL="12700" marR="556260">
              <a:lnSpc>
                <a:spcPct val="125000"/>
              </a:lnSpc>
              <a:spcBef>
                <a:spcPts val="1475"/>
              </a:spcBef>
            </a:pP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Handles</a:t>
            </a:r>
            <a:r>
              <a:rPr dirty="0" sz="20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25">
                <a:solidFill>
                  <a:srgbClr val="CFD0D8"/>
                </a:solidFill>
                <a:latin typeface="Roboto"/>
                <a:cs typeface="Roboto"/>
              </a:rPr>
              <a:t>arbitrary</a:t>
            </a:r>
            <a:r>
              <a:rPr dirty="0" sz="20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shapes</a:t>
            </a:r>
            <a:r>
              <a:rPr dirty="0" sz="20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and</a:t>
            </a:r>
            <a:r>
              <a:rPr dirty="0" sz="20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noise</a:t>
            </a:r>
            <a:r>
              <a:rPr dirty="0" sz="20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effectively,</a:t>
            </a:r>
            <a:r>
              <a:rPr dirty="0" sz="20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unlike</a:t>
            </a:r>
            <a:r>
              <a:rPr dirty="0" sz="20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200">
                <a:solidFill>
                  <a:srgbClr val="CFD0D8"/>
                </a:solidFill>
                <a:latin typeface="Roboto"/>
                <a:cs typeface="Roboto"/>
              </a:rPr>
              <a:t>K-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Means,</a:t>
            </a:r>
            <a:r>
              <a:rPr dirty="0" sz="200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making</a:t>
            </a:r>
            <a:r>
              <a:rPr dirty="0" sz="20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it</a:t>
            </a:r>
            <a:r>
              <a:rPr dirty="0" sz="20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robust</a:t>
            </a:r>
            <a:r>
              <a:rPr dirty="0" sz="20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for</a:t>
            </a:r>
            <a:r>
              <a:rPr dirty="0" sz="20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real-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world</a:t>
            </a:r>
            <a:r>
              <a:rPr dirty="0" sz="2000" spc="-9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20">
                <a:solidFill>
                  <a:srgbClr val="CFD0D8"/>
                </a:solidFill>
                <a:latin typeface="Roboto"/>
                <a:cs typeface="Roboto"/>
              </a:rPr>
              <a:t>data</a:t>
            </a:r>
            <a:endParaRPr sz="2000">
              <a:latin typeface="Roboto"/>
              <a:cs typeface="Roboto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34389" y="2143715"/>
            <a:ext cx="5363765" cy="71500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6517" y="648607"/>
            <a:ext cx="7783195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/>
              <a:t>Key</a:t>
            </a:r>
            <a:r>
              <a:rPr dirty="0" sz="5000" spc="-160"/>
              <a:t> </a:t>
            </a:r>
            <a:r>
              <a:rPr dirty="0" sz="5000"/>
              <a:t>Differences</a:t>
            </a:r>
            <a:r>
              <a:rPr dirty="0" sz="5000" spc="-155"/>
              <a:t> </a:t>
            </a:r>
            <a:r>
              <a:rPr dirty="0" sz="5000"/>
              <a:t>at</a:t>
            </a:r>
            <a:r>
              <a:rPr dirty="0" sz="5000" spc="-155"/>
              <a:t> </a:t>
            </a:r>
            <a:r>
              <a:rPr dirty="0" sz="5000"/>
              <a:t>a</a:t>
            </a:r>
            <a:r>
              <a:rPr dirty="0" sz="5000" spc="-155"/>
              <a:t> </a:t>
            </a:r>
            <a:r>
              <a:rPr dirty="0" sz="5000" spc="-10"/>
              <a:t>Glance</a:t>
            </a:r>
            <a:endParaRPr sz="5000"/>
          </a:p>
        </p:txBody>
      </p:sp>
      <p:grpSp>
        <p:nvGrpSpPr>
          <p:cNvPr id="3" name="object 3" descr=""/>
          <p:cNvGrpSpPr/>
          <p:nvPr/>
        </p:nvGrpSpPr>
        <p:grpSpPr>
          <a:xfrm>
            <a:off x="894454" y="1970332"/>
            <a:ext cx="588010" cy="588010"/>
            <a:chOff x="894454" y="1970332"/>
            <a:chExt cx="588010" cy="588010"/>
          </a:xfrm>
        </p:grpSpPr>
        <p:sp>
          <p:nvSpPr>
            <p:cNvPr id="4" name="object 4" descr=""/>
            <p:cNvSpPr/>
            <p:nvPr/>
          </p:nvSpPr>
          <p:spPr>
            <a:xfrm>
              <a:off x="899217" y="1975094"/>
              <a:ext cx="578485" cy="578485"/>
            </a:xfrm>
            <a:custGeom>
              <a:avLst/>
              <a:gdLst/>
              <a:ahLst/>
              <a:cxnLst/>
              <a:rect l="l" t="t" r="r" b="b"/>
              <a:pathLst>
                <a:path w="578485" h="578485">
                  <a:moveTo>
                    <a:pt x="470154" y="578072"/>
                  </a:moveTo>
                  <a:lnTo>
                    <a:pt x="107918" y="578072"/>
                  </a:lnTo>
                  <a:lnTo>
                    <a:pt x="65967" y="569595"/>
                  </a:lnTo>
                  <a:lnTo>
                    <a:pt x="31652" y="546473"/>
                  </a:lnTo>
                  <a:lnTo>
                    <a:pt x="8504" y="512171"/>
                  </a:lnTo>
                  <a:lnTo>
                    <a:pt x="0" y="470154"/>
                  </a:lnTo>
                  <a:lnTo>
                    <a:pt x="0" y="107918"/>
                  </a:lnTo>
                  <a:lnTo>
                    <a:pt x="8477" y="65901"/>
                  </a:lnTo>
                  <a:lnTo>
                    <a:pt x="31599" y="31599"/>
                  </a:lnTo>
                  <a:lnTo>
                    <a:pt x="65901" y="8477"/>
                  </a:lnTo>
                  <a:lnTo>
                    <a:pt x="107918" y="0"/>
                  </a:lnTo>
                  <a:lnTo>
                    <a:pt x="470154" y="0"/>
                  </a:lnTo>
                  <a:lnTo>
                    <a:pt x="512171" y="8477"/>
                  </a:lnTo>
                  <a:lnTo>
                    <a:pt x="546473" y="31599"/>
                  </a:lnTo>
                  <a:lnTo>
                    <a:pt x="569595" y="65901"/>
                  </a:lnTo>
                  <a:lnTo>
                    <a:pt x="578072" y="107918"/>
                  </a:lnTo>
                  <a:lnTo>
                    <a:pt x="578072" y="470154"/>
                  </a:lnTo>
                  <a:lnTo>
                    <a:pt x="569595" y="512171"/>
                  </a:lnTo>
                  <a:lnTo>
                    <a:pt x="546473" y="546473"/>
                  </a:lnTo>
                  <a:lnTo>
                    <a:pt x="512171" y="569595"/>
                  </a:lnTo>
                  <a:lnTo>
                    <a:pt x="470154" y="578072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94454" y="1970332"/>
              <a:ext cx="588010" cy="588010"/>
            </a:xfrm>
            <a:custGeom>
              <a:avLst/>
              <a:gdLst/>
              <a:ahLst/>
              <a:cxnLst/>
              <a:rect l="l" t="t" r="r" b="b"/>
              <a:pathLst>
                <a:path w="588010" h="588010">
                  <a:moveTo>
                    <a:pt x="112680" y="587578"/>
                  </a:moveTo>
                  <a:lnTo>
                    <a:pt x="68834" y="578737"/>
                  </a:lnTo>
                  <a:lnTo>
                    <a:pt x="33016" y="554581"/>
                  </a:lnTo>
                  <a:lnTo>
                    <a:pt x="8859" y="518762"/>
                  </a:lnTo>
                  <a:lnTo>
                    <a:pt x="0" y="474916"/>
                  </a:lnTo>
                  <a:lnTo>
                    <a:pt x="0" y="112680"/>
                  </a:lnTo>
                  <a:lnTo>
                    <a:pt x="8859" y="68834"/>
                  </a:lnTo>
                  <a:lnTo>
                    <a:pt x="33016" y="33016"/>
                  </a:lnTo>
                  <a:lnTo>
                    <a:pt x="68834" y="8859"/>
                  </a:lnTo>
                  <a:lnTo>
                    <a:pt x="112680" y="0"/>
                  </a:lnTo>
                  <a:lnTo>
                    <a:pt x="474916" y="0"/>
                  </a:lnTo>
                  <a:lnTo>
                    <a:pt x="474916" y="4762"/>
                  </a:lnTo>
                  <a:lnTo>
                    <a:pt x="112680" y="4762"/>
                  </a:lnTo>
                  <a:lnTo>
                    <a:pt x="112680" y="9525"/>
                  </a:lnTo>
                  <a:lnTo>
                    <a:pt x="72532" y="17633"/>
                  </a:lnTo>
                  <a:lnTo>
                    <a:pt x="39743" y="39743"/>
                  </a:lnTo>
                  <a:lnTo>
                    <a:pt x="17633" y="72532"/>
                  </a:lnTo>
                  <a:lnTo>
                    <a:pt x="9525" y="112680"/>
                  </a:lnTo>
                  <a:lnTo>
                    <a:pt x="9525" y="474916"/>
                  </a:lnTo>
                  <a:lnTo>
                    <a:pt x="17633" y="515064"/>
                  </a:lnTo>
                  <a:lnTo>
                    <a:pt x="39743" y="547854"/>
                  </a:lnTo>
                  <a:lnTo>
                    <a:pt x="72532" y="569964"/>
                  </a:lnTo>
                  <a:lnTo>
                    <a:pt x="112680" y="578072"/>
                  </a:lnTo>
                  <a:lnTo>
                    <a:pt x="519749" y="578072"/>
                  </a:lnTo>
                  <a:lnTo>
                    <a:pt x="518762" y="578737"/>
                  </a:lnTo>
                  <a:lnTo>
                    <a:pt x="498485" y="582834"/>
                  </a:lnTo>
                  <a:lnTo>
                    <a:pt x="112680" y="582834"/>
                  </a:lnTo>
                  <a:lnTo>
                    <a:pt x="112680" y="587578"/>
                  </a:lnTo>
                  <a:close/>
                </a:path>
                <a:path w="588010" h="588010">
                  <a:moveTo>
                    <a:pt x="519749" y="578072"/>
                  </a:moveTo>
                  <a:lnTo>
                    <a:pt x="474916" y="578072"/>
                  </a:lnTo>
                  <a:lnTo>
                    <a:pt x="515064" y="569964"/>
                  </a:lnTo>
                  <a:lnTo>
                    <a:pt x="547854" y="547854"/>
                  </a:lnTo>
                  <a:lnTo>
                    <a:pt x="569964" y="515064"/>
                  </a:lnTo>
                  <a:lnTo>
                    <a:pt x="578072" y="474916"/>
                  </a:lnTo>
                  <a:lnTo>
                    <a:pt x="578072" y="112680"/>
                  </a:lnTo>
                  <a:lnTo>
                    <a:pt x="569964" y="72532"/>
                  </a:lnTo>
                  <a:lnTo>
                    <a:pt x="547854" y="39743"/>
                  </a:lnTo>
                  <a:lnTo>
                    <a:pt x="515064" y="17633"/>
                  </a:lnTo>
                  <a:lnTo>
                    <a:pt x="474916" y="9525"/>
                  </a:lnTo>
                  <a:lnTo>
                    <a:pt x="112680" y="9525"/>
                  </a:lnTo>
                  <a:lnTo>
                    <a:pt x="112680" y="4762"/>
                  </a:lnTo>
                  <a:lnTo>
                    <a:pt x="474916" y="4762"/>
                  </a:lnTo>
                  <a:lnTo>
                    <a:pt x="474916" y="0"/>
                  </a:lnTo>
                  <a:lnTo>
                    <a:pt x="518762" y="8859"/>
                  </a:lnTo>
                  <a:lnTo>
                    <a:pt x="554581" y="33016"/>
                  </a:lnTo>
                  <a:lnTo>
                    <a:pt x="578737" y="68834"/>
                  </a:lnTo>
                  <a:lnTo>
                    <a:pt x="587578" y="112680"/>
                  </a:lnTo>
                  <a:lnTo>
                    <a:pt x="587578" y="474916"/>
                  </a:lnTo>
                  <a:lnTo>
                    <a:pt x="578737" y="518762"/>
                  </a:lnTo>
                  <a:lnTo>
                    <a:pt x="554581" y="554581"/>
                  </a:lnTo>
                  <a:lnTo>
                    <a:pt x="519749" y="578072"/>
                  </a:lnTo>
                  <a:close/>
                </a:path>
                <a:path w="588010" h="588010">
                  <a:moveTo>
                    <a:pt x="474916" y="587578"/>
                  </a:moveTo>
                  <a:lnTo>
                    <a:pt x="112680" y="587578"/>
                  </a:lnTo>
                  <a:lnTo>
                    <a:pt x="112680" y="582834"/>
                  </a:lnTo>
                  <a:lnTo>
                    <a:pt x="474916" y="582834"/>
                  </a:lnTo>
                  <a:lnTo>
                    <a:pt x="474916" y="587578"/>
                  </a:lnTo>
                  <a:close/>
                </a:path>
                <a:path w="588010" h="588010">
                  <a:moveTo>
                    <a:pt x="475011" y="587578"/>
                  </a:moveTo>
                  <a:lnTo>
                    <a:pt x="474916" y="582834"/>
                  </a:lnTo>
                  <a:lnTo>
                    <a:pt x="498485" y="582834"/>
                  </a:lnTo>
                  <a:lnTo>
                    <a:pt x="475011" y="587578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068457" y="1981968"/>
            <a:ext cx="23939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>
                <a:solidFill>
                  <a:srgbClr val="CFD0D8"/>
                </a:solidFill>
                <a:latin typeface="Roboto"/>
                <a:cs typeface="Roboto"/>
              </a:rPr>
              <a:t>1</a:t>
            </a:r>
            <a:endParaRPr sz="3000">
              <a:latin typeface="Roboto"/>
              <a:cs typeface="Roboto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697332" y="1807515"/>
            <a:ext cx="3007995" cy="1626235"/>
          </a:xfrm>
          <a:prstGeom prst="rect">
            <a:avLst/>
          </a:prstGeom>
        </p:spPr>
        <p:txBody>
          <a:bodyPr wrap="square" lIns="0" tIns="225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75"/>
              </a:spcBef>
            </a:pPr>
            <a:r>
              <a:rPr dirty="0" sz="2500">
                <a:solidFill>
                  <a:srgbClr val="CFD0D8"/>
                </a:solidFill>
                <a:latin typeface="Roboto"/>
                <a:cs typeface="Roboto"/>
              </a:rPr>
              <a:t>Cluster</a:t>
            </a:r>
            <a:r>
              <a:rPr dirty="0" sz="2500" spc="-1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00" spc="-10">
                <a:solidFill>
                  <a:srgbClr val="CFD0D8"/>
                </a:solidFill>
                <a:latin typeface="Roboto"/>
                <a:cs typeface="Roboto"/>
              </a:rPr>
              <a:t>Shape</a:t>
            </a:r>
            <a:endParaRPr sz="2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2000" spc="-70" b="1">
                <a:solidFill>
                  <a:srgbClr val="596ED8"/>
                </a:solidFill>
                <a:latin typeface="Roboto"/>
                <a:cs typeface="Roboto"/>
              </a:rPr>
              <a:t>K-</a:t>
            </a:r>
            <a:r>
              <a:rPr dirty="0" sz="2000" b="1">
                <a:solidFill>
                  <a:srgbClr val="596ED8"/>
                </a:solidFill>
                <a:latin typeface="Roboto"/>
                <a:cs typeface="Roboto"/>
              </a:rPr>
              <a:t>Means:</a:t>
            </a:r>
            <a:r>
              <a:rPr dirty="0" sz="2000" spc="-55" b="1">
                <a:solidFill>
                  <a:srgbClr val="596ED8"/>
                </a:solidFill>
                <a:latin typeface="Roboto"/>
                <a:cs typeface="Roboto"/>
              </a:rPr>
              <a:t> </a:t>
            </a:r>
            <a:r>
              <a:rPr dirty="0" sz="2000" spc="-20">
                <a:solidFill>
                  <a:srgbClr val="CFD0D8"/>
                </a:solidFill>
                <a:latin typeface="Roboto"/>
                <a:cs typeface="Roboto"/>
              </a:rPr>
              <a:t>Spherical</a:t>
            </a:r>
            <a:r>
              <a:rPr dirty="0" sz="200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20">
                <a:solidFill>
                  <a:srgbClr val="CFD0D8"/>
                </a:solidFill>
                <a:latin typeface="Roboto"/>
                <a:cs typeface="Roboto"/>
              </a:rPr>
              <a:t>only</a:t>
            </a:r>
            <a:endParaRPr sz="2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dirty="0" sz="2000" b="1">
                <a:solidFill>
                  <a:srgbClr val="243799"/>
                </a:solidFill>
                <a:latin typeface="Roboto"/>
                <a:cs typeface="Roboto"/>
              </a:rPr>
              <a:t>DBSCAN:</a:t>
            </a:r>
            <a:r>
              <a:rPr dirty="0" sz="2000" spc="-30" b="1">
                <a:solidFill>
                  <a:srgbClr val="243799"/>
                </a:solidFill>
                <a:latin typeface="Roboto"/>
                <a:cs typeface="Roboto"/>
              </a:rPr>
              <a:t> </a:t>
            </a:r>
            <a:r>
              <a:rPr dirty="0" sz="2000" spc="-20">
                <a:solidFill>
                  <a:srgbClr val="CFD0D8"/>
                </a:solidFill>
                <a:latin typeface="Roboto"/>
                <a:cs typeface="Roboto"/>
              </a:rPr>
              <a:t>Arbitrary</a:t>
            </a:r>
            <a:r>
              <a:rPr dirty="0" sz="200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shapes</a:t>
            </a:r>
            <a:endParaRPr sz="2000">
              <a:latin typeface="Roboto"/>
              <a:cs typeface="Roboto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894454" y="3988593"/>
            <a:ext cx="588010" cy="588010"/>
            <a:chOff x="894454" y="3988593"/>
            <a:chExt cx="588010" cy="588010"/>
          </a:xfrm>
        </p:grpSpPr>
        <p:sp>
          <p:nvSpPr>
            <p:cNvPr id="9" name="object 9" descr=""/>
            <p:cNvSpPr/>
            <p:nvPr/>
          </p:nvSpPr>
          <p:spPr>
            <a:xfrm>
              <a:off x="899217" y="3993356"/>
              <a:ext cx="578485" cy="578485"/>
            </a:xfrm>
            <a:custGeom>
              <a:avLst/>
              <a:gdLst/>
              <a:ahLst/>
              <a:cxnLst/>
              <a:rect l="l" t="t" r="r" b="b"/>
              <a:pathLst>
                <a:path w="578485" h="578485">
                  <a:moveTo>
                    <a:pt x="470154" y="578072"/>
                  </a:moveTo>
                  <a:lnTo>
                    <a:pt x="107918" y="578072"/>
                  </a:lnTo>
                  <a:lnTo>
                    <a:pt x="65967" y="569595"/>
                  </a:lnTo>
                  <a:lnTo>
                    <a:pt x="31652" y="546473"/>
                  </a:lnTo>
                  <a:lnTo>
                    <a:pt x="8504" y="512171"/>
                  </a:lnTo>
                  <a:lnTo>
                    <a:pt x="0" y="470154"/>
                  </a:lnTo>
                  <a:lnTo>
                    <a:pt x="0" y="107918"/>
                  </a:lnTo>
                  <a:lnTo>
                    <a:pt x="8477" y="65901"/>
                  </a:lnTo>
                  <a:lnTo>
                    <a:pt x="31599" y="31599"/>
                  </a:lnTo>
                  <a:lnTo>
                    <a:pt x="65901" y="8477"/>
                  </a:lnTo>
                  <a:lnTo>
                    <a:pt x="107918" y="0"/>
                  </a:lnTo>
                  <a:lnTo>
                    <a:pt x="470154" y="0"/>
                  </a:lnTo>
                  <a:lnTo>
                    <a:pt x="512171" y="8477"/>
                  </a:lnTo>
                  <a:lnTo>
                    <a:pt x="546473" y="31599"/>
                  </a:lnTo>
                  <a:lnTo>
                    <a:pt x="569595" y="65901"/>
                  </a:lnTo>
                  <a:lnTo>
                    <a:pt x="578072" y="107918"/>
                  </a:lnTo>
                  <a:lnTo>
                    <a:pt x="578072" y="470154"/>
                  </a:lnTo>
                  <a:lnTo>
                    <a:pt x="569595" y="512171"/>
                  </a:lnTo>
                  <a:lnTo>
                    <a:pt x="546473" y="546473"/>
                  </a:lnTo>
                  <a:lnTo>
                    <a:pt x="512171" y="569595"/>
                  </a:lnTo>
                  <a:lnTo>
                    <a:pt x="470154" y="578072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894454" y="3988593"/>
              <a:ext cx="588010" cy="588010"/>
            </a:xfrm>
            <a:custGeom>
              <a:avLst/>
              <a:gdLst/>
              <a:ahLst/>
              <a:cxnLst/>
              <a:rect l="l" t="t" r="r" b="b"/>
              <a:pathLst>
                <a:path w="588010" h="588010">
                  <a:moveTo>
                    <a:pt x="112680" y="587578"/>
                  </a:moveTo>
                  <a:lnTo>
                    <a:pt x="68834" y="578737"/>
                  </a:lnTo>
                  <a:lnTo>
                    <a:pt x="33016" y="554581"/>
                  </a:lnTo>
                  <a:lnTo>
                    <a:pt x="8859" y="518762"/>
                  </a:lnTo>
                  <a:lnTo>
                    <a:pt x="0" y="474916"/>
                  </a:lnTo>
                  <a:lnTo>
                    <a:pt x="0" y="112680"/>
                  </a:lnTo>
                  <a:lnTo>
                    <a:pt x="8859" y="68834"/>
                  </a:lnTo>
                  <a:lnTo>
                    <a:pt x="33016" y="33016"/>
                  </a:lnTo>
                  <a:lnTo>
                    <a:pt x="68834" y="8859"/>
                  </a:lnTo>
                  <a:lnTo>
                    <a:pt x="112680" y="0"/>
                  </a:lnTo>
                  <a:lnTo>
                    <a:pt x="474916" y="0"/>
                  </a:lnTo>
                  <a:lnTo>
                    <a:pt x="474916" y="4762"/>
                  </a:lnTo>
                  <a:lnTo>
                    <a:pt x="112680" y="4762"/>
                  </a:lnTo>
                  <a:lnTo>
                    <a:pt x="112680" y="9525"/>
                  </a:lnTo>
                  <a:lnTo>
                    <a:pt x="72532" y="17633"/>
                  </a:lnTo>
                  <a:lnTo>
                    <a:pt x="39743" y="39743"/>
                  </a:lnTo>
                  <a:lnTo>
                    <a:pt x="17633" y="72532"/>
                  </a:lnTo>
                  <a:lnTo>
                    <a:pt x="9525" y="112680"/>
                  </a:lnTo>
                  <a:lnTo>
                    <a:pt x="9525" y="474916"/>
                  </a:lnTo>
                  <a:lnTo>
                    <a:pt x="17633" y="515064"/>
                  </a:lnTo>
                  <a:lnTo>
                    <a:pt x="39743" y="547854"/>
                  </a:lnTo>
                  <a:lnTo>
                    <a:pt x="72532" y="569964"/>
                  </a:lnTo>
                  <a:lnTo>
                    <a:pt x="112680" y="578072"/>
                  </a:lnTo>
                  <a:lnTo>
                    <a:pt x="519749" y="578072"/>
                  </a:lnTo>
                  <a:lnTo>
                    <a:pt x="518762" y="578737"/>
                  </a:lnTo>
                  <a:lnTo>
                    <a:pt x="498485" y="582834"/>
                  </a:lnTo>
                  <a:lnTo>
                    <a:pt x="112680" y="582834"/>
                  </a:lnTo>
                  <a:lnTo>
                    <a:pt x="112680" y="587578"/>
                  </a:lnTo>
                  <a:close/>
                </a:path>
                <a:path w="588010" h="588010">
                  <a:moveTo>
                    <a:pt x="519749" y="578072"/>
                  </a:moveTo>
                  <a:lnTo>
                    <a:pt x="474916" y="578072"/>
                  </a:lnTo>
                  <a:lnTo>
                    <a:pt x="515064" y="569964"/>
                  </a:lnTo>
                  <a:lnTo>
                    <a:pt x="547854" y="547854"/>
                  </a:lnTo>
                  <a:lnTo>
                    <a:pt x="569964" y="515064"/>
                  </a:lnTo>
                  <a:lnTo>
                    <a:pt x="578072" y="474916"/>
                  </a:lnTo>
                  <a:lnTo>
                    <a:pt x="578072" y="112680"/>
                  </a:lnTo>
                  <a:lnTo>
                    <a:pt x="569964" y="72532"/>
                  </a:lnTo>
                  <a:lnTo>
                    <a:pt x="547854" y="39743"/>
                  </a:lnTo>
                  <a:lnTo>
                    <a:pt x="515064" y="17633"/>
                  </a:lnTo>
                  <a:lnTo>
                    <a:pt x="474916" y="9525"/>
                  </a:lnTo>
                  <a:lnTo>
                    <a:pt x="112680" y="9525"/>
                  </a:lnTo>
                  <a:lnTo>
                    <a:pt x="112680" y="4762"/>
                  </a:lnTo>
                  <a:lnTo>
                    <a:pt x="474916" y="4762"/>
                  </a:lnTo>
                  <a:lnTo>
                    <a:pt x="474916" y="0"/>
                  </a:lnTo>
                  <a:lnTo>
                    <a:pt x="518762" y="8859"/>
                  </a:lnTo>
                  <a:lnTo>
                    <a:pt x="554581" y="33016"/>
                  </a:lnTo>
                  <a:lnTo>
                    <a:pt x="578737" y="68834"/>
                  </a:lnTo>
                  <a:lnTo>
                    <a:pt x="587578" y="112680"/>
                  </a:lnTo>
                  <a:lnTo>
                    <a:pt x="587578" y="474916"/>
                  </a:lnTo>
                  <a:lnTo>
                    <a:pt x="578737" y="518762"/>
                  </a:lnTo>
                  <a:lnTo>
                    <a:pt x="554581" y="554581"/>
                  </a:lnTo>
                  <a:lnTo>
                    <a:pt x="519749" y="578072"/>
                  </a:lnTo>
                  <a:close/>
                </a:path>
                <a:path w="588010" h="588010">
                  <a:moveTo>
                    <a:pt x="474916" y="587578"/>
                  </a:moveTo>
                  <a:lnTo>
                    <a:pt x="112680" y="587578"/>
                  </a:lnTo>
                  <a:lnTo>
                    <a:pt x="112680" y="582834"/>
                  </a:lnTo>
                  <a:lnTo>
                    <a:pt x="474916" y="582834"/>
                  </a:lnTo>
                  <a:lnTo>
                    <a:pt x="474916" y="587578"/>
                  </a:lnTo>
                  <a:close/>
                </a:path>
                <a:path w="588010" h="588010">
                  <a:moveTo>
                    <a:pt x="475011" y="587578"/>
                  </a:moveTo>
                  <a:lnTo>
                    <a:pt x="474916" y="582834"/>
                  </a:lnTo>
                  <a:lnTo>
                    <a:pt x="498485" y="582834"/>
                  </a:lnTo>
                  <a:lnTo>
                    <a:pt x="475011" y="587578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1068457" y="4000229"/>
            <a:ext cx="23939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>
                <a:solidFill>
                  <a:srgbClr val="CFD0D8"/>
                </a:solidFill>
                <a:latin typeface="Roboto"/>
                <a:cs typeface="Roboto"/>
              </a:rPr>
              <a:t>2</a:t>
            </a:r>
            <a:endParaRPr sz="3000">
              <a:latin typeface="Roboto"/>
              <a:cs typeface="Roboto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697332" y="3825788"/>
            <a:ext cx="2772410" cy="1626235"/>
          </a:xfrm>
          <a:prstGeom prst="rect">
            <a:avLst/>
          </a:prstGeom>
        </p:spPr>
        <p:txBody>
          <a:bodyPr wrap="square" lIns="0" tIns="225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75"/>
              </a:spcBef>
            </a:pPr>
            <a:r>
              <a:rPr dirty="0" sz="2500">
                <a:solidFill>
                  <a:srgbClr val="CFD0D8"/>
                </a:solidFill>
                <a:latin typeface="Roboto"/>
                <a:cs typeface="Roboto"/>
              </a:rPr>
              <a:t>Number</a:t>
            </a:r>
            <a:r>
              <a:rPr dirty="0" sz="250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00">
                <a:solidFill>
                  <a:srgbClr val="CFD0D8"/>
                </a:solidFill>
                <a:latin typeface="Roboto"/>
                <a:cs typeface="Roboto"/>
              </a:rPr>
              <a:t>of</a:t>
            </a:r>
            <a:r>
              <a:rPr dirty="0" sz="250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00" spc="-10">
                <a:solidFill>
                  <a:srgbClr val="CFD0D8"/>
                </a:solidFill>
                <a:latin typeface="Roboto"/>
                <a:cs typeface="Roboto"/>
              </a:rPr>
              <a:t>Clusters</a:t>
            </a:r>
            <a:endParaRPr sz="2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2000" spc="-70" b="1">
                <a:solidFill>
                  <a:srgbClr val="596ED8"/>
                </a:solidFill>
                <a:latin typeface="Roboto"/>
                <a:cs typeface="Roboto"/>
              </a:rPr>
              <a:t>K-</a:t>
            </a:r>
            <a:r>
              <a:rPr dirty="0" sz="2000" b="1">
                <a:solidFill>
                  <a:srgbClr val="596ED8"/>
                </a:solidFill>
                <a:latin typeface="Roboto"/>
                <a:cs typeface="Roboto"/>
              </a:rPr>
              <a:t>Means:</a:t>
            </a:r>
            <a:r>
              <a:rPr dirty="0" sz="2000" spc="-40" b="1">
                <a:solidFill>
                  <a:srgbClr val="596E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Predefined</a:t>
            </a:r>
            <a:r>
              <a:rPr dirty="0" sz="200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25">
                <a:solidFill>
                  <a:srgbClr val="CFD0D8"/>
                </a:solidFill>
                <a:latin typeface="Roboto"/>
                <a:cs typeface="Roboto"/>
              </a:rPr>
              <a:t>'K'</a:t>
            </a:r>
            <a:endParaRPr sz="2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dirty="0" sz="2000" b="1">
                <a:solidFill>
                  <a:srgbClr val="243799"/>
                </a:solidFill>
                <a:latin typeface="Roboto"/>
                <a:cs typeface="Roboto"/>
              </a:rPr>
              <a:t>DBSCAN:</a:t>
            </a:r>
            <a:r>
              <a:rPr dirty="0" sz="2000" spc="40" b="1">
                <a:solidFill>
                  <a:srgbClr val="243799"/>
                </a:solidFill>
                <a:latin typeface="Roboto"/>
                <a:cs typeface="Roboto"/>
              </a:rPr>
              <a:t> </a:t>
            </a:r>
            <a:r>
              <a:rPr dirty="0" sz="2000" spc="-90">
                <a:solidFill>
                  <a:srgbClr val="CFD0D8"/>
                </a:solidFill>
                <a:latin typeface="Roboto"/>
                <a:cs typeface="Roboto"/>
              </a:rPr>
              <a:t>Auto-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detected</a:t>
            </a:r>
            <a:endParaRPr sz="2000">
              <a:latin typeface="Roboto"/>
              <a:cs typeface="Roboto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894454" y="6006855"/>
            <a:ext cx="588010" cy="588010"/>
            <a:chOff x="894454" y="6006855"/>
            <a:chExt cx="588010" cy="588010"/>
          </a:xfrm>
        </p:grpSpPr>
        <p:sp>
          <p:nvSpPr>
            <p:cNvPr id="14" name="object 14" descr=""/>
            <p:cNvSpPr/>
            <p:nvPr/>
          </p:nvSpPr>
          <p:spPr>
            <a:xfrm>
              <a:off x="899217" y="6011617"/>
              <a:ext cx="578485" cy="578485"/>
            </a:xfrm>
            <a:custGeom>
              <a:avLst/>
              <a:gdLst/>
              <a:ahLst/>
              <a:cxnLst/>
              <a:rect l="l" t="t" r="r" b="b"/>
              <a:pathLst>
                <a:path w="578485" h="578484">
                  <a:moveTo>
                    <a:pt x="470154" y="578071"/>
                  </a:moveTo>
                  <a:lnTo>
                    <a:pt x="107918" y="578071"/>
                  </a:lnTo>
                  <a:lnTo>
                    <a:pt x="65967" y="569594"/>
                  </a:lnTo>
                  <a:lnTo>
                    <a:pt x="31652" y="546472"/>
                  </a:lnTo>
                  <a:lnTo>
                    <a:pt x="8504" y="512170"/>
                  </a:lnTo>
                  <a:lnTo>
                    <a:pt x="0" y="470153"/>
                  </a:lnTo>
                  <a:lnTo>
                    <a:pt x="0" y="107918"/>
                  </a:lnTo>
                  <a:lnTo>
                    <a:pt x="8477" y="65900"/>
                  </a:lnTo>
                  <a:lnTo>
                    <a:pt x="31599" y="31599"/>
                  </a:lnTo>
                  <a:lnTo>
                    <a:pt x="65901" y="8477"/>
                  </a:lnTo>
                  <a:lnTo>
                    <a:pt x="107918" y="0"/>
                  </a:lnTo>
                  <a:lnTo>
                    <a:pt x="470154" y="0"/>
                  </a:lnTo>
                  <a:lnTo>
                    <a:pt x="512171" y="8477"/>
                  </a:lnTo>
                  <a:lnTo>
                    <a:pt x="546473" y="31599"/>
                  </a:lnTo>
                  <a:lnTo>
                    <a:pt x="569595" y="65900"/>
                  </a:lnTo>
                  <a:lnTo>
                    <a:pt x="578072" y="107918"/>
                  </a:lnTo>
                  <a:lnTo>
                    <a:pt x="578072" y="470153"/>
                  </a:lnTo>
                  <a:lnTo>
                    <a:pt x="569595" y="512170"/>
                  </a:lnTo>
                  <a:lnTo>
                    <a:pt x="546473" y="546472"/>
                  </a:lnTo>
                  <a:lnTo>
                    <a:pt x="512171" y="569594"/>
                  </a:lnTo>
                  <a:lnTo>
                    <a:pt x="470154" y="578071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94454" y="6006855"/>
              <a:ext cx="588010" cy="588010"/>
            </a:xfrm>
            <a:custGeom>
              <a:avLst/>
              <a:gdLst/>
              <a:ahLst/>
              <a:cxnLst/>
              <a:rect l="l" t="t" r="r" b="b"/>
              <a:pathLst>
                <a:path w="588010" h="588009">
                  <a:moveTo>
                    <a:pt x="112680" y="587578"/>
                  </a:moveTo>
                  <a:lnTo>
                    <a:pt x="68834" y="578737"/>
                  </a:lnTo>
                  <a:lnTo>
                    <a:pt x="33016" y="554581"/>
                  </a:lnTo>
                  <a:lnTo>
                    <a:pt x="8859" y="518762"/>
                  </a:lnTo>
                  <a:lnTo>
                    <a:pt x="0" y="474916"/>
                  </a:lnTo>
                  <a:lnTo>
                    <a:pt x="0" y="112680"/>
                  </a:lnTo>
                  <a:lnTo>
                    <a:pt x="8859" y="68834"/>
                  </a:lnTo>
                  <a:lnTo>
                    <a:pt x="33016" y="33016"/>
                  </a:lnTo>
                  <a:lnTo>
                    <a:pt x="68834" y="8859"/>
                  </a:lnTo>
                  <a:lnTo>
                    <a:pt x="112680" y="0"/>
                  </a:lnTo>
                  <a:lnTo>
                    <a:pt x="474916" y="0"/>
                  </a:lnTo>
                  <a:lnTo>
                    <a:pt x="474916" y="4762"/>
                  </a:lnTo>
                  <a:lnTo>
                    <a:pt x="112680" y="4762"/>
                  </a:lnTo>
                  <a:lnTo>
                    <a:pt x="112680" y="9525"/>
                  </a:lnTo>
                  <a:lnTo>
                    <a:pt x="72532" y="17633"/>
                  </a:lnTo>
                  <a:lnTo>
                    <a:pt x="39743" y="39743"/>
                  </a:lnTo>
                  <a:lnTo>
                    <a:pt x="17633" y="72533"/>
                  </a:lnTo>
                  <a:lnTo>
                    <a:pt x="9525" y="112680"/>
                  </a:lnTo>
                  <a:lnTo>
                    <a:pt x="9525" y="474916"/>
                  </a:lnTo>
                  <a:lnTo>
                    <a:pt x="17633" y="515064"/>
                  </a:lnTo>
                  <a:lnTo>
                    <a:pt x="39743" y="547853"/>
                  </a:lnTo>
                  <a:lnTo>
                    <a:pt x="72532" y="569963"/>
                  </a:lnTo>
                  <a:lnTo>
                    <a:pt x="112680" y="578072"/>
                  </a:lnTo>
                  <a:lnTo>
                    <a:pt x="519749" y="578072"/>
                  </a:lnTo>
                  <a:lnTo>
                    <a:pt x="518762" y="578737"/>
                  </a:lnTo>
                  <a:lnTo>
                    <a:pt x="498485" y="582834"/>
                  </a:lnTo>
                  <a:lnTo>
                    <a:pt x="112680" y="582834"/>
                  </a:lnTo>
                  <a:lnTo>
                    <a:pt x="112680" y="587578"/>
                  </a:lnTo>
                  <a:close/>
                </a:path>
                <a:path w="588010" h="588009">
                  <a:moveTo>
                    <a:pt x="519749" y="578072"/>
                  </a:moveTo>
                  <a:lnTo>
                    <a:pt x="474916" y="578072"/>
                  </a:lnTo>
                  <a:lnTo>
                    <a:pt x="515064" y="569963"/>
                  </a:lnTo>
                  <a:lnTo>
                    <a:pt x="547854" y="547853"/>
                  </a:lnTo>
                  <a:lnTo>
                    <a:pt x="569964" y="515064"/>
                  </a:lnTo>
                  <a:lnTo>
                    <a:pt x="578072" y="474916"/>
                  </a:lnTo>
                  <a:lnTo>
                    <a:pt x="578072" y="112680"/>
                  </a:lnTo>
                  <a:lnTo>
                    <a:pt x="569964" y="72533"/>
                  </a:lnTo>
                  <a:lnTo>
                    <a:pt x="547854" y="39743"/>
                  </a:lnTo>
                  <a:lnTo>
                    <a:pt x="515064" y="17633"/>
                  </a:lnTo>
                  <a:lnTo>
                    <a:pt x="474916" y="9525"/>
                  </a:lnTo>
                  <a:lnTo>
                    <a:pt x="112680" y="9525"/>
                  </a:lnTo>
                  <a:lnTo>
                    <a:pt x="112680" y="4762"/>
                  </a:lnTo>
                  <a:lnTo>
                    <a:pt x="474916" y="4762"/>
                  </a:lnTo>
                  <a:lnTo>
                    <a:pt x="474916" y="0"/>
                  </a:lnTo>
                  <a:lnTo>
                    <a:pt x="518762" y="8859"/>
                  </a:lnTo>
                  <a:lnTo>
                    <a:pt x="554581" y="33016"/>
                  </a:lnTo>
                  <a:lnTo>
                    <a:pt x="578737" y="68834"/>
                  </a:lnTo>
                  <a:lnTo>
                    <a:pt x="587578" y="112680"/>
                  </a:lnTo>
                  <a:lnTo>
                    <a:pt x="587578" y="474916"/>
                  </a:lnTo>
                  <a:lnTo>
                    <a:pt x="578737" y="518762"/>
                  </a:lnTo>
                  <a:lnTo>
                    <a:pt x="554581" y="554581"/>
                  </a:lnTo>
                  <a:lnTo>
                    <a:pt x="519749" y="578072"/>
                  </a:lnTo>
                  <a:close/>
                </a:path>
                <a:path w="588010" h="588009">
                  <a:moveTo>
                    <a:pt x="474916" y="587578"/>
                  </a:moveTo>
                  <a:lnTo>
                    <a:pt x="112680" y="587578"/>
                  </a:lnTo>
                  <a:lnTo>
                    <a:pt x="112680" y="582834"/>
                  </a:lnTo>
                  <a:lnTo>
                    <a:pt x="474916" y="582834"/>
                  </a:lnTo>
                  <a:lnTo>
                    <a:pt x="474916" y="587578"/>
                  </a:lnTo>
                  <a:close/>
                </a:path>
                <a:path w="588010" h="588009">
                  <a:moveTo>
                    <a:pt x="475010" y="587578"/>
                  </a:moveTo>
                  <a:lnTo>
                    <a:pt x="474916" y="582834"/>
                  </a:lnTo>
                  <a:lnTo>
                    <a:pt x="498485" y="582834"/>
                  </a:lnTo>
                  <a:lnTo>
                    <a:pt x="475010" y="587578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068457" y="6018482"/>
            <a:ext cx="23939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>
                <a:solidFill>
                  <a:srgbClr val="CFD0D8"/>
                </a:solidFill>
                <a:latin typeface="Roboto"/>
                <a:cs typeface="Roboto"/>
              </a:rPr>
              <a:t>3</a:t>
            </a:r>
            <a:endParaRPr sz="3000">
              <a:latin typeface="Roboto"/>
              <a:cs typeface="Roboto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697332" y="5844030"/>
            <a:ext cx="3298190" cy="1626235"/>
          </a:xfrm>
          <a:prstGeom prst="rect">
            <a:avLst/>
          </a:prstGeom>
        </p:spPr>
        <p:txBody>
          <a:bodyPr wrap="square" lIns="0" tIns="225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75"/>
              </a:spcBef>
            </a:pPr>
            <a:r>
              <a:rPr dirty="0" sz="2500" spc="-20">
                <a:solidFill>
                  <a:srgbClr val="CFD0D8"/>
                </a:solidFill>
                <a:latin typeface="Roboto"/>
                <a:cs typeface="Roboto"/>
              </a:rPr>
              <a:t>Handling</a:t>
            </a:r>
            <a:r>
              <a:rPr dirty="0" sz="2500" spc="-9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00" spc="-10">
                <a:solidFill>
                  <a:srgbClr val="CFD0D8"/>
                </a:solidFill>
                <a:latin typeface="Roboto"/>
                <a:cs typeface="Roboto"/>
              </a:rPr>
              <a:t>Noise</a:t>
            </a:r>
            <a:endParaRPr sz="2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2000" spc="-70" b="1">
                <a:solidFill>
                  <a:srgbClr val="596ED8"/>
                </a:solidFill>
                <a:latin typeface="Roboto"/>
                <a:cs typeface="Roboto"/>
              </a:rPr>
              <a:t>K-</a:t>
            </a:r>
            <a:r>
              <a:rPr dirty="0" sz="2000" b="1">
                <a:solidFill>
                  <a:srgbClr val="596ED8"/>
                </a:solidFill>
                <a:latin typeface="Roboto"/>
                <a:cs typeface="Roboto"/>
              </a:rPr>
              <a:t>Means:</a:t>
            </a:r>
            <a:r>
              <a:rPr dirty="0" sz="2000" spc="-55" b="1">
                <a:solidFill>
                  <a:srgbClr val="596E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Poor</a:t>
            </a:r>
            <a:r>
              <a:rPr dirty="0" sz="200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handling</a:t>
            </a:r>
            <a:endParaRPr sz="2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dirty="0" sz="2000" b="1">
                <a:solidFill>
                  <a:srgbClr val="243799"/>
                </a:solidFill>
                <a:latin typeface="Roboto"/>
                <a:cs typeface="Roboto"/>
              </a:rPr>
              <a:t>DBSCAN:</a:t>
            </a:r>
            <a:r>
              <a:rPr dirty="0" sz="2000" spc="-65" b="1">
                <a:solidFill>
                  <a:srgbClr val="243799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Excellent</a:t>
            </a:r>
            <a:r>
              <a:rPr dirty="0" sz="20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detection</a:t>
            </a:r>
            <a:endParaRPr sz="2000">
              <a:latin typeface="Roboto"/>
              <a:cs typeface="Roboto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894454" y="8025107"/>
            <a:ext cx="588010" cy="588010"/>
            <a:chOff x="894454" y="8025107"/>
            <a:chExt cx="588010" cy="588010"/>
          </a:xfrm>
        </p:grpSpPr>
        <p:sp>
          <p:nvSpPr>
            <p:cNvPr id="19" name="object 19" descr=""/>
            <p:cNvSpPr/>
            <p:nvPr/>
          </p:nvSpPr>
          <p:spPr>
            <a:xfrm>
              <a:off x="899217" y="8029870"/>
              <a:ext cx="578485" cy="578485"/>
            </a:xfrm>
            <a:custGeom>
              <a:avLst/>
              <a:gdLst/>
              <a:ahLst/>
              <a:cxnLst/>
              <a:rect l="l" t="t" r="r" b="b"/>
              <a:pathLst>
                <a:path w="578485" h="578484">
                  <a:moveTo>
                    <a:pt x="470154" y="578072"/>
                  </a:moveTo>
                  <a:lnTo>
                    <a:pt x="107918" y="578072"/>
                  </a:lnTo>
                  <a:lnTo>
                    <a:pt x="65967" y="569595"/>
                  </a:lnTo>
                  <a:lnTo>
                    <a:pt x="31652" y="546473"/>
                  </a:lnTo>
                  <a:lnTo>
                    <a:pt x="8504" y="512171"/>
                  </a:lnTo>
                  <a:lnTo>
                    <a:pt x="0" y="470154"/>
                  </a:lnTo>
                  <a:lnTo>
                    <a:pt x="0" y="107918"/>
                  </a:lnTo>
                  <a:lnTo>
                    <a:pt x="8477" y="65901"/>
                  </a:lnTo>
                  <a:lnTo>
                    <a:pt x="31599" y="31599"/>
                  </a:lnTo>
                  <a:lnTo>
                    <a:pt x="65901" y="8477"/>
                  </a:lnTo>
                  <a:lnTo>
                    <a:pt x="107918" y="0"/>
                  </a:lnTo>
                  <a:lnTo>
                    <a:pt x="470154" y="0"/>
                  </a:lnTo>
                  <a:lnTo>
                    <a:pt x="512171" y="8477"/>
                  </a:lnTo>
                  <a:lnTo>
                    <a:pt x="546473" y="31599"/>
                  </a:lnTo>
                  <a:lnTo>
                    <a:pt x="569595" y="65901"/>
                  </a:lnTo>
                  <a:lnTo>
                    <a:pt x="578072" y="107918"/>
                  </a:lnTo>
                  <a:lnTo>
                    <a:pt x="578072" y="470154"/>
                  </a:lnTo>
                  <a:lnTo>
                    <a:pt x="569595" y="512171"/>
                  </a:lnTo>
                  <a:lnTo>
                    <a:pt x="546473" y="546473"/>
                  </a:lnTo>
                  <a:lnTo>
                    <a:pt x="512171" y="569595"/>
                  </a:lnTo>
                  <a:lnTo>
                    <a:pt x="470154" y="578072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894454" y="8025107"/>
              <a:ext cx="588010" cy="588010"/>
            </a:xfrm>
            <a:custGeom>
              <a:avLst/>
              <a:gdLst/>
              <a:ahLst/>
              <a:cxnLst/>
              <a:rect l="l" t="t" r="r" b="b"/>
              <a:pathLst>
                <a:path w="588010" h="588009">
                  <a:moveTo>
                    <a:pt x="112680" y="587578"/>
                  </a:moveTo>
                  <a:lnTo>
                    <a:pt x="68834" y="578737"/>
                  </a:lnTo>
                  <a:lnTo>
                    <a:pt x="33016" y="554581"/>
                  </a:lnTo>
                  <a:lnTo>
                    <a:pt x="8859" y="518762"/>
                  </a:lnTo>
                  <a:lnTo>
                    <a:pt x="0" y="474916"/>
                  </a:lnTo>
                  <a:lnTo>
                    <a:pt x="0" y="112680"/>
                  </a:lnTo>
                  <a:lnTo>
                    <a:pt x="8859" y="68834"/>
                  </a:lnTo>
                  <a:lnTo>
                    <a:pt x="33016" y="33016"/>
                  </a:lnTo>
                  <a:lnTo>
                    <a:pt x="68834" y="8859"/>
                  </a:lnTo>
                  <a:lnTo>
                    <a:pt x="112680" y="0"/>
                  </a:lnTo>
                  <a:lnTo>
                    <a:pt x="474916" y="0"/>
                  </a:lnTo>
                  <a:lnTo>
                    <a:pt x="474916" y="4762"/>
                  </a:lnTo>
                  <a:lnTo>
                    <a:pt x="112680" y="4762"/>
                  </a:lnTo>
                  <a:lnTo>
                    <a:pt x="112680" y="9525"/>
                  </a:lnTo>
                  <a:lnTo>
                    <a:pt x="72532" y="17633"/>
                  </a:lnTo>
                  <a:lnTo>
                    <a:pt x="39743" y="39743"/>
                  </a:lnTo>
                  <a:lnTo>
                    <a:pt x="17633" y="72533"/>
                  </a:lnTo>
                  <a:lnTo>
                    <a:pt x="9525" y="112680"/>
                  </a:lnTo>
                  <a:lnTo>
                    <a:pt x="9525" y="474916"/>
                  </a:lnTo>
                  <a:lnTo>
                    <a:pt x="17633" y="515064"/>
                  </a:lnTo>
                  <a:lnTo>
                    <a:pt x="39743" y="547854"/>
                  </a:lnTo>
                  <a:lnTo>
                    <a:pt x="72532" y="569964"/>
                  </a:lnTo>
                  <a:lnTo>
                    <a:pt x="112680" y="578072"/>
                  </a:lnTo>
                  <a:lnTo>
                    <a:pt x="519749" y="578072"/>
                  </a:lnTo>
                  <a:lnTo>
                    <a:pt x="518762" y="578737"/>
                  </a:lnTo>
                  <a:lnTo>
                    <a:pt x="498485" y="582835"/>
                  </a:lnTo>
                  <a:lnTo>
                    <a:pt x="112680" y="582835"/>
                  </a:lnTo>
                  <a:lnTo>
                    <a:pt x="112680" y="587578"/>
                  </a:lnTo>
                  <a:close/>
                </a:path>
                <a:path w="588010" h="588009">
                  <a:moveTo>
                    <a:pt x="519749" y="578072"/>
                  </a:moveTo>
                  <a:lnTo>
                    <a:pt x="474916" y="578072"/>
                  </a:lnTo>
                  <a:lnTo>
                    <a:pt x="515064" y="569964"/>
                  </a:lnTo>
                  <a:lnTo>
                    <a:pt x="547854" y="547854"/>
                  </a:lnTo>
                  <a:lnTo>
                    <a:pt x="569964" y="515064"/>
                  </a:lnTo>
                  <a:lnTo>
                    <a:pt x="578072" y="474916"/>
                  </a:lnTo>
                  <a:lnTo>
                    <a:pt x="578072" y="112680"/>
                  </a:lnTo>
                  <a:lnTo>
                    <a:pt x="569964" y="72533"/>
                  </a:lnTo>
                  <a:lnTo>
                    <a:pt x="547854" y="39743"/>
                  </a:lnTo>
                  <a:lnTo>
                    <a:pt x="515064" y="17633"/>
                  </a:lnTo>
                  <a:lnTo>
                    <a:pt x="474916" y="9525"/>
                  </a:lnTo>
                  <a:lnTo>
                    <a:pt x="112680" y="9525"/>
                  </a:lnTo>
                  <a:lnTo>
                    <a:pt x="112680" y="4762"/>
                  </a:lnTo>
                  <a:lnTo>
                    <a:pt x="474916" y="4762"/>
                  </a:lnTo>
                  <a:lnTo>
                    <a:pt x="474916" y="0"/>
                  </a:lnTo>
                  <a:lnTo>
                    <a:pt x="518762" y="8859"/>
                  </a:lnTo>
                  <a:lnTo>
                    <a:pt x="554581" y="33016"/>
                  </a:lnTo>
                  <a:lnTo>
                    <a:pt x="578737" y="68834"/>
                  </a:lnTo>
                  <a:lnTo>
                    <a:pt x="587578" y="112680"/>
                  </a:lnTo>
                  <a:lnTo>
                    <a:pt x="587578" y="474916"/>
                  </a:lnTo>
                  <a:lnTo>
                    <a:pt x="578737" y="518762"/>
                  </a:lnTo>
                  <a:lnTo>
                    <a:pt x="554581" y="554581"/>
                  </a:lnTo>
                  <a:lnTo>
                    <a:pt x="519749" y="578072"/>
                  </a:lnTo>
                  <a:close/>
                </a:path>
                <a:path w="588010" h="588009">
                  <a:moveTo>
                    <a:pt x="474916" y="587578"/>
                  </a:moveTo>
                  <a:lnTo>
                    <a:pt x="112680" y="587578"/>
                  </a:lnTo>
                  <a:lnTo>
                    <a:pt x="112680" y="582835"/>
                  </a:lnTo>
                  <a:lnTo>
                    <a:pt x="474916" y="582835"/>
                  </a:lnTo>
                  <a:lnTo>
                    <a:pt x="474916" y="587578"/>
                  </a:lnTo>
                  <a:close/>
                </a:path>
                <a:path w="588010" h="588009">
                  <a:moveTo>
                    <a:pt x="475012" y="587578"/>
                  </a:moveTo>
                  <a:lnTo>
                    <a:pt x="474916" y="582835"/>
                  </a:lnTo>
                  <a:lnTo>
                    <a:pt x="498485" y="582835"/>
                  </a:lnTo>
                  <a:lnTo>
                    <a:pt x="475012" y="587578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1068457" y="8036744"/>
            <a:ext cx="23939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>
                <a:solidFill>
                  <a:srgbClr val="CFD0D8"/>
                </a:solidFill>
                <a:latin typeface="Roboto"/>
                <a:cs typeface="Roboto"/>
              </a:rPr>
              <a:t>4</a:t>
            </a:r>
            <a:endParaRPr sz="3000">
              <a:latin typeface="Roboto"/>
              <a:cs typeface="Roboto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697332" y="7862290"/>
            <a:ext cx="6002020" cy="1626235"/>
          </a:xfrm>
          <a:prstGeom prst="rect">
            <a:avLst/>
          </a:prstGeom>
        </p:spPr>
        <p:txBody>
          <a:bodyPr wrap="square" lIns="0" tIns="225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75"/>
              </a:spcBef>
            </a:pPr>
            <a:r>
              <a:rPr dirty="0" sz="2500" spc="-10">
                <a:solidFill>
                  <a:srgbClr val="CFD0D8"/>
                </a:solidFill>
                <a:latin typeface="Roboto"/>
                <a:cs typeface="Roboto"/>
              </a:rPr>
              <a:t>Scalability</a:t>
            </a:r>
            <a:endParaRPr sz="2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2000" spc="-70" b="1">
                <a:solidFill>
                  <a:srgbClr val="596ED8"/>
                </a:solidFill>
                <a:latin typeface="Roboto"/>
                <a:cs typeface="Roboto"/>
              </a:rPr>
              <a:t>K-</a:t>
            </a:r>
            <a:r>
              <a:rPr dirty="0" sz="2000" b="1">
                <a:solidFill>
                  <a:srgbClr val="596ED8"/>
                </a:solidFill>
                <a:latin typeface="Roboto"/>
                <a:cs typeface="Roboto"/>
              </a:rPr>
              <a:t>Means:</a:t>
            </a:r>
            <a:r>
              <a:rPr dirty="0" sz="2000" spc="-60" b="1">
                <a:solidFill>
                  <a:srgbClr val="596E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Scales</a:t>
            </a:r>
            <a:r>
              <a:rPr dirty="0" sz="20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20">
                <a:solidFill>
                  <a:srgbClr val="CFD0D8"/>
                </a:solidFill>
                <a:latin typeface="Roboto"/>
                <a:cs typeface="Roboto"/>
              </a:rPr>
              <a:t>well</a:t>
            </a:r>
            <a:endParaRPr sz="2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dirty="0" sz="2000" b="1">
                <a:solidFill>
                  <a:srgbClr val="243799"/>
                </a:solidFill>
                <a:latin typeface="Roboto"/>
                <a:cs typeface="Roboto"/>
              </a:rPr>
              <a:t>DBSCAN:</a:t>
            </a:r>
            <a:r>
              <a:rPr dirty="0" sz="2000" spc="-65" b="1">
                <a:solidFill>
                  <a:srgbClr val="243799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Less</a:t>
            </a:r>
            <a:r>
              <a:rPr dirty="0" sz="20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scalable</a:t>
            </a:r>
            <a:r>
              <a:rPr dirty="0" sz="20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for</a:t>
            </a:r>
            <a:r>
              <a:rPr dirty="0" sz="20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sparse,</a:t>
            </a:r>
            <a:r>
              <a:rPr dirty="0" sz="20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massive</a:t>
            </a:r>
            <a:r>
              <a:rPr dirty="0" sz="20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datasets</a:t>
            </a:r>
            <a:endParaRPr sz="2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9538" y="945715"/>
            <a:ext cx="12264390" cy="8731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50"/>
              <a:t>When</a:t>
            </a:r>
            <a:r>
              <a:rPr dirty="0" sz="5550" spc="-145"/>
              <a:t> </a:t>
            </a:r>
            <a:r>
              <a:rPr dirty="0" sz="5550"/>
              <a:t>to</a:t>
            </a:r>
            <a:r>
              <a:rPr dirty="0" sz="5550" spc="-140"/>
              <a:t> </a:t>
            </a:r>
            <a:r>
              <a:rPr dirty="0" sz="5550"/>
              <a:t>Use</a:t>
            </a:r>
            <a:r>
              <a:rPr dirty="0" sz="5550" spc="-145"/>
              <a:t> </a:t>
            </a:r>
            <a:r>
              <a:rPr dirty="0" sz="5550"/>
              <a:t>Which?</a:t>
            </a:r>
            <a:r>
              <a:rPr dirty="0" sz="5550" spc="-140"/>
              <a:t> </a:t>
            </a:r>
            <a:r>
              <a:rPr dirty="0" sz="5550"/>
              <a:t>The</a:t>
            </a:r>
            <a:r>
              <a:rPr dirty="0" sz="5550" spc="-145"/>
              <a:t> </a:t>
            </a:r>
            <a:r>
              <a:rPr dirty="0" sz="5550" spc="-20"/>
              <a:t>Decision</a:t>
            </a:r>
            <a:r>
              <a:rPr dirty="0" sz="5550" spc="-140"/>
              <a:t> </a:t>
            </a:r>
            <a:r>
              <a:rPr dirty="0" sz="5550" spc="-20"/>
              <a:t>Tree</a:t>
            </a:r>
            <a:endParaRPr sz="555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238" y="2467717"/>
            <a:ext cx="1417586" cy="680331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680646" y="2480084"/>
            <a:ext cx="12037060" cy="6301105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Do</a:t>
            </a:r>
            <a:r>
              <a:rPr dirty="0" sz="2750" spc="-9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you</a:t>
            </a:r>
            <a:r>
              <a:rPr dirty="0" sz="2750" spc="-9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know</a:t>
            </a:r>
            <a:r>
              <a:rPr dirty="0" sz="2750" spc="-9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the</a:t>
            </a:r>
            <a:r>
              <a:rPr dirty="0" sz="2750" spc="-9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 spc="-10">
                <a:solidFill>
                  <a:srgbClr val="CFD0D8"/>
                </a:solidFill>
                <a:latin typeface="Roboto"/>
                <a:cs typeface="Roboto"/>
              </a:rPr>
              <a:t>number</a:t>
            </a:r>
            <a:r>
              <a:rPr dirty="0" sz="2750" spc="-9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of</a:t>
            </a:r>
            <a:r>
              <a:rPr dirty="0" sz="2750" spc="-9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 spc="-10">
                <a:solidFill>
                  <a:srgbClr val="CFD0D8"/>
                </a:solidFill>
                <a:latin typeface="Roboto"/>
                <a:cs typeface="Roboto"/>
              </a:rPr>
              <a:t>clusters</a:t>
            </a:r>
            <a:r>
              <a:rPr dirty="0" sz="2750" spc="-9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and</a:t>
            </a:r>
            <a:r>
              <a:rPr dirty="0" sz="275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expect</a:t>
            </a:r>
            <a:r>
              <a:rPr dirty="0" sz="2750" spc="-9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them</a:t>
            </a:r>
            <a:r>
              <a:rPr dirty="0" sz="2750" spc="-9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to</a:t>
            </a:r>
            <a:r>
              <a:rPr dirty="0" sz="2750" spc="-9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be</a:t>
            </a:r>
            <a:r>
              <a:rPr dirty="0" sz="2750" spc="-9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 spc="-30">
                <a:solidFill>
                  <a:srgbClr val="CFD0D8"/>
                </a:solidFill>
                <a:latin typeface="Roboto"/>
                <a:cs typeface="Roboto"/>
              </a:rPr>
              <a:t>roughly</a:t>
            </a:r>
            <a:r>
              <a:rPr dirty="0" sz="2750" spc="-9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 spc="-10">
                <a:solidFill>
                  <a:srgbClr val="CFD0D8"/>
                </a:solidFill>
                <a:latin typeface="Roboto"/>
                <a:cs typeface="Roboto"/>
              </a:rPr>
              <a:t>spherical?</a:t>
            </a:r>
            <a:endParaRPr sz="27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dirty="0" sz="1050" spc="1130" b="1">
                <a:solidFill>
                  <a:srgbClr val="596ED8"/>
                </a:solidFill>
                <a:latin typeface="Arial"/>
                <a:cs typeface="Arial"/>
              </a:rPr>
              <a:t>→</a:t>
            </a:r>
            <a:r>
              <a:rPr dirty="0" sz="1050" spc="265" b="1">
                <a:solidFill>
                  <a:srgbClr val="596ED8"/>
                </a:solidFill>
                <a:latin typeface="Arial"/>
                <a:cs typeface="Arial"/>
              </a:rPr>
              <a:t> </a:t>
            </a:r>
            <a:r>
              <a:rPr dirty="0" sz="2150" spc="-60" b="1">
                <a:solidFill>
                  <a:srgbClr val="596ED8"/>
                </a:solidFill>
                <a:latin typeface="Roboto"/>
                <a:cs typeface="Roboto"/>
              </a:rPr>
              <a:t>K-</a:t>
            </a:r>
            <a:r>
              <a:rPr dirty="0" sz="2150" spc="-20" b="1">
                <a:solidFill>
                  <a:srgbClr val="596ED8"/>
                </a:solidFill>
                <a:latin typeface="Roboto"/>
                <a:cs typeface="Roboto"/>
              </a:rPr>
              <a:t>Means</a:t>
            </a:r>
            <a:endParaRPr sz="215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21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2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Do</a:t>
            </a:r>
            <a:r>
              <a:rPr dirty="0" sz="275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you</a:t>
            </a:r>
            <a:r>
              <a:rPr dirty="0" sz="275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expect</a:t>
            </a:r>
            <a:r>
              <a:rPr dirty="0" sz="275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 spc="-10">
                <a:solidFill>
                  <a:srgbClr val="CFD0D8"/>
                </a:solidFill>
                <a:latin typeface="Roboto"/>
                <a:cs typeface="Roboto"/>
              </a:rPr>
              <a:t>clusters</a:t>
            </a:r>
            <a:r>
              <a:rPr dirty="0" sz="275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of</a:t>
            </a:r>
            <a:r>
              <a:rPr dirty="0" sz="275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 spc="-20">
                <a:solidFill>
                  <a:srgbClr val="CFD0D8"/>
                </a:solidFill>
                <a:latin typeface="Roboto"/>
                <a:cs typeface="Roboto"/>
              </a:rPr>
              <a:t>irregular</a:t>
            </a:r>
            <a:r>
              <a:rPr dirty="0" sz="275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 spc="-10">
                <a:solidFill>
                  <a:srgbClr val="CFD0D8"/>
                </a:solidFill>
                <a:latin typeface="Roboto"/>
                <a:cs typeface="Roboto"/>
              </a:rPr>
              <a:t>shapes,</a:t>
            </a:r>
            <a:r>
              <a:rPr dirty="0" sz="275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or</a:t>
            </a:r>
            <a:r>
              <a:rPr dirty="0" sz="275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is</a:t>
            </a:r>
            <a:r>
              <a:rPr dirty="0" sz="275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noise</a:t>
            </a:r>
            <a:r>
              <a:rPr dirty="0" sz="275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a</a:t>
            </a:r>
            <a:r>
              <a:rPr dirty="0" sz="275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 spc="-20">
                <a:solidFill>
                  <a:srgbClr val="CFD0D8"/>
                </a:solidFill>
                <a:latin typeface="Roboto"/>
                <a:cs typeface="Roboto"/>
              </a:rPr>
              <a:t>significant</a:t>
            </a:r>
            <a:r>
              <a:rPr dirty="0" sz="275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 spc="-10">
                <a:solidFill>
                  <a:srgbClr val="CFD0D8"/>
                </a:solidFill>
                <a:latin typeface="Roboto"/>
                <a:cs typeface="Roboto"/>
              </a:rPr>
              <a:t>factor?</a:t>
            </a:r>
            <a:endParaRPr sz="27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dirty="0" sz="1050" spc="1130" b="1">
                <a:solidFill>
                  <a:srgbClr val="243799"/>
                </a:solidFill>
                <a:latin typeface="Arial"/>
                <a:cs typeface="Arial"/>
              </a:rPr>
              <a:t>→</a:t>
            </a:r>
            <a:r>
              <a:rPr dirty="0" sz="1050" spc="245" b="1">
                <a:solidFill>
                  <a:srgbClr val="243799"/>
                </a:solidFill>
                <a:latin typeface="Arial"/>
                <a:cs typeface="Arial"/>
              </a:rPr>
              <a:t> </a:t>
            </a:r>
            <a:r>
              <a:rPr dirty="0" sz="2150" spc="-10" b="1">
                <a:solidFill>
                  <a:srgbClr val="243799"/>
                </a:solidFill>
                <a:latin typeface="Roboto"/>
                <a:cs typeface="Roboto"/>
              </a:rPr>
              <a:t>DBSCAN</a:t>
            </a:r>
            <a:endParaRPr sz="215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21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2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Is</a:t>
            </a:r>
            <a:r>
              <a:rPr dirty="0" sz="2750" spc="-9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speed</a:t>
            </a:r>
            <a:r>
              <a:rPr dirty="0" sz="2750" spc="-9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 spc="-20">
                <a:solidFill>
                  <a:srgbClr val="CFD0D8"/>
                </a:solidFill>
                <a:latin typeface="Roboto"/>
                <a:cs typeface="Roboto"/>
              </a:rPr>
              <a:t>paramount</a:t>
            </a:r>
            <a:r>
              <a:rPr dirty="0" sz="275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for</a:t>
            </a:r>
            <a:r>
              <a:rPr dirty="0" sz="2750" spc="-9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a</a:t>
            </a:r>
            <a:r>
              <a:rPr dirty="0" sz="275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 spc="-10">
                <a:solidFill>
                  <a:srgbClr val="CFD0D8"/>
                </a:solidFill>
                <a:latin typeface="Roboto"/>
                <a:cs typeface="Roboto"/>
              </a:rPr>
              <a:t>massive</a:t>
            </a:r>
            <a:r>
              <a:rPr dirty="0" sz="2750" spc="-9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 spc="-10">
                <a:solidFill>
                  <a:srgbClr val="CFD0D8"/>
                </a:solidFill>
                <a:latin typeface="Roboto"/>
                <a:cs typeface="Roboto"/>
              </a:rPr>
              <a:t>dataset</a:t>
            </a:r>
            <a:r>
              <a:rPr dirty="0" sz="2750" spc="-9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 spc="-10">
                <a:solidFill>
                  <a:srgbClr val="CFD0D8"/>
                </a:solidFill>
                <a:latin typeface="Roboto"/>
                <a:cs typeface="Roboto"/>
              </a:rPr>
              <a:t>with</a:t>
            </a:r>
            <a:r>
              <a:rPr dirty="0" sz="275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clear,</a:t>
            </a:r>
            <a:r>
              <a:rPr dirty="0" sz="2750" spc="-9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 spc="-10">
                <a:solidFill>
                  <a:srgbClr val="CFD0D8"/>
                </a:solidFill>
                <a:latin typeface="Roboto"/>
                <a:cs typeface="Roboto"/>
              </a:rPr>
              <a:t>round</a:t>
            </a:r>
            <a:r>
              <a:rPr dirty="0" sz="275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 spc="-10">
                <a:solidFill>
                  <a:srgbClr val="CFD0D8"/>
                </a:solidFill>
                <a:latin typeface="Roboto"/>
                <a:cs typeface="Roboto"/>
              </a:rPr>
              <a:t>clusters?</a:t>
            </a:r>
            <a:endParaRPr sz="27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dirty="0" sz="1050" spc="1130" b="1">
                <a:solidFill>
                  <a:srgbClr val="596ED8"/>
                </a:solidFill>
                <a:latin typeface="Arial"/>
                <a:cs typeface="Arial"/>
              </a:rPr>
              <a:t>→</a:t>
            </a:r>
            <a:r>
              <a:rPr dirty="0" sz="1050" spc="265" b="1">
                <a:solidFill>
                  <a:srgbClr val="596ED8"/>
                </a:solidFill>
                <a:latin typeface="Arial"/>
                <a:cs typeface="Arial"/>
              </a:rPr>
              <a:t> </a:t>
            </a:r>
            <a:r>
              <a:rPr dirty="0" sz="2150" spc="-60" b="1">
                <a:solidFill>
                  <a:srgbClr val="596ED8"/>
                </a:solidFill>
                <a:latin typeface="Roboto"/>
                <a:cs typeface="Roboto"/>
              </a:rPr>
              <a:t>K-</a:t>
            </a:r>
            <a:r>
              <a:rPr dirty="0" sz="2150" spc="-20" b="1">
                <a:solidFill>
                  <a:srgbClr val="596ED8"/>
                </a:solidFill>
                <a:latin typeface="Roboto"/>
                <a:cs typeface="Roboto"/>
              </a:rPr>
              <a:t>Means</a:t>
            </a:r>
            <a:endParaRPr sz="215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21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21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Do</a:t>
            </a:r>
            <a:r>
              <a:rPr dirty="0" sz="2750" spc="-10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you</a:t>
            </a:r>
            <a:r>
              <a:rPr dirty="0" sz="2750" spc="-10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need</a:t>
            </a:r>
            <a:r>
              <a:rPr dirty="0" sz="2750" spc="-10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to</a:t>
            </a:r>
            <a:r>
              <a:rPr dirty="0" sz="2750" spc="-10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 spc="-10">
                <a:solidFill>
                  <a:srgbClr val="CFD0D8"/>
                </a:solidFill>
                <a:latin typeface="Roboto"/>
                <a:cs typeface="Roboto"/>
              </a:rPr>
              <a:t>identify</a:t>
            </a:r>
            <a:r>
              <a:rPr dirty="0" sz="2750" spc="-10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 spc="-10">
                <a:solidFill>
                  <a:srgbClr val="CFD0D8"/>
                </a:solidFill>
                <a:latin typeface="Roboto"/>
                <a:cs typeface="Roboto"/>
              </a:rPr>
              <a:t>outliers</a:t>
            </a:r>
            <a:r>
              <a:rPr dirty="0" sz="2750" spc="-10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or</a:t>
            </a:r>
            <a:r>
              <a:rPr dirty="0" sz="2750" spc="-10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have</a:t>
            </a:r>
            <a:r>
              <a:rPr dirty="0" sz="2750" spc="-10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 spc="-35">
                <a:solidFill>
                  <a:srgbClr val="CFD0D8"/>
                </a:solidFill>
                <a:latin typeface="Roboto"/>
                <a:cs typeface="Roboto"/>
              </a:rPr>
              <a:t>varying</a:t>
            </a:r>
            <a:r>
              <a:rPr dirty="0" sz="2750" spc="-10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 spc="-10">
                <a:solidFill>
                  <a:srgbClr val="CFD0D8"/>
                </a:solidFill>
                <a:latin typeface="Roboto"/>
                <a:cs typeface="Roboto"/>
              </a:rPr>
              <a:t>cluster</a:t>
            </a:r>
            <a:r>
              <a:rPr dirty="0" sz="2750" spc="-10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 spc="-10">
                <a:solidFill>
                  <a:srgbClr val="CFD0D8"/>
                </a:solidFill>
                <a:latin typeface="Roboto"/>
                <a:cs typeface="Roboto"/>
              </a:rPr>
              <a:t>densities?</a:t>
            </a:r>
            <a:endParaRPr sz="27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dirty="0" sz="1050" spc="1130" b="1">
                <a:solidFill>
                  <a:srgbClr val="243799"/>
                </a:solidFill>
                <a:latin typeface="Arial"/>
                <a:cs typeface="Arial"/>
              </a:rPr>
              <a:t>→</a:t>
            </a:r>
            <a:r>
              <a:rPr dirty="0" sz="1050" spc="245" b="1">
                <a:solidFill>
                  <a:srgbClr val="243799"/>
                </a:solidFill>
                <a:latin typeface="Arial"/>
                <a:cs typeface="Arial"/>
              </a:rPr>
              <a:t> </a:t>
            </a:r>
            <a:r>
              <a:rPr dirty="0" sz="2150" spc="-10" b="1">
                <a:solidFill>
                  <a:srgbClr val="243799"/>
                </a:solidFill>
                <a:latin typeface="Roboto"/>
                <a:cs typeface="Roboto"/>
              </a:rPr>
              <a:t>DBSCAN</a:t>
            </a:r>
            <a:endParaRPr sz="21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1430000" y="0"/>
            <a:ext cx="6858000" cy="10287000"/>
            <a:chOff x="11430000" y="0"/>
            <a:chExt cx="6858000" cy="10287000"/>
          </a:xfrm>
        </p:grpSpPr>
        <p:pic>
          <p:nvPicPr>
            <p:cNvPr id="3" name="object 3" descr="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49016" y="9686925"/>
              <a:ext cx="2153221" cy="51434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30000" y="0"/>
              <a:ext cx="6857998" cy="1028699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40082" y="690594"/>
            <a:ext cx="9728835" cy="150177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5930"/>
              </a:lnSpc>
            </a:pPr>
            <a:r>
              <a:rPr dirty="0" sz="4750" spc="-215"/>
              <a:t>Real-</a:t>
            </a:r>
            <a:r>
              <a:rPr dirty="0" sz="4750"/>
              <a:t>World</a:t>
            </a:r>
            <a:r>
              <a:rPr dirty="0" sz="4750" spc="-95"/>
              <a:t> </a:t>
            </a:r>
            <a:r>
              <a:rPr dirty="0" sz="4750" spc="-10"/>
              <a:t>Performance:</a:t>
            </a:r>
            <a:r>
              <a:rPr dirty="0" sz="4750" spc="-90"/>
              <a:t> </a:t>
            </a:r>
            <a:r>
              <a:rPr dirty="0" sz="4750" spc="-10"/>
              <a:t>Geospatial Data</a:t>
            </a:r>
            <a:r>
              <a:rPr dirty="0" sz="4750" spc="-275"/>
              <a:t> </a:t>
            </a:r>
            <a:r>
              <a:rPr dirty="0" sz="4750" spc="-10"/>
              <a:t>Example</a:t>
            </a:r>
            <a:endParaRPr sz="4750"/>
          </a:p>
        </p:txBody>
      </p:sp>
      <p:sp>
        <p:nvSpPr>
          <p:cNvPr id="6" name="object 6" descr=""/>
          <p:cNvSpPr txBox="1"/>
          <p:nvPr/>
        </p:nvSpPr>
        <p:spPr>
          <a:xfrm>
            <a:off x="840082" y="2322474"/>
            <a:ext cx="9288145" cy="13538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350">
                <a:solidFill>
                  <a:srgbClr val="FFFFFF"/>
                </a:solidFill>
                <a:latin typeface="Roboto"/>
                <a:cs typeface="Roboto"/>
              </a:rPr>
              <a:t>Performance</a:t>
            </a:r>
            <a:r>
              <a:rPr dirty="0" sz="2350" spc="-1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350" spc="-10">
                <a:solidFill>
                  <a:srgbClr val="FFFFFF"/>
                </a:solidFill>
                <a:latin typeface="Roboto"/>
                <a:cs typeface="Roboto"/>
              </a:rPr>
              <a:t>Metrics</a:t>
            </a:r>
            <a:endParaRPr sz="2350">
              <a:latin typeface="Roboto"/>
              <a:cs typeface="Roboto"/>
            </a:endParaRPr>
          </a:p>
          <a:p>
            <a:pPr marL="12700" marR="5080">
              <a:lnSpc>
                <a:spcPct val="125000"/>
              </a:lnSpc>
              <a:spcBef>
                <a:spcPts val="2055"/>
              </a:spcBef>
            </a:pP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A study</a:t>
            </a:r>
            <a:r>
              <a:rPr dirty="0" sz="18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on geospatial</a:t>
            </a:r>
            <a:r>
              <a:rPr dirty="0" sz="18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data</a:t>
            </a:r>
            <a:r>
              <a:rPr dirty="0" sz="18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demonstrated DBSCAN's</a:t>
            </a:r>
            <a:r>
              <a:rPr dirty="0" sz="18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superior performance</a:t>
            </a:r>
            <a:r>
              <a:rPr dirty="0" sz="18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in</a:t>
            </a:r>
            <a:r>
              <a:rPr dirty="0" sz="18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 spc="-10">
                <a:solidFill>
                  <a:srgbClr val="CFD0D8"/>
                </a:solidFill>
                <a:latin typeface="Roboto"/>
                <a:cs typeface="Roboto"/>
              </a:rPr>
              <a:t>identifying </a:t>
            </a: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clusters</a:t>
            </a:r>
            <a:r>
              <a:rPr dirty="0" sz="185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with</a:t>
            </a:r>
            <a:r>
              <a:rPr dirty="0" sz="185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irregular</a:t>
            </a:r>
            <a:r>
              <a:rPr dirty="0" sz="185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shapes</a:t>
            </a:r>
            <a:r>
              <a:rPr dirty="0" sz="185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and</a:t>
            </a:r>
            <a:r>
              <a:rPr dirty="0" sz="185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handling</a:t>
            </a:r>
            <a:r>
              <a:rPr dirty="0" sz="185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noise</a:t>
            </a:r>
            <a:r>
              <a:rPr dirty="0" sz="185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 spc="-10">
                <a:solidFill>
                  <a:srgbClr val="CFD0D8"/>
                </a:solidFill>
                <a:latin typeface="Roboto"/>
                <a:cs typeface="Roboto"/>
              </a:rPr>
              <a:t>effectively.</a:t>
            </a:r>
            <a:endParaRPr sz="1850">
              <a:latin typeface="Roboto"/>
              <a:cs typeface="Roboto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40082" y="3656203"/>
            <a:ext cx="8999855" cy="5781040"/>
          </a:xfrm>
          <a:prstGeom prst="rect">
            <a:avLst/>
          </a:prstGeom>
        </p:spPr>
        <p:txBody>
          <a:bodyPr wrap="square" lIns="0" tIns="423545" rIns="0" bIns="0" rtlCol="0" vert="horz">
            <a:spAutoFit/>
          </a:bodyPr>
          <a:lstStyle/>
          <a:p>
            <a:pPr algn="ctr" marL="749935">
              <a:lnSpc>
                <a:spcPct val="100000"/>
              </a:lnSpc>
              <a:spcBef>
                <a:spcPts val="3335"/>
              </a:spcBef>
            </a:pPr>
            <a:r>
              <a:rPr dirty="0" sz="6300" spc="-10">
                <a:solidFill>
                  <a:srgbClr val="CFD0D8"/>
                </a:solidFill>
                <a:latin typeface="Roboto"/>
                <a:cs typeface="Roboto"/>
              </a:rPr>
              <a:t>0.8646</a:t>
            </a:r>
            <a:endParaRPr sz="6300">
              <a:latin typeface="Roboto"/>
              <a:cs typeface="Roboto"/>
            </a:endParaRPr>
          </a:p>
          <a:p>
            <a:pPr algn="ctr" marL="749935">
              <a:lnSpc>
                <a:spcPct val="100000"/>
              </a:lnSpc>
              <a:spcBef>
                <a:spcPts val="1240"/>
              </a:spcBef>
            </a:pPr>
            <a:r>
              <a:rPr dirty="0" sz="2350">
                <a:solidFill>
                  <a:srgbClr val="CFD0D8"/>
                </a:solidFill>
                <a:latin typeface="Roboto"/>
                <a:cs typeface="Roboto"/>
              </a:rPr>
              <a:t>DBSCAN</a:t>
            </a:r>
            <a:r>
              <a:rPr dirty="0" sz="23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350" spc="-20">
                <a:solidFill>
                  <a:srgbClr val="CFD0D8"/>
                </a:solidFill>
                <a:latin typeface="Roboto"/>
                <a:cs typeface="Roboto"/>
              </a:rPr>
              <a:t>Score</a:t>
            </a:r>
            <a:endParaRPr sz="2350">
              <a:latin typeface="Roboto"/>
              <a:cs typeface="Roboto"/>
            </a:endParaRPr>
          </a:p>
          <a:p>
            <a:pPr algn="ctr" marL="749935">
              <a:lnSpc>
                <a:spcPct val="100000"/>
              </a:lnSpc>
              <a:spcBef>
                <a:spcPts val="1130"/>
              </a:spcBef>
            </a:pP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Silhouette coefficient </a:t>
            </a:r>
            <a:r>
              <a:rPr dirty="0" sz="1850" spc="-10">
                <a:solidFill>
                  <a:srgbClr val="CFD0D8"/>
                </a:solidFill>
                <a:latin typeface="Roboto"/>
                <a:cs typeface="Roboto"/>
              </a:rPr>
              <a:t>achieved</a:t>
            </a:r>
            <a:endParaRPr sz="185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8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850">
              <a:latin typeface="Roboto"/>
              <a:cs typeface="Roboto"/>
            </a:endParaRPr>
          </a:p>
          <a:p>
            <a:pPr algn="ctr" marL="749935">
              <a:lnSpc>
                <a:spcPct val="100000"/>
              </a:lnSpc>
            </a:pPr>
            <a:r>
              <a:rPr dirty="0" sz="6300" spc="-10">
                <a:solidFill>
                  <a:srgbClr val="CFD0D8"/>
                </a:solidFill>
                <a:latin typeface="Roboto"/>
                <a:cs typeface="Roboto"/>
              </a:rPr>
              <a:t>0.8160</a:t>
            </a:r>
            <a:endParaRPr sz="6300">
              <a:latin typeface="Roboto"/>
              <a:cs typeface="Roboto"/>
            </a:endParaRPr>
          </a:p>
          <a:p>
            <a:pPr algn="ctr" marL="749935">
              <a:lnSpc>
                <a:spcPct val="100000"/>
              </a:lnSpc>
              <a:spcBef>
                <a:spcPts val="1240"/>
              </a:spcBef>
            </a:pPr>
            <a:r>
              <a:rPr dirty="0" sz="2350" spc="-225">
                <a:solidFill>
                  <a:srgbClr val="CFD0D8"/>
                </a:solidFill>
                <a:latin typeface="Roboto"/>
                <a:cs typeface="Roboto"/>
              </a:rPr>
              <a:t>K-</a:t>
            </a:r>
            <a:r>
              <a:rPr dirty="0" sz="2350">
                <a:solidFill>
                  <a:srgbClr val="CFD0D8"/>
                </a:solidFill>
                <a:latin typeface="Roboto"/>
                <a:cs typeface="Roboto"/>
              </a:rPr>
              <a:t>Means</a:t>
            </a:r>
            <a:r>
              <a:rPr dirty="0" sz="2350" spc="-20">
                <a:solidFill>
                  <a:srgbClr val="CFD0D8"/>
                </a:solidFill>
                <a:latin typeface="Roboto"/>
                <a:cs typeface="Roboto"/>
              </a:rPr>
              <a:t> Score</a:t>
            </a:r>
            <a:endParaRPr sz="2350">
              <a:latin typeface="Roboto"/>
              <a:cs typeface="Roboto"/>
            </a:endParaRPr>
          </a:p>
          <a:p>
            <a:pPr algn="ctr" marL="749935">
              <a:lnSpc>
                <a:spcPct val="100000"/>
              </a:lnSpc>
              <a:spcBef>
                <a:spcPts val="1130"/>
              </a:spcBef>
            </a:pP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Silhouette coefficient </a:t>
            </a:r>
            <a:r>
              <a:rPr dirty="0" sz="1850" spc="-10">
                <a:solidFill>
                  <a:srgbClr val="CFD0D8"/>
                </a:solidFill>
                <a:latin typeface="Roboto"/>
                <a:cs typeface="Roboto"/>
              </a:rPr>
              <a:t>achieved</a:t>
            </a:r>
            <a:endParaRPr sz="1850">
              <a:latin typeface="Roboto"/>
              <a:cs typeface="Roboto"/>
            </a:endParaRPr>
          </a:p>
          <a:p>
            <a:pPr marL="12700" marR="5080">
              <a:lnSpc>
                <a:spcPct val="125000"/>
              </a:lnSpc>
              <a:spcBef>
                <a:spcPts val="1935"/>
              </a:spcBef>
            </a:pP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This</a:t>
            </a:r>
            <a:r>
              <a:rPr dirty="0" sz="18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highlights</a:t>
            </a:r>
            <a:r>
              <a:rPr dirty="0" sz="18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DBSCAN's</a:t>
            </a:r>
            <a:r>
              <a:rPr dirty="0" sz="18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robustness</a:t>
            </a:r>
            <a:r>
              <a:rPr dirty="0" sz="18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in</a:t>
            </a:r>
            <a:r>
              <a:rPr dirty="0" sz="18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identifying</a:t>
            </a:r>
            <a:r>
              <a:rPr dirty="0" sz="185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clusters</a:t>
            </a:r>
            <a:r>
              <a:rPr dirty="0" sz="18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with</a:t>
            </a:r>
            <a:r>
              <a:rPr dirty="0" sz="18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irregular</a:t>
            </a:r>
            <a:r>
              <a:rPr dirty="0" sz="18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shapes</a:t>
            </a:r>
            <a:r>
              <a:rPr dirty="0" sz="18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 spc="-25">
                <a:solidFill>
                  <a:srgbClr val="CFD0D8"/>
                </a:solidFill>
                <a:latin typeface="Roboto"/>
                <a:cs typeface="Roboto"/>
              </a:rPr>
              <a:t>and </a:t>
            </a: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handling</a:t>
            </a:r>
            <a:r>
              <a:rPr dirty="0" sz="1850" spc="-2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noise,</a:t>
            </a:r>
            <a:r>
              <a:rPr dirty="0" sz="1850" spc="-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outperforming</a:t>
            </a:r>
            <a:r>
              <a:rPr dirty="0" sz="1850" spc="-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 spc="-50">
                <a:solidFill>
                  <a:srgbClr val="CFD0D8"/>
                </a:solidFill>
                <a:latin typeface="Roboto"/>
                <a:cs typeface="Roboto"/>
              </a:rPr>
              <a:t>K-</a:t>
            </a:r>
            <a:r>
              <a:rPr dirty="0" sz="1850" spc="-30">
                <a:solidFill>
                  <a:srgbClr val="CFD0D8"/>
                </a:solidFill>
                <a:latin typeface="Roboto"/>
                <a:cs typeface="Roboto"/>
              </a:rPr>
              <a:t>Means</a:t>
            </a:r>
            <a:r>
              <a:rPr dirty="0" sz="1850" spc="-2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by</a:t>
            </a:r>
            <a:r>
              <a:rPr dirty="0" sz="1850" spc="-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6%</a:t>
            </a:r>
            <a:r>
              <a:rPr dirty="0" sz="1850" spc="-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in</a:t>
            </a:r>
            <a:r>
              <a:rPr dirty="0" sz="1850" spc="-2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>
                <a:solidFill>
                  <a:srgbClr val="CFD0D8"/>
                </a:solidFill>
                <a:latin typeface="Roboto"/>
                <a:cs typeface="Roboto"/>
              </a:rPr>
              <a:t>silhouette</a:t>
            </a:r>
            <a:r>
              <a:rPr dirty="0" sz="1850" spc="-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50" spc="-10">
                <a:solidFill>
                  <a:srgbClr val="CFD0D8"/>
                </a:solidFill>
                <a:latin typeface="Roboto"/>
                <a:cs typeface="Roboto"/>
              </a:rPr>
              <a:t>score.</a:t>
            </a:r>
            <a:endParaRPr sz="18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857999" cy="10286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6771" rIns="0" bIns="0" rtlCol="0" vert="horz">
            <a:spAutoFit/>
          </a:bodyPr>
          <a:lstStyle/>
          <a:p>
            <a:pPr marL="6948170" marR="5080">
              <a:lnSpc>
                <a:spcPts val="6450"/>
              </a:lnSpc>
            </a:pPr>
            <a:r>
              <a:rPr dirty="0" spc="-10"/>
              <a:t>Conclusion:</a:t>
            </a:r>
            <a:r>
              <a:rPr dirty="0" spc="-150"/>
              <a:t> </a:t>
            </a:r>
            <a:r>
              <a:rPr dirty="0"/>
              <a:t>The</a:t>
            </a:r>
            <a:r>
              <a:rPr dirty="0" spc="-150"/>
              <a:t> </a:t>
            </a:r>
            <a:r>
              <a:rPr dirty="0" spc="-10"/>
              <a:t>Right</a:t>
            </a:r>
            <a:r>
              <a:rPr dirty="0" spc="-150"/>
              <a:t> </a:t>
            </a:r>
            <a:r>
              <a:rPr dirty="0"/>
              <a:t>Tool</a:t>
            </a:r>
            <a:r>
              <a:rPr dirty="0" spc="-150"/>
              <a:t> </a:t>
            </a:r>
            <a:r>
              <a:rPr dirty="0" spc="-25"/>
              <a:t>for </a:t>
            </a:r>
            <a:r>
              <a:rPr dirty="0"/>
              <a:t>the</a:t>
            </a:r>
            <a:r>
              <a:rPr dirty="0" spc="-210"/>
              <a:t> </a:t>
            </a:r>
            <a:r>
              <a:rPr dirty="0" spc="-10"/>
              <a:t>Right</a:t>
            </a:r>
            <a:r>
              <a:rPr dirty="0" spc="-204"/>
              <a:t> </a:t>
            </a:r>
            <a:r>
              <a:rPr dirty="0" spc="-25"/>
              <a:t>Job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7783562" y="2839640"/>
            <a:ext cx="4669790" cy="3404870"/>
            <a:chOff x="7783562" y="2839640"/>
            <a:chExt cx="4669790" cy="3404870"/>
          </a:xfrm>
        </p:grpSpPr>
        <p:sp>
          <p:nvSpPr>
            <p:cNvPr id="5" name="object 5" descr=""/>
            <p:cNvSpPr/>
            <p:nvPr/>
          </p:nvSpPr>
          <p:spPr>
            <a:xfrm>
              <a:off x="7788325" y="2844402"/>
              <a:ext cx="4660265" cy="3397885"/>
            </a:xfrm>
            <a:custGeom>
              <a:avLst/>
              <a:gdLst/>
              <a:ahLst/>
              <a:cxnLst/>
              <a:rect l="l" t="t" r="r" b="b"/>
              <a:pathLst>
                <a:path w="4660265" h="3397885">
                  <a:moveTo>
                    <a:pt x="4548377" y="3397853"/>
                  </a:moveTo>
                  <a:lnTo>
                    <a:pt x="111728" y="3397853"/>
                  </a:lnTo>
                  <a:lnTo>
                    <a:pt x="68231" y="3389090"/>
                  </a:lnTo>
                  <a:lnTo>
                    <a:pt x="32718" y="3365182"/>
                  </a:lnTo>
                  <a:lnTo>
                    <a:pt x="8777" y="3329701"/>
                  </a:lnTo>
                  <a:lnTo>
                    <a:pt x="0" y="3286220"/>
                  </a:lnTo>
                  <a:lnTo>
                    <a:pt x="0" y="111632"/>
                  </a:lnTo>
                  <a:lnTo>
                    <a:pt x="8777" y="68191"/>
                  </a:lnTo>
                  <a:lnTo>
                    <a:pt x="32718" y="32706"/>
                  </a:lnTo>
                  <a:lnTo>
                    <a:pt x="68231" y="8776"/>
                  </a:lnTo>
                  <a:lnTo>
                    <a:pt x="111728" y="0"/>
                  </a:lnTo>
                  <a:lnTo>
                    <a:pt x="4548377" y="0"/>
                  </a:lnTo>
                  <a:lnTo>
                    <a:pt x="4591874" y="8776"/>
                  </a:lnTo>
                  <a:lnTo>
                    <a:pt x="4627387" y="32706"/>
                  </a:lnTo>
                  <a:lnTo>
                    <a:pt x="4651328" y="68191"/>
                  </a:lnTo>
                  <a:lnTo>
                    <a:pt x="4660105" y="111632"/>
                  </a:lnTo>
                  <a:lnTo>
                    <a:pt x="4660105" y="3286220"/>
                  </a:lnTo>
                  <a:lnTo>
                    <a:pt x="4651300" y="3329701"/>
                  </a:lnTo>
                  <a:lnTo>
                    <a:pt x="4627334" y="3365182"/>
                  </a:lnTo>
                  <a:lnTo>
                    <a:pt x="4591807" y="3389090"/>
                  </a:lnTo>
                  <a:lnTo>
                    <a:pt x="4548377" y="3397853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783562" y="2839640"/>
              <a:ext cx="4669790" cy="3404870"/>
            </a:xfrm>
            <a:custGeom>
              <a:avLst/>
              <a:gdLst/>
              <a:ahLst/>
              <a:cxnLst/>
              <a:rect l="l" t="t" r="r" b="b"/>
              <a:pathLst>
                <a:path w="4669790" h="3404870">
                  <a:moveTo>
                    <a:pt x="116490" y="3404741"/>
                  </a:moveTo>
                  <a:lnTo>
                    <a:pt x="103420" y="3404741"/>
                  </a:lnTo>
                  <a:lnTo>
                    <a:pt x="71165" y="3398232"/>
                  </a:lnTo>
                  <a:lnTo>
                    <a:pt x="34135" y="3373290"/>
                  </a:lnTo>
                  <a:lnTo>
                    <a:pt x="9160" y="3336293"/>
                  </a:lnTo>
                  <a:lnTo>
                    <a:pt x="0" y="3290982"/>
                  </a:lnTo>
                  <a:lnTo>
                    <a:pt x="0" y="116395"/>
                  </a:lnTo>
                  <a:lnTo>
                    <a:pt x="9160" y="71084"/>
                  </a:lnTo>
                  <a:lnTo>
                    <a:pt x="34135" y="34087"/>
                  </a:lnTo>
                  <a:lnTo>
                    <a:pt x="71165" y="9145"/>
                  </a:lnTo>
                  <a:lnTo>
                    <a:pt x="116490" y="0"/>
                  </a:lnTo>
                  <a:lnTo>
                    <a:pt x="4553140" y="0"/>
                  </a:lnTo>
                  <a:lnTo>
                    <a:pt x="4553140" y="4762"/>
                  </a:lnTo>
                  <a:lnTo>
                    <a:pt x="116490" y="4762"/>
                  </a:lnTo>
                  <a:lnTo>
                    <a:pt x="116490" y="9525"/>
                  </a:lnTo>
                  <a:lnTo>
                    <a:pt x="74863" y="17918"/>
                  </a:lnTo>
                  <a:lnTo>
                    <a:pt x="40862" y="40814"/>
                  </a:lnTo>
                  <a:lnTo>
                    <a:pt x="17933" y="74783"/>
                  </a:lnTo>
                  <a:lnTo>
                    <a:pt x="9525" y="116395"/>
                  </a:lnTo>
                  <a:lnTo>
                    <a:pt x="9525" y="3290982"/>
                  </a:lnTo>
                  <a:lnTo>
                    <a:pt x="17933" y="3332595"/>
                  </a:lnTo>
                  <a:lnTo>
                    <a:pt x="40862" y="3366563"/>
                  </a:lnTo>
                  <a:lnTo>
                    <a:pt x="74863" y="3389459"/>
                  </a:lnTo>
                  <a:lnTo>
                    <a:pt x="116490" y="3397853"/>
                  </a:lnTo>
                  <a:lnTo>
                    <a:pt x="4599029" y="3397853"/>
                  </a:lnTo>
                  <a:lnTo>
                    <a:pt x="4598465" y="3398232"/>
                  </a:lnTo>
                  <a:lnTo>
                    <a:pt x="4576743" y="3402615"/>
                  </a:lnTo>
                  <a:lnTo>
                    <a:pt x="116490" y="3402615"/>
                  </a:lnTo>
                  <a:lnTo>
                    <a:pt x="116490" y="3404741"/>
                  </a:lnTo>
                  <a:close/>
                </a:path>
                <a:path w="4669790" h="3404870">
                  <a:moveTo>
                    <a:pt x="4599029" y="3397853"/>
                  </a:moveTo>
                  <a:lnTo>
                    <a:pt x="4553140" y="3397853"/>
                  </a:lnTo>
                  <a:lnTo>
                    <a:pt x="4594767" y="3389459"/>
                  </a:lnTo>
                  <a:lnTo>
                    <a:pt x="4628768" y="3366563"/>
                  </a:lnTo>
                  <a:lnTo>
                    <a:pt x="4651697" y="3332595"/>
                  </a:lnTo>
                  <a:lnTo>
                    <a:pt x="4660106" y="3290982"/>
                  </a:lnTo>
                  <a:lnTo>
                    <a:pt x="4660106" y="116395"/>
                  </a:lnTo>
                  <a:lnTo>
                    <a:pt x="4651697" y="74783"/>
                  </a:lnTo>
                  <a:lnTo>
                    <a:pt x="4628768" y="40814"/>
                  </a:lnTo>
                  <a:lnTo>
                    <a:pt x="4594767" y="17918"/>
                  </a:lnTo>
                  <a:lnTo>
                    <a:pt x="4553140" y="9525"/>
                  </a:lnTo>
                  <a:lnTo>
                    <a:pt x="116490" y="9525"/>
                  </a:lnTo>
                  <a:lnTo>
                    <a:pt x="116490" y="4762"/>
                  </a:lnTo>
                  <a:lnTo>
                    <a:pt x="4553140" y="4762"/>
                  </a:lnTo>
                  <a:lnTo>
                    <a:pt x="4553140" y="0"/>
                  </a:lnTo>
                  <a:lnTo>
                    <a:pt x="4598465" y="9145"/>
                  </a:lnTo>
                  <a:lnTo>
                    <a:pt x="4635495" y="34087"/>
                  </a:lnTo>
                  <a:lnTo>
                    <a:pt x="4660470" y="71084"/>
                  </a:lnTo>
                  <a:lnTo>
                    <a:pt x="4669630" y="116395"/>
                  </a:lnTo>
                  <a:lnTo>
                    <a:pt x="4669630" y="3290982"/>
                  </a:lnTo>
                  <a:lnTo>
                    <a:pt x="4660470" y="3336293"/>
                  </a:lnTo>
                  <a:lnTo>
                    <a:pt x="4635495" y="3373290"/>
                  </a:lnTo>
                  <a:lnTo>
                    <a:pt x="4599029" y="3397853"/>
                  </a:lnTo>
                  <a:close/>
                </a:path>
                <a:path w="4669790" h="3404870">
                  <a:moveTo>
                    <a:pt x="4553140" y="3404741"/>
                  </a:moveTo>
                  <a:lnTo>
                    <a:pt x="116490" y="3404741"/>
                  </a:lnTo>
                  <a:lnTo>
                    <a:pt x="116490" y="3402615"/>
                  </a:lnTo>
                  <a:lnTo>
                    <a:pt x="4553140" y="3402615"/>
                  </a:lnTo>
                  <a:lnTo>
                    <a:pt x="4553140" y="3404741"/>
                  </a:lnTo>
                  <a:close/>
                </a:path>
                <a:path w="4669790" h="3404870">
                  <a:moveTo>
                    <a:pt x="4566210" y="3404741"/>
                  </a:moveTo>
                  <a:lnTo>
                    <a:pt x="4553140" y="3404741"/>
                  </a:lnTo>
                  <a:lnTo>
                    <a:pt x="4553140" y="3402615"/>
                  </a:lnTo>
                  <a:lnTo>
                    <a:pt x="4576743" y="3402615"/>
                  </a:lnTo>
                  <a:lnTo>
                    <a:pt x="4566210" y="3404741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063654" y="3119732"/>
              <a:ext cx="797560" cy="797560"/>
            </a:xfrm>
            <a:custGeom>
              <a:avLst/>
              <a:gdLst/>
              <a:ahLst/>
              <a:cxnLst/>
              <a:rect l="l" t="t" r="r" b="b"/>
              <a:pathLst>
                <a:path w="797559" h="797560">
                  <a:moveTo>
                    <a:pt x="398716" y="797433"/>
                  </a:moveTo>
                  <a:lnTo>
                    <a:pt x="352215" y="794750"/>
                  </a:lnTo>
                  <a:lnTo>
                    <a:pt x="307290" y="786903"/>
                  </a:lnTo>
                  <a:lnTo>
                    <a:pt x="264240" y="774189"/>
                  </a:lnTo>
                  <a:lnTo>
                    <a:pt x="223365" y="756909"/>
                  </a:lnTo>
                  <a:lnTo>
                    <a:pt x="184963" y="735360"/>
                  </a:lnTo>
                  <a:lnTo>
                    <a:pt x="149334" y="709843"/>
                  </a:lnTo>
                  <a:lnTo>
                    <a:pt x="116776" y="680656"/>
                  </a:lnTo>
                  <a:lnTo>
                    <a:pt x="87589" y="648098"/>
                  </a:lnTo>
                  <a:lnTo>
                    <a:pt x="62072" y="612469"/>
                  </a:lnTo>
                  <a:lnTo>
                    <a:pt x="40523" y="574067"/>
                  </a:lnTo>
                  <a:lnTo>
                    <a:pt x="23243" y="533192"/>
                  </a:lnTo>
                  <a:lnTo>
                    <a:pt x="10529" y="490142"/>
                  </a:lnTo>
                  <a:lnTo>
                    <a:pt x="2682" y="445217"/>
                  </a:lnTo>
                  <a:lnTo>
                    <a:pt x="0" y="398716"/>
                  </a:lnTo>
                  <a:lnTo>
                    <a:pt x="2682" y="352215"/>
                  </a:lnTo>
                  <a:lnTo>
                    <a:pt x="10529" y="307290"/>
                  </a:lnTo>
                  <a:lnTo>
                    <a:pt x="23243" y="264240"/>
                  </a:lnTo>
                  <a:lnTo>
                    <a:pt x="40523" y="223365"/>
                  </a:lnTo>
                  <a:lnTo>
                    <a:pt x="62072" y="184963"/>
                  </a:lnTo>
                  <a:lnTo>
                    <a:pt x="87589" y="149334"/>
                  </a:lnTo>
                  <a:lnTo>
                    <a:pt x="116776" y="116776"/>
                  </a:lnTo>
                  <a:lnTo>
                    <a:pt x="149334" y="87589"/>
                  </a:lnTo>
                  <a:lnTo>
                    <a:pt x="184963" y="62072"/>
                  </a:lnTo>
                  <a:lnTo>
                    <a:pt x="223365" y="40523"/>
                  </a:lnTo>
                  <a:lnTo>
                    <a:pt x="264240" y="23243"/>
                  </a:lnTo>
                  <a:lnTo>
                    <a:pt x="307290" y="10529"/>
                  </a:lnTo>
                  <a:lnTo>
                    <a:pt x="352215" y="2682"/>
                  </a:lnTo>
                  <a:lnTo>
                    <a:pt x="398716" y="0"/>
                  </a:lnTo>
                  <a:lnTo>
                    <a:pt x="445217" y="2682"/>
                  </a:lnTo>
                  <a:lnTo>
                    <a:pt x="490142" y="10529"/>
                  </a:lnTo>
                  <a:lnTo>
                    <a:pt x="533192" y="23243"/>
                  </a:lnTo>
                  <a:lnTo>
                    <a:pt x="574067" y="40523"/>
                  </a:lnTo>
                  <a:lnTo>
                    <a:pt x="612469" y="62072"/>
                  </a:lnTo>
                  <a:lnTo>
                    <a:pt x="648098" y="87589"/>
                  </a:lnTo>
                  <a:lnTo>
                    <a:pt x="680656" y="116776"/>
                  </a:lnTo>
                  <a:lnTo>
                    <a:pt x="709843" y="149334"/>
                  </a:lnTo>
                  <a:lnTo>
                    <a:pt x="735360" y="184963"/>
                  </a:lnTo>
                  <a:lnTo>
                    <a:pt x="756909" y="223365"/>
                  </a:lnTo>
                  <a:lnTo>
                    <a:pt x="774189" y="264240"/>
                  </a:lnTo>
                  <a:lnTo>
                    <a:pt x="786903" y="307290"/>
                  </a:lnTo>
                  <a:lnTo>
                    <a:pt x="794750" y="352215"/>
                  </a:lnTo>
                  <a:lnTo>
                    <a:pt x="797433" y="398716"/>
                  </a:lnTo>
                  <a:lnTo>
                    <a:pt x="794750" y="445217"/>
                  </a:lnTo>
                  <a:lnTo>
                    <a:pt x="786903" y="490142"/>
                  </a:lnTo>
                  <a:lnTo>
                    <a:pt x="774189" y="533192"/>
                  </a:lnTo>
                  <a:lnTo>
                    <a:pt x="756909" y="574067"/>
                  </a:lnTo>
                  <a:lnTo>
                    <a:pt x="735360" y="612469"/>
                  </a:lnTo>
                  <a:lnTo>
                    <a:pt x="709843" y="648098"/>
                  </a:lnTo>
                  <a:lnTo>
                    <a:pt x="680656" y="680656"/>
                  </a:lnTo>
                  <a:lnTo>
                    <a:pt x="648098" y="709843"/>
                  </a:lnTo>
                  <a:lnTo>
                    <a:pt x="612469" y="735360"/>
                  </a:lnTo>
                  <a:lnTo>
                    <a:pt x="574067" y="756909"/>
                  </a:lnTo>
                  <a:lnTo>
                    <a:pt x="533192" y="774189"/>
                  </a:lnTo>
                  <a:lnTo>
                    <a:pt x="490142" y="786903"/>
                  </a:lnTo>
                  <a:lnTo>
                    <a:pt x="445217" y="794750"/>
                  </a:lnTo>
                  <a:lnTo>
                    <a:pt x="398716" y="797433"/>
                  </a:lnTo>
                  <a:close/>
                </a:path>
              </a:pathLst>
            </a:custGeom>
            <a:solidFill>
              <a:srgbClr val="596ED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86081" y="3346470"/>
              <a:ext cx="355721" cy="346940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8050955" y="3892585"/>
            <a:ext cx="3610610" cy="1944370"/>
          </a:xfrm>
          <a:prstGeom prst="rect">
            <a:avLst/>
          </a:prstGeom>
        </p:spPr>
        <p:txBody>
          <a:bodyPr wrap="square" lIns="0" tIns="2432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14"/>
              </a:spcBef>
            </a:pPr>
            <a:r>
              <a:rPr dirty="0" sz="2550">
                <a:solidFill>
                  <a:srgbClr val="CFD0D8"/>
                </a:solidFill>
                <a:latin typeface="Roboto"/>
                <a:cs typeface="Roboto"/>
              </a:rPr>
              <a:t>Both</a:t>
            </a:r>
            <a:r>
              <a:rPr dirty="0" sz="255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50">
                <a:solidFill>
                  <a:srgbClr val="CFD0D8"/>
                </a:solidFill>
                <a:latin typeface="Roboto"/>
                <a:cs typeface="Roboto"/>
              </a:rPr>
              <a:t>Are</a:t>
            </a:r>
            <a:r>
              <a:rPr dirty="0" sz="2550" spc="-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50" spc="-10">
                <a:solidFill>
                  <a:srgbClr val="CFD0D8"/>
                </a:solidFill>
                <a:latin typeface="Roboto"/>
                <a:cs typeface="Roboto"/>
              </a:rPr>
              <a:t>Powerful</a:t>
            </a:r>
            <a:endParaRPr sz="25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dirty="0" sz="2050" spc="-195">
                <a:solidFill>
                  <a:srgbClr val="CFD0D8"/>
                </a:solidFill>
                <a:latin typeface="Roboto"/>
                <a:cs typeface="Roboto"/>
              </a:rPr>
              <a:t>K-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Means</a:t>
            </a:r>
            <a:r>
              <a:rPr dirty="0" sz="20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and</a:t>
            </a:r>
            <a:r>
              <a:rPr dirty="0" sz="20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DBSCAN</a:t>
            </a:r>
            <a:r>
              <a:rPr dirty="0" sz="20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 spc="-10">
                <a:solidFill>
                  <a:srgbClr val="CFD0D8"/>
                </a:solidFill>
                <a:latin typeface="Roboto"/>
                <a:cs typeface="Roboto"/>
              </a:rPr>
              <a:t>serve</a:t>
            </a:r>
            <a:endParaRPr sz="2050">
              <a:latin typeface="Roboto"/>
              <a:cs typeface="Roboto"/>
            </a:endParaRPr>
          </a:p>
          <a:p>
            <a:pPr marL="12700" marR="5080">
              <a:lnSpc>
                <a:spcPct val="128000"/>
              </a:lnSpc>
            </a:pP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different</a:t>
            </a:r>
            <a:r>
              <a:rPr dirty="0" sz="20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purposes</a:t>
            </a:r>
            <a:r>
              <a:rPr dirty="0" sz="205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and</a:t>
            </a:r>
            <a:r>
              <a:rPr dirty="0" sz="205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excel</a:t>
            </a:r>
            <a:r>
              <a:rPr dirty="0" sz="205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 spc="-25">
                <a:solidFill>
                  <a:srgbClr val="CFD0D8"/>
                </a:solidFill>
                <a:latin typeface="Roboto"/>
                <a:cs typeface="Roboto"/>
              </a:rPr>
              <a:t>in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specific </a:t>
            </a:r>
            <a:r>
              <a:rPr dirty="0" sz="2050" spc="-10">
                <a:solidFill>
                  <a:srgbClr val="CFD0D8"/>
                </a:solidFill>
                <a:latin typeface="Roboto"/>
                <a:cs typeface="Roboto"/>
              </a:rPr>
              <a:t>scenarios</a:t>
            </a:r>
            <a:endParaRPr sz="2050">
              <a:latin typeface="Roboto"/>
              <a:cs typeface="Roboto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12692805" y="2839640"/>
            <a:ext cx="4669790" cy="3404870"/>
            <a:chOff x="12692805" y="2839640"/>
            <a:chExt cx="4669790" cy="3404870"/>
          </a:xfrm>
        </p:grpSpPr>
        <p:sp>
          <p:nvSpPr>
            <p:cNvPr id="11" name="object 11" descr=""/>
            <p:cNvSpPr/>
            <p:nvPr/>
          </p:nvSpPr>
          <p:spPr>
            <a:xfrm>
              <a:off x="12697567" y="2844402"/>
              <a:ext cx="4660265" cy="3397885"/>
            </a:xfrm>
            <a:custGeom>
              <a:avLst/>
              <a:gdLst/>
              <a:ahLst/>
              <a:cxnLst/>
              <a:rect l="l" t="t" r="r" b="b"/>
              <a:pathLst>
                <a:path w="4660265" h="3397885">
                  <a:moveTo>
                    <a:pt x="4548377" y="3397853"/>
                  </a:moveTo>
                  <a:lnTo>
                    <a:pt x="111728" y="3397853"/>
                  </a:lnTo>
                  <a:lnTo>
                    <a:pt x="68231" y="3389090"/>
                  </a:lnTo>
                  <a:lnTo>
                    <a:pt x="32718" y="3365182"/>
                  </a:lnTo>
                  <a:lnTo>
                    <a:pt x="8777" y="3329701"/>
                  </a:lnTo>
                  <a:lnTo>
                    <a:pt x="0" y="3286220"/>
                  </a:lnTo>
                  <a:lnTo>
                    <a:pt x="0" y="111632"/>
                  </a:lnTo>
                  <a:lnTo>
                    <a:pt x="8777" y="68191"/>
                  </a:lnTo>
                  <a:lnTo>
                    <a:pt x="32718" y="32706"/>
                  </a:lnTo>
                  <a:lnTo>
                    <a:pt x="68231" y="8776"/>
                  </a:lnTo>
                  <a:lnTo>
                    <a:pt x="111728" y="0"/>
                  </a:lnTo>
                  <a:lnTo>
                    <a:pt x="4548377" y="0"/>
                  </a:lnTo>
                  <a:lnTo>
                    <a:pt x="4591874" y="8776"/>
                  </a:lnTo>
                  <a:lnTo>
                    <a:pt x="4627387" y="32706"/>
                  </a:lnTo>
                  <a:lnTo>
                    <a:pt x="4651328" y="68191"/>
                  </a:lnTo>
                  <a:lnTo>
                    <a:pt x="4660105" y="111632"/>
                  </a:lnTo>
                  <a:lnTo>
                    <a:pt x="4660105" y="3286220"/>
                  </a:lnTo>
                  <a:lnTo>
                    <a:pt x="4651300" y="3329701"/>
                  </a:lnTo>
                  <a:lnTo>
                    <a:pt x="4627334" y="3365182"/>
                  </a:lnTo>
                  <a:lnTo>
                    <a:pt x="4591807" y="3389090"/>
                  </a:lnTo>
                  <a:lnTo>
                    <a:pt x="4548377" y="3397853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2692805" y="2839640"/>
              <a:ext cx="4669790" cy="3404870"/>
            </a:xfrm>
            <a:custGeom>
              <a:avLst/>
              <a:gdLst/>
              <a:ahLst/>
              <a:cxnLst/>
              <a:rect l="l" t="t" r="r" b="b"/>
              <a:pathLst>
                <a:path w="4669790" h="3404870">
                  <a:moveTo>
                    <a:pt x="116490" y="3404741"/>
                  </a:moveTo>
                  <a:lnTo>
                    <a:pt x="103421" y="3404741"/>
                  </a:lnTo>
                  <a:lnTo>
                    <a:pt x="71165" y="3398232"/>
                  </a:lnTo>
                  <a:lnTo>
                    <a:pt x="34135" y="3373290"/>
                  </a:lnTo>
                  <a:lnTo>
                    <a:pt x="9160" y="3336293"/>
                  </a:lnTo>
                  <a:lnTo>
                    <a:pt x="0" y="3290982"/>
                  </a:lnTo>
                  <a:lnTo>
                    <a:pt x="0" y="116395"/>
                  </a:lnTo>
                  <a:lnTo>
                    <a:pt x="9160" y="71084"/>
                  </a:lnTo>
                  <a:lnTo>
                    <a:pt x="34135" y="34087"/>
                  </a:lnTo>
                  <a:lnTo>
                    <a:pt x="71165" y="9145"/>
                  </a:lnTo>
                  <a:lnTo>
                    <a:pt x="116490" y="0"/>
                  </a:lnTo>
                  <a:lnTo>
                    <a:pt x="4553140" y="0"/>
                  </a:lnTo>
                  <a:lnTo>
                    <a:pt x="4553140" y="4762"/>
                  </a:lnTo>
                  <a:lnTo>
                    <a:pt x="116490" y="4762"/>
                  </a:lnTo>
                  <a:lnTo>
                    <a:pt x="116490" y="9525"/>
                  </a:lnTo>
                  <a:lnTo>
                    <a:pt x="74863" y="17918"/>
                  </a:lnTo>
                  <a:lnTo>
                    <a:pt x="40862" y="40814"/>
                  </a:lnTo>
                  <a:lnTo>
                    <a:pt x="17934" y="74783"/>
                  </a:lnTo>
                  <a:lnTo>
                    <a:pt x="9525" y="116395"/>
                  </a:lnTo>
                  <a:lnTo>
                    <a:pt x="9525" y="3290982"/>
                  </a:lnTo>
                  <a:lnTo>
                    <a:pt x="17934" y="3332595"/>
                  </a:lnTo>
                  <a:lnTo>
                    <a:pt x="40862" y="3366563"/>
                  </a:lnTo>
                  <a:lnTo>
                    <a:pt x="74863" y="3389459"/>
                  </a:lnTo>
                  <a:lnTo>
                    <a:pt x="116490" y="3397853"/>
                  </a:lnTo>
                  <a:lnTo>
                    <a:pt x="4599029" y="3397853"/>
                  </a:lnTo>
                  <a:lnTo>
                    <a:pt x="4598466" y="3398232"/>
                  </a:lnTo>
                  <a:lnTo>
                    <a:pt x="4576743" y="3402615"/>
                  </a:lnTo>
                  <a:lnTo>
                    <a:pt x="116490" y="3402615"/>
                  </a:lnTo>
                  <a:lnTo>
                    <a:pt x="116490" y="3404741"/>
                  </a:lnTo>
                  <a:close/>
                </a:path>
                <a:path w="4669790" h="3404870">
                  <a:moveTo>
                    <a:pt x="4599029" y="3397853"/>
                  </a:moveTo>
                  <a:lnTo>
                    <a:pt x="4553140" y="3397853"/>
                  </a:lnTo>
                  <a:lnTo>
                    <a:pt x="4594767" y="3389459"/>
                  </a:lnTo>
                  <a:lnTo>
                    <a:pt x="4628769" y="3366563"/>
                  </a:lnTo>
                  <a:lnTo>
                    <a:pt x="4651697" y="3332595"/>
                  </a:lnTo>
                  <a:lnTo>
                    <a:pt x="4660106" y="3290982"/>
                  </a:lnTo>
                  <a:lnTo>
                    <a:pt x="4660106" y="116395"/>
                  </a:lnTo>
                  <a:lnTo>
                    <a:pt x="4651697" y="74783"/>
                  </a:lnTo>
                  <a:lnTo>
                    <a:pt x="4628769" y="40814"/>
                  </a:lnTo>
                  <a:lnTo>
                    <a:pt x="4594767" y="17918"/>
                  </a:lnTo>
                  <a:lnTo>
                    <a:pt x="4553140" y="9525"/>
                  </a:lnTo>
                  <a:lnTo>
                    <a:pt x="116490" y="9525"/>
                  </a:lnTo>
                  <a:lnTo>
                    <a:pt x="116490" y="4762"/>
                  </a:lnTo>
                  <a:lnTo>
                    <a:pt x="4553140" y="4762"/>
                  </a:lnTo>
                  <a:lnTo>
                    <a:pt x="4553140" y="0"/>
                  </a:lnTo>
                  <a:lnTo>
                    <a:pt x="4598466" y="9145"/>
                  </a:lnTo>
                  <a:lnTo>
                    <a:pt x="4635496" y="34087"/>
                  </a:lnTo>
                  <a:lnTo>
                    <a:pt x="4660470" y="71084"/>
                  </a:lnTo>
                  <a:lnTo>
                    <a:pt x="4669630" y="116395"/>
                  </a:lnTo>
                  <a:lnTo>
                    <a:pt x="4669630" y="3290982"/>
                  </a:lnTo>
                  <a:lnTo>
                    <a:pt x="4660470" y="3336293"/>
                  </a:lnTo>
                  <a:lnTo>
                    <a:pt x="4635496" y="3373290"/>
                  </a:lnTo>
                  <a:lnTo>
                    <a:pt x="4599029" y="3397853"/>
                  </a:lnTo>
                  <a:close/>
                </a:path>
                <a:path w="4669790" h="3404870">
                  <a:moveTo>
                    <a:pt x="4553140" y="3404741"/>
                  </a:moveTo>
                  <a:lnTo>
                    <a:pt x="116490" y="3404741"/>
                  </a:lnTo>
                  <a:lnTo>
                    <a:pt x="116490" y="3402615"/>
                  </a:lnTo>
                  <a:lnTo>
                    <a:pt x="4553140" y="3402615"/>
                  </a:lnTo>
                  <a:lnTo>
                    <a:pt x="4553140" y="3404741"/>
                  </a:lnTo>
                  <a:close/>
                </a:path>
                <a:path w="4669790" h="3404870">
                  <a:moveTo>
                    <a:pt x="4566210" y="3404741"/>
                  </a:moveTo>
                  <a:lnTo>
                    <a:pt x="4553140" y="3404741"/>
                  </a:lnTo>
                  <a:lnTo>
                    <a:pt x="4553140" y="3402615"/>
                  </a:lnTo>
                  <a:lnTo>
                    <a:pt x="4576743" y="3402615"/>
                  </a:lnTo>
                  <a:lnTo>
                    <a:pt x="4566210" y="3404741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2972898" y="3119732"/>
              <a:ext cx="797560" cy="797560"/>
            </a:xfrm>
            <a:custGeom>
              <a:avLst/>
              <a:gdLst/>
              <a:ahLst/>
              <a:cxnLst/>
              <a:rect l="l" t="t" r="r" b="b"/>
              <a:pathLst>
                <a:path w="797559" h="797560">
                  <a:moveTo>
                    <a:pt x="398716" y="797433"/>
                  </a:moveTo>
                  <a:lnTo>
                    <a:pt x="352215" y="794750"/>
                  </a:lnTo>
                  <a:lnTo>
                    <a:pt x="307290" y="786903"/>
                  </a:lnTo>
                  <a:lnTo>
                    <a:pt x="264240" y="774189"/>
                  </a:lnTo>
                  <a:lnTo>
                    <a:pt x="223365" y="756909"/>
                  </a:lnTo>
                  <a:lnTo>
                    <a:pt x="184963" y="735360"/>
                  </a:lnTo>
                  <a:lnTo>
                    <a:pt x="149334" y="709843"/>
                  </a:lnTo>
                  <a:lnTo>
                    <a:pt x="116776" y="680656"/>
                  </a:lnTo>
                  <a:lnTo>
                    <a:pt x="87589" y="648098"/>
                  </a:lnTo>
                  <a:lnTo>
                    <a:pt x="62072" y="612469"/>
                  </a:lnTo>
                  <a:lnTo>
                    <a:pt x="40523" y="574067"/>
                  </a:lnTo>
                  <a:lnTo>
                    <a:pt x="23243" y="533192"/>
                  </a:lnTo>
                  <a:lnTo>
                    <a:pt x="10529" y="490142"/>
                  </a:lnTo>
                  <a:lnTo>
                    <a:pt x="2682" y="445217"/>
                  </a:lnTo>
                  <a:lnTo>
                    <a:pt x="0" y="398716"/>
                  </a:lnTo>
                  <a:lnTo>
                    <a:pt x="2682" y="352215"/>
                  </a:lnTo>
                  <a:lnTo>
                    <a:pt x="10529" y="307290"/>
                  </a:lnTo>
                  <a:lnTo>
                    <a:pt x="23243" y="264240"/>
                  </a:lnTo>
                  <a:lnTo>
                    <a:pt x="40523" y="223365"/>
                  </a:lnTo>
                  <a:lnTo>
                    <a:pt x="62072" y="184963"/>
                  </a:lnTo>
                  <a:lnTo>
                    <a:pt x="87589" y="149334"/>
                  </a:lnTo>
                  <a:lnTo>
                    <a:pt x="116776" y="116776"/>
                  </a:lnTo>
                  <a:lnTo>
                    <a:pt x="149334" y="87589"/>
                  </a:lnTo>
                  <a:lnTo>
                    <a:pt x="184963" y="62072"/>
                  </a:lnTo>
                  <a:lnTo>
                    <a:pt x="223365" y="40523"/>
                  </a:lnTo>
                  <a:lnTo>
                    <a:pt x="264240" y="23243"/>
                  </a:lnTo>
                  <a:lnTo>
                    <a:pt x="307290" y="10529"/>
                  </a:lnTo>
                  <a:lnTo>
                    <a:pt x="352215" y="2682"/>
                  </a:lnTo>
                  <a:lnTo>
                    <a:pt x="398716" y="0"/>
                  </a:lnTo>
                  <a:lnTo>
                    <a:pt x="445217" y="2682"/>
                  </a:lnTo>
                  <a:lnTo>
                    <a:pt x="490142" y="10529"/>
                  </a:lnTo>
                  <a:lnTo>
                    <a:pt x="533192" y="23243"/>
                  </a:lnTo>
                  <a:lnTo>
                    <a:pt x="574067" y="40523"/>
                  </a:lnTo>
                  <a:lnTo>
                    <a:pt x="612469" y="62072"/>
                  </a:lnTo>
                  <a:lnTo>
                    <a:pt x="648098" y="87589"/>
                  </a:lnTo>
                  <a:lnTo>
                    <a:pt x="680656" y="116776"/>
                  </a:lnTo>
                  <a:lnTo>
                    <a:pt x="709843" y="149334"/>
                  </a:lnTo>
                  <a:lnTo>
                    <a:pt x="735360" y="184963"/>
                  </a:lnTo>
                  <a:lnTo>
                    <a:pt x="756909" y="223365"/>
                  </a:lnTo>
                  <a:lnTo>
                    <a:pt x="774189" y="264240"/>
                  </a:lnTo>
                  <a:lnTo>
                    <a:pt x="786903" y="307290"/>
                  </a:lnTo>
                  <a:lnTo>
                    <a:pt x="794750" y="352215"/>
                  </a:lnTo>
                  <a:lnTo>
                    <a:pt x="797433" y="398716"/>
                  </a:lnTo>
                  <a:lnTo>
                    <a:pt x="794750" y="445217"/>
                  </a:lnTo>
                  <a:lnTo>
                    <a:pt x="786903" y="490142"/>
                  </a:lnTo>
                  <a:lnTo>
                    <a:pt x="774189" y="533192"/>
                  </a:lnTo>
                  <a:lnTo>
                    <a:pt x="756909" y="574067"/>
                  </a:lnTo>
                  <a:lnTo>
                    <a:pt x="735360" y="612469"/>
                  </a:lnTo>
                  <a:lnTo>
                    <a:pt x="709843" y="648098"/>
                  </a:lnTo>
                  <a:lnTo>
                    <a:pt x="680656" y="680656"/>
                  </a:lnTo>
                  <a:lnTo>
                    <a:pt x="648098" y="709843"/>
                  </a:lnTo>
                  <a:lnTo>
                    <a:pt x="612469" y="735360"/>
                  </a:lnTo>
                  <a:lnTo>
                    <a:pt x="574067" y="756909"/>
                  </a:lnTo>
                  <a:lnTo>
                    <a:pt x="533192" y="774189"/>
                  </a:lnTo>
                  <a:lnTo>
                    <a:pt x="490142" y="786903"/>
                  </a:lnTo>
                  <a:lnTo>
                    <a:pt x="445217" y="794750"/>
                  </a:lnTo>
                  <a:lnTo>
                    <a:pt x="398716" y="797433"/>
                  </a:lnTo>
                  <a:close/>
                </a:path>
              </a:pathLst>
            </a:custGeom>
            <a:solidFill>
              <a:srgbClr val="596ED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99422" y="3341937"/>
              <a:ext cx="347343" cy="356012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12960197" y="3892585"/>
            <a:ext cx="3827145" cy="1944370"/>
          </a:xfrm>
          <a:prstGeom prst="rect">
            <a:avLst/>
          </a:prstGeom>
        </p:spPr>
        <p:txBody>
          <a:bodyPr wrap="square" lIns="0" tIns="2432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14"/>
              </a:spcBef>
            </a:pPr>
            <a:r>
              <a:rPr dirty="0" sz="2550" spc="-25">
                <a:solidFill>
                  <a:srgbClr val="CFD0D8"/>
                </a:solidFill>
                <a:latin typeface="Roboto"/>
                <a:cs typeface="Roboto"/>
              </a:rPr>
              <a:t>Understand</a:t>
            </a:r>
            <a:r>
              <a:rPr dirty="0" sz="255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50" spc="-10">
                <a:solidFill>
                  <a:srgbClr val="CFD0D8"/>
                </a:solidFill>
                <a:latin typeface="Roboto"/>
                <a:cs typeface="Roboto"/>
              </a:rPr>
              <a:t>Mechanics</a:t>
            </a:r>
            <a:endParaRPr sz="2550">
              <a:latin typeface="Roboto"/>
              <a:cs typeface="Roboto"/>
            </a:endParaRPr>
          </a:p>
          <a:p>
            <a:pPr marL="12700" marR="5080">
              <a:lnSpc>
                <a:spcPct val="128000"/>
              </a:lnSpc>
              <a:spcBef>
                <a:spcPts val="780"/>
              </a:spcBef>
            </a:pP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Knowing</a:t>
            </a:r>
            <a:r>
              <a:rPr dirty="0" sz="20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core</a:t>
            </a:r>
            <a:r>
              <a:rPr dirty="0" sz="205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mechanics</a:t>
            </a:r>
            <a:r>
              <a:rPr dirty="0" sz="205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 spc="-25">
                <a:solidFill>
                  <a:srgbClr val="CFD0D8"/>
                </a:solidFill>
                <a:latin typeface="Roboto"/>
                <a:cs typeface="Roboto"/>
              </a:rPr>
              <a:t>and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limitations</a:t>
            </a:r>
            <a:r>
              <a:rPr dirty="0" sz="2050" spc="-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is</a:t>
            </a:r>
            <a:r>
              <a:rPr dirty="0" sz="205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crucial</a:t>
            </a:r>
            <a:r>
              <a:rPr dirty="0" sz="205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for</a:t>
            </a:r>
            <a:r>
              <a:rPr dirty="0" sz="2050" spc="-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 spc="-10">
                <a:solidFill>
                  <a:srgbClr val="CFD0D8"/>
                </a:solidFill>
                <a:latin typeface="Roboto"/>
                <a:cs typeface="Roboto"/>
              </a:rPr>
              <a:t>effective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data</a:t>
            </a:r>
            <a:r>
              <a:rPr dirty="0" sz="2050" spc="-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 spc="-10">
                <a:solidFill>
                  <a:srgbClr val="CFD0D8"/>
                </a:solidFill>
                <a:latin typeface="Roboto"/>
                <a:cs typeface="Roboto"/>
              </a:rPr>
              <a:t>analysis</a:t>
            </a:r>
            <a:endParaRPr sz="2050">
              <a:latin typeface="Roboto"/>
              <a:cs typeface="Roboto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7783562" y="6486677"/>
            <a:ext cx="9576435" cy="2995930"/>
            <a:chOff x="7783562" y="6486677"/>
            <a:chExt cx="9576435" cy="2995930"/>
          </a:xfrm>
        </p:grpSpPr>
        <p:sp>
          <p:nvSpPr>
            <p:cNvPr id="17" name="object 17" descr=""/>
            <p:cNvSpPr/>
            <p:nvPr/>
          </p:nvSpPr>
          <p:spPr>
            <a:xfrm>
              <a:off x="7788325" y="6491439"/>
              <a:ext cx="9569450" cy="2986405"/>
            </a:xfrm>
            <a:custGeom>
              <a:avLst/>
              <a:gdLst/>
              <a:ahLst/>
              <a:cxnLst/>
              <a:rect l="l" t="t" r="r" b="b"/>
              <a:pathLst>
                <a:path w="9569450" h="2986404">
                  <a:moveTo>
                    <a:pt x="9457467" y="2985896"/>
                  </a:moveTo>
                  <a:lnTo>
                    <a:pt x="111918" y="2985896"/>
                  </a:lnTo>
                  <a:lnTo>
                    <a:pt x="68352" y="2977133"/>
                  </a:lnTo>
                  <a:lnTo>
                    <a:pt x="32777" y="2953226"/>
                  </a:lnTo>
                  <a:lnTo>
                    <a:pt x="8794" y="2917745"/>
                  </a:lnTo>
                  <a:lnTo>
                    <a:pt x="0" y="2874263"/>
                  </a:lnTo>
                  <a:lnTo>
                    <a:pt x="0" y="111632"/>
                  </a:lnTo>
                  <a:lnTo>
                    <a:pt x="8794" y="68191"/>
                  </a:lnTo>
                  <a:lnTo>
                    <a:pt x="32777" y="32706"/>
                  </a:lnTo>
                  <a:lnTo>
                    <a:pt x="68352" y="8776"/>
                  </a:lnTo>
                  <a:lnTo>
                    <a:pt x="111918" y="0"/>
                  </a:lnTo>
                  <a:lnTo>
                    <a:pt x="9457467" y="0"/>
                  </a:lnTo>
                  <a:lnTo>
                    <a:pt x="9501033" y="8776"/>
                  </a:lnTo>
                  <a:lnTo>
                    <a:pt x="9536608" y="32706"/>
                  </a:lnTo>
                  <a:lnTo>
                    <a:pt x="9560591" y="68191"/>
                  </a:lnTo>
                  <a:lnTo>
                    <a:pt x="9569385" y="111632"/>
                  </a:lnTo>
                  <a:lnTo>
                    <a:pt x="9569385" y="2874263"/>
                  </a:lnTo>
                  <a:lnTo>
                    <a:pt x="9560564" y="2917745"/>
                  </a:lnTo>
                  <a:lnTo>
                    <a:pt x="9536555" y="2953226"/>
                  </a:lnTo>
                  <a:lnTo>
                    <a:pt x="9500967" y="2977133"/>
                  </a:lnTo>
                  <a:lnTo>
                    <a:pt x="9457467" y="2985896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783562" y="6486677"/>
              <a:ext cx="9576435" cy="2995930"/>
            </a:xfrm>
            <a:custGeom>
              <a:avLst/>
              <a:gdLst/>
              <a:ahLst/>
              <a:cxnLst/>
              <a:rect l="l" t="t" r="r" b="b"/>
              <a:pathLst>
                <a:path w="9576435" h="2995929">
                  <a:moveTo>
                    <a:pt x="116681" y="2995421"/>
                  </a:moveTo>
                  <a:lnTo>
                    <a:pt x="116493" y="2995421"/>
                  </a:lnTo>
                  <a:lnTo>
                    <a:pt x="71245" y="2986276"/>
                  </a:lnTo>
                  <a:lnTo>
                    <a:pt x="34159" y="2961334"/>
                  </a:lnTo>
                  <a:lnTo>
                    <a:pt x="9163" y="2924336"/>
                  </a:lnTo>
                  <a:lnTo>
                    <a:pt x="0" y="2879026"/>
                  </a:lnTo>
                  <a:lnTo>
                    <a:pt x="0" y="116395"/>
                  </a:lnTo>
                  <a:lnTo>
                    <a:pt x="9163" y="71084"/>
                  </a:lnTo>
                  <a:lnTo>
                    <a:pt x="34159" y="34087"/>
                  </a:lnTo>
                  <a:lnTo>
                    <a:pt x="71245" y="9145"/>
                  </a:lnTo>
                  <a:lnTo>
                    <a:pt x="116681" y="0"/>
                  </a:lnTo>
                  <a:lnTo>
                    <a:pt x="9462229" y="0"/>
                  </a:lnTo>
                  <a:lnTo>
                    <a:pt x="9462229" y="4762"/>
                  </a:lnTo>
                  <a:lnTo>
                    <a:pt x="116681" y="4762"/>
                  </a:lnTo>
                  <a:lnTo>
                    <a:pt x="116681" y="9524"/>
                  </a:lnTo>
                  <a:lnTo>
                    <a:pt x="74943" y="17918"/>
                  </a:lnTo>
                  <a:lnTo>
                    <a:pt x="40886" y="40814"/>
                  </a:lnTo>
                  <a:lnTo>
                    <a:pt x="17936" y="74783"/>
                  </a:lnTo>
                  <a:lnTo>
                    <a:pt x="9525" y="116395"/>
                  </a:lnTo>
                  <a:lnTo>
                    <a:pt x="9525" y="2879026"/>
                  </a:lnTo>
                  <a:lnTo>
                    <a:pt x="17936" y="2920638"/>
                  </a:lnTo>
                  <a:lnTo>
                    <a:pt x="40886" y="2954607"/>
                  </a:lnTo>
                  <a:lnTo>
                    <a:pt x="74943" y="2977502"/>
                  </a:lnTo>
                  <a:lnTo>
                    <a:pt x="116681" y="2985896"/>
                  </a:lnTo>
                  <a:lnTo>
                    <a:pt x="9508229" y="2985896"/>
                  </a:lnTo>
                  <a:lnTo>
                    <a:pt x="9507665" y="2986276"/>
                  </a:lnTo>
                  <a:lnTo>
                    <a:pt x="9485890" y="2990659"/>
                  </a:lnTo>
                  <a:lnTo>
                    <a:pt x="116681" y="2990659"/>
                  </a:lnTo>
                  <a:lnTo>
                    <a:pt x="116681" y="2995421"/>
                  </a:lnTo>
                  <a:close/>
                </a:path>
                <a:path w="9576435" h="2995929">
                  <a:moveTo>
                    <a:pt x="9508229" y="2985896"/>
                  </a:moveTo>
                  <a:lnTo>
                    <a:pt x="9462229" y="2985896"/>
                  </a:lnTo>
                  <a:lnTo>
                    <a:pt x="9503925" y="2977502"/>
                  </a:lnTo>
                  <a:lnTo>
                    <a:pt x="9537988" y="2954607"/>
                  </a:lnTo>
                  <a:lnTo>
                    <a:pt x="9560960" y="2920638"/>
                  </a:lnTo>
                  <a:lnTo>
                    <a:pt x="9569385" y="2879026"/>
                  </a:lnTo>
                  <a:lnTo>
                    <a:pt x="9569385" y="116395"/>
                  </a:lnTo>
                  <a:lnTo>
                    <a:pt x="9560973" y="74783"/>
                  </a:lnTo>
                  <a:lnTo>
                    <a:pt x="9538024" y="40814"/>
                  </a:lnTo>
                  <a:lnTo>
                    <a:pt x="9503966" y="17918"/>
                  </a:lnTo>
                  <a:lnTo>
                    <a:pt x="9462229" y="9524"/>
                  </a:lnTo>
                  <a:lnTo>
                    <a:pt x="116681" y="9524"/>
                  </a:lnTo>
                  <a:lnTo>
                    <a:pt x="116681" y="4762"/>
                  </a:lnTo>
                  <a:lnTo>
                    <a:pt x="9462229" y="4762"/>
                  </a:lnTo>
                  <a:lnTo>
                    <a:pt x="9462229" y="0"/>
                  </a:lnTo>
                  <a:lnTo>
                    <a:pt x="9507624" y="9145"/>
                  </a:lnTo>
                  <a:lnTo>
                    <a:pt x="9544715" y="34087"/>
                  </a:lnTo>
                  <a:lnTo>
                    <a:pt x="9569733" y="71084"/>
                  </a:lnTo>
                  <a:lnTo>
                    <a:pt x="9575961" y="101833"/>
                  </a:lnTo>
                  <a:lnTo>
                    <a:pt x="9575961" y="2893609"/>
                  </a:lnTo>
                  <a:lnTo>
                    <a:pt x="9569747" y="2924336"/>
                  </a:lnTo>
                  <a:lnTo>
                    <a:pt x="9544751" y="2961334"/>
                  </a:lnTo>
                  <a:lnTo>
                    <a:pt x="9508229" y="2985896"/>
                  </a:lnTo>
                  <a:close/>
                </a:path>
                <a:path w="9576435" h="2995929">
                  <a:moveTo>
                    <a:pt x="9462229" y="2995421"/>
                  </a:moveTo>
                  <a:lnTo>
                    <a:pt x="116673" y="2995421"/>
                  </a:lnTo>
                  <a:lnTo>
                    <a:pt x="116681" y="2990659"/>
                  </a:lnTo>
                  <a:lnTo>
                    <a:pt x="9462229" y="2990659"/>
                  </a:lnTo>
                  <a:lnTo>
                    <a:pt x="9462229" y="2995421"/>
                  </a:lnTo>
                  <a:close/>
                </a:path>
                <a:path w="9576435" h="2995929">
                  <a:moveTo>
                    <a:pt x="9462229" y="2995421"/>
                  </a:moveTo>
                  <a:lnTo>
                    <a:pt x="9462229" y="2990659"/>
                  </a:lnTo>
                  <a:lnTo>
                    <a:pt x="9485890" y="2990659"/>
                  </a:lnTo>
                  <a:lnTo>
                    <a:pt x="9462229" y="2995421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063655" y="6766769"/>
              <a:ext cx="797560" cy="797560"/>
            </a:xfrm>
            <a:custGeom>
              <a:avLst/>
              <a:gdLst/>
              <a:ahLst/>
              <a:cxnLst/>
              <a:rect l="l" t="t" r="r" b="b"/>
              <a:pathLst>
                <a:path w="797559" h="797559">
                  <a:moveTo>
                    <a:pt x="398716" y="797433"/>
                  </a:moveTo>
                  <a:lnTo>
                    <a:pt x="352215" y="794750"/>
                  </a:lnTo>
                  <a:lnTo>
                    <a:pt x="307290" y="786903"/>
                  </a:lnTo>
                  <a:lnTo>
                    <a:pt x="264240" y="774189"/>
                  </a:lnTo>
                  <a:lnTo>
                    <a:pt x="223365" y="756909"/>
                  </a:lnTo>
                  <a:lnTo>
                    <a:pt x="184963" y="735360"/>
                  </a:lnTo>
                  <a:lnTo>
                    <a:pt x="149334" y="709843"/>
                  </a:lnTo>
                  <a:lnTo>
                    <a:pt x="116776" y="680656"/>
                  </a:lnTo>
                  <a:lnTo>
                    <a:pt x="87589" y="648098"/>
                  </a:lnTo>
                  <a:lnTo>
                    <a:pt x="62072" y="612469"/>
                  </a:lnTo>
                  <a:lnTo>
                    <a:pt x="40523" y="574067"/>
                  </a:lnTo>
                  <a:lnTo>
                    <a:pt x="23243" y="533192"/>
                  </a:lnTo>
                  <a:lnTo>
                    <a:pt x="10529" y="490142"/>
                  </a:lnTo>
                  <a:lnTo>
                    <a:pt x="2682" y="445217"/>
                  </a:lnTo>
                  <a:lnTo>
                    <a:pt x="0" y="398716"/>
                  </a:lnTo>
                  <a:lnTo>
                    <a:pt x="2682" y="352215"/>
                  </a:lnTo>
                  <a:lnTo>
                    <a:pt x="10529" y="307290"/>
                  </a:lnTo>
                  <a:lnTo>
                    <a:pt x="23243" y="264240"/>
                  </a:lnTo>
                  <a:lnTo>
                    <a:pt x="40523" y="223365"/>
                  </a:lnTo>
                  <a:lnTo>
                    <a:pt x="62072" y="184963"/>
                  </a:lnTo>
                  <a:lnTo>
                    <a:pt x="87589" y="149334"/>
                  </a:lnTo>
                  <a:lnTo>
                    <a:pt x="116776" y="116776"/>
                  </a:lnTo>
                  <a:lnTo>
                    <a:pt x="149334" y="87589"/>
                  </a:lnTo>
                  <a:lnTo>
                    <a:pt x="184963" y="62072"/>
                  </a:lnTo>
                  <a:lnTo>
                    <a:pt x="223365" y="40523"/>
                  </a:lnTo>
                  <a:lnTo>
                    <a:pt x="264240" y="23243"/>
                  </a:lnTo>
                  <a:lnTo>
                    <a:pt x="307290" y="10529"/>
                  </a:lnTo>
                  <a:lnTo>
                    <a:pt x="352215" y="2682"/>
                  </a:lnTo>
                  <a:lnTo>
                    <a:pt x="398716" y="0"/>
                  </a:lnTo>
                  <a:lnTo>
                    <a:pt x="445217" y="2682"/>
                  </a:lnTo>
                  <a:lnTo>
                    <a:pt x="490142" y="10529"/>
                  </a:lnTo>
                  <a:lnTo>
                    <a:pt x="533192" y="23243"/>
                  </a:lnTo>
                  <a:lnTo>
                    <a:pt x="574067" y="40523"/>
                  </a:lnTo>
                  <a:lnTo>
                    <a:pt x="612469" y="62072"/>
                  </a:lnTo>
                  <a:lnTo>
                    <a:pt x="648098" y="87589"/>
                  </a:lnTo>
                  <a:lnTo>
                    <a:pt x="680656" y="116776"/>
                  </a:lnTo>
                  <a:lnTo>
                    <a:pt x="709843" y="149334"/>
                  </a:lnTo>
                  <a:lnTo>
                    <a:pt x="735360" y="184963"/>
                  </a:lnTo>
                  <a:lnTo>
                    <a:pt x="756909" y="223365"/>
                  </a:lnTo>
                  <a:lnTo>
                    <a:pt x="774189" y="264240"/>
                  </a:lnTo>
                  <a:lnTo>
                    <a:pt x="786903" y="307290"/>
                  </a:lnTo>
                  <a:lnTo>
                    <a:pt x="794750" y="352215"/>
                  </a:lnTo>
                  <a:lnTo>
                    <a:pt x="797433" y="398716"/>
                  </a:lnTo>
                  <a:lnTo>
                    <a:pt x="794750" y="445217"/>
                  </a:lnTo>
                  <a:lnTo>
                    <a:pt x="786903" y="490142"/>
                  </a:lnTo>
                  <a:lnTo>
                    <a:pt x="774189" y="533192"/>
                  </a:lnTo>
                  <a:lnTo>
                    <a:pt x="756909" y="574067"/>
                  </a:lnTo>
                  <a:lnTo>
                    <a:pt x="735360" y="612469"/>
                  </a:lnTo>
                  <a:lnTo>
                    <a:pt x="709843" y="648098"/>
                  </a:lnTo>
                  <a:lnTo>
                    <a:pt x="680656" y="680656"/>
                  </a:lnTo>
                  <a:lnTo>
                    <a:pt x="648098" y="709843"/>
                  </a:lnTo>
                  <a:lnTo>
                    <a:pt x="612469" y="735360"/>
                  </a:lnTo>
                  <a:lnTo>
                    <a:pt x="574067" y="756909"/>
                  </a:lnTo>
                  <a:lnTo>
                    <a:pt x="533192" y="774189"/>
                  </a:lnTo>
                  <a:lnTo>
                    <a:pt x="490142" y="786903"/>
                  </a:lnTo>
                  <a:lnTo>
                    <a:pt x="445217" y="794750"/>
                  </a:lnTo>
                  <a:lnTo>
                    <a:pt x="398716" y="797433"/>
                  </a:lnTo>
                  <a:close/>
                </a:path>
              </a:pathLst>
            </a:custGeom>
            <a:solidFill>
              <a:srgbClr val="596ED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97531" y="7000623"/>
              <a:ext cx="340148" cy="340092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8050955" y="7539621"/>
            <a:ext cx="8560435" cy="1544320"/>
          </a:xfrm>
          <a:prstGeom prst="rect">
            <a:avLst/>
          </a:prstGeom>
        </p:spPr>
        <p:txBody>
          <a:bodyPr wrap="square" lIns="0" tIns="2432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14"/>
              </a:spcBef>
            </a:pPr>
            <a:r>
              <a:rPr dirty="0" sz="2550">
                <a:solidFill>
                  <a:srgbClr val="CFD0D8"/>
                </a:solidFill>
                <a:latin typeface="Roboto"/>
                <a:cs typeface="Roboto"/>
              </a:rPr>
              <a:t>Choose</a:t>
            </a:r>
            <a:r>
              <a:rPr dirty="0" sz="25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50" spc="-10">
                <a:solidFill>
                  <a:srgbClr val="CFD0D8"/>
                </a:solidFill>
                <a:latin typeface="Roboto"/>
                <a:cs typeface="Roboto"/>
              </a:rPr>
              <a:t>Wisely</a:t>
            </a:r>
            <a:endParaRPr sz="2550">
              <a:latin typeface="Roboto"/>
              <a:cs typeface="Roboto"/>
            </a:endParaRPr>
          </a:p>
          <a:p>
            <a:pPr marL="12700" marR="5080">
              <a:lnSpc>
                <a:spcPct val="128000"/>
              </a:lnSpc>
              <a:spcBef>
                <a:spcPts val="780"/>
              </a:spcBef>
            </a:pP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Select</a:t>
            </a:r>
            <a:r>
              <a:rPr dirty="0" sz="205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the</a:t>
            </a:r>
            <a:r>
              <a:rPr dirty="0" sz="205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algorithm</a:t>
            </a:r>
            <a:r>
              <a:rPr dirty="0" sz="205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that</a:t>
            </a:r>
            <a:r>
              <a:rPr dirty="0" sz="205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matches</a:t>
            </a:r>
            <a:r>
              <a:rPr dirty="0" sz="205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your</a:t>
            </a:r>
            <a:r>
              <a:rPr dirty="0" sz="205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data</a:t>
            </a:r>
            <a:r>
              <a:rPr dirty="0" sz="205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 spc="-10">
                <a:solidFill>
                  <a:srgbClr val="CFD0D8"/>
                </a:solidFill>
                <a:latin typeface="Roboto"/>
                <a:cs typeface="Roboto"/>
              </a:rPr>
              <a:t>characteristics</a:t>
            </a:r>
            <a:r>
              <a:rPr dirty="0" sz="205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to</a:t>
            </a:r>
            <a:r>
              <a:rPr dirty="0" sz="205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unlock</a:t>
            </a:r>
            <a:r>
              <a:rPr dirty="0" sz="205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 spc="-20">
                <a:solidFill>
                  <a:srgbClr val="CFD0D8"/>
                </a:solidFill>
                <a:latin typeface="Roboto"/>
                <a:cs typeface="Roboto"/>
              </a:rPr>
              <a:t>true </a:t>
            </a:r>
            <a:r>
              <a:rPr dirty="0" sz="2050" spc="-10">
                <a:solidFill>
                  <a:srgbClr val="CFD0D8"/>
                </a:solidFill>
                <a:latin typeface="Roboto"/>
                <a:cs typeface="Roboto"/>
              </a:rPr>
              <a:t>patterns</a:t>
            </a:r>
            <a:endParaRPr sz="20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24923" y="4631442"/>
            <a:ext cx="3900804" cy="8731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50"/>
              <a:t>THANK</a:t>
            </a:r>
            <a:r>
              <a:rPr dirty="0" sz="5550" spc="45"/>
              <a:t> </a:t>
            </a:r>
            <a:r>
              <a:rPr dirty="0" sz="5550" spc="-35"/>
              <a:t>YOU</a:t>
            </a:r>
            <a:endParaRPr sz="55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Shivay</dc:creator>
  <cp:keywords>DAHHA8d07LM,BAHHArJ3V4g,0</cp:keywords>
  <dc:title>DBSCAN-vs-K-Means-Choosing-the-Right-Clustering-Algorithm.pptx</dc:title>
  <dcterms:created xsi:type="dcterms:W3CDTF">2026-04-16T11:18:45Z</dcterms:created>
  <dcterms:modified xsi:type="dcterms:W3CDTF">2026-04-16T11:18:45Z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2026-04-16T00:00:00Z</vt:filetime>
  </property>
  <property fmtid="{D5CDD505-2E9C-101B-9397-08002B2CF9AE}" pid="3" name="Creator">
    <vt:lpwstr>Canva</vt:lpwstr>
  </property>
  <property fmtid="{D5CDD505-2E9C-101B-9397-08002B2CF9AE}" pid="4" name="LastSaved">
    <vt:filetime>2026-04-16T00:00:00Z</vt:filetime>
  </property>
  <property fmtid="{D5CDD505-2E9C-101B-9397-08002B2CF9AE}" pid="5" name="Producer">
    <vt:lpwstr>Canva</vt:lpwstr>
  </property>
</Properties>
</file>