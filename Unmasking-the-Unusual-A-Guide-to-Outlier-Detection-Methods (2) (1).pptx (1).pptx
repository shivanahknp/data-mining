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17">
              <a:alpha val="94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3505" y="595414"/>
            <a:ext cx="15751794" cy="17947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02071" y="2553738"/>
            <a:ext cx="8637269" cy="669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CFD0D8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14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3.png"/><Relationship Id="rId4" Type="http://schemas.openxmlformats.org/officeDocument/2006/relationships/image" Target="../media/image16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37538" y="2533560"/>
            <a:ext cx="8253095" cy="262572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ts val="6900"/>
              </a:lnSpc>
            </a:pPr>
            <a:r>
              <a:rPr dirty="0" sz="5550" spc="-40"/>
              <a:t>Unmasking</a:t>
            </a:r>
            <a:r>
              <a:rPr dirty="0" sz="5550" spc="-229"/>
              <a:t> </a:t>
            </a:r>
            <a:r>
              <a:rPr dirty="0" sz="5550"/>
              <a:t>the</a:t>
            </a:r>
            <a:r>
              <a:rPr dirty="0" sz="5550" spc="-229"/>
              <a:t> </a:t>
            </a:r>
            <a:r>
              <a:rPr dirty="0" sz="5550" spc="-50"/>
              <a:t>Unusual:</a:t>
            </a:r>
            <a:r>
              <a:rPr dirty="0" sz="5550" spc="-229"/>
              <a:t> </a:t>
            </a:r>
            <a:r>
              <a:rPr dirty="0" sz="5550" spc="55"/>
              <a:t>A </a:t>
            </a:r>
            <a:r>
              <a:rPr dirty="0" sz="5550"/>
              <a:t>Guide</a:t>
            </a:r>
            <a:r>
              <a:rPr dirty="0" sz="5550" spc="-180"/>
              <a:t> </a:t>
            </a:r>
            <a:r>
              <a:rPr dirty="0" sz="5550"/>
              <a:t>to</a:t>
            </a:r>
            <a:r>
              <a:rPr dirty="0" sz="5550" spc="-180"/>
              <a:t> </a:t>
            </a:r>
            <a:r>
              <a:rPr dirty="0" sz="5550" spc="-10"/>
              <a:t>Outlier</a:t>
            </a:r>
            <a:r>
              <a:rPr dirty="0" sz="5550" spc="-180"/>
              <a:t> </a:t>
            </a:r>
            <a:r>
              <a:rPr dirty="0" sz="5550" spc="-10"/>
              <a:t>Detection Methods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7837538" y="5640501"/>
            <a:ext cx="7938770" cy="190436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Discovering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techniques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identify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unusual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endParaRPr sz="2150">
              <a:latin typeface="Roboto"/>
              <a:cs typeface="Roboto"/>
            </a:endParaRPr>
          </a:p>
          <a:p>
            <a:pPr marL="81280" marR="3525520" indent="-69215">
              <a:lnSpc>
                <a:spcPct val="235800"/>
              </a:lnSpc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Submitted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10">
                <a:solidFill>
                  <a:srgbClr val="CFD0D8"/>
                </a:solidFill>
                <a:latin typeface="Roboto"/>
                <a:cs typeface="Roboto"/>
              </a:rPr>
              <a:t>to:-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Dr.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Anirudha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Gaikwad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Assistant</a:t>
            </a:r>
            <a:r>
              <a:rPr dirty="0" sz="21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Professor(Dept</a:t>
            </a:r>
            <a:r>
              <a:rPr dirty="0" sz="21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150" spc="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CSE)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274157"/>
            <a:ext cx="1534160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The</a:t>
            </a:r>
            <a:r>
              <a:rPr dirty="0" sz="5550" spc="-235"/>
              <a:t> </a:t>
            </a:r>
            <a:r>
              <a:rPr dirty="0" sz="5550" spc="-10"/>
              <a:t>Silent</a:t>
            </a:r>
            <a:r>
              <a:rPr dirty="0" sz="5550" spc="-229"/>
              <a:t> </a:t>
            </a:r>
            <a:r>
              <a:rPr dirty="0" sz="5550" spc="-30"/>
              <a:t>Signals:</a:t>
            </a:r>
            <a:r>
              <a:rPr dirty="0" sz="5550" spc="-229"/>
              <a:t> </a:t>
            </a:r>
            <a:r>
              <a:rPr dirty="0" sz="5550"/>
              <a:t>Why</a:t>
            </a:r>
            <a:r>
              <a:rPr dirty="0" sz="5550" spc="-235"/>
              <a:t> </a:t>
            </a:r>
            <a:r>
              <a:rPr dirty="0" sz="5550" spc="-10"/>
              <a:t>Outlier</a:t>
            </a:r>
            <a:r>
              <a:rPr dirty="0" sz="5550" spc="-229"/>
              <a:t> </a:t>
            </a:r>
            <a:r>
              <a:rPr dirty="0" sz="5550" spc="-20"/>
              <a:t>Detection</a:t>
            </a:r>
            <a:r>
              <a:rPr dirty="0" sz="5550" spc="-229"/>
              <a:t> </a:t>
            </a:r>
            <a:r>
              <a:rPr dirty="0" sz="5550" spc="-10"/>
              <a:t>Matters</a:t>
            </a:r>
            <a:endParaRPr sz="5550"/>
          </a:p>
        </p:txBody>
      </p:sp>
      <p:grpSp>
        <p:nvGrpSpPr>
          <p:cNvPr id="3" name="object 3" descr=""/>
          <p:cNvGrpSpPr/>
          <p:nvPr/>
        </p:nvGrpSpPr>
        <p:grpSpPr>
          <a:xfrm>
            <a:off x="987475" y="3791397"/>
            <a:ext cx="5251450" cy="4157345"/>
            <a:chOff x="987475" y="3791397"/>
            <a:chExt cx="5251450" cy="4157345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3796160"/>
              <a:ext cx="5245735" cy="4147820"/>
            </a:xfrm>
            <a:custGeom>
              <a:avLst/>
              <a:gdLst/>
              <a:ahLst/>
              <a:cxnLst/>
              <a:rect l="l" t="t" r="r" b="b"/>
              <a:pathLst>
                <a:path w="5245735" h="4147820">
                  <a:moveTo>
                    <a:pt x="5126259" y="4147661"/>
                  </a:moveTo>
                  <a:lnTo>
                    <a:pt x="119157" y="4147661"/>
                  </a:lnTo>
                  <a:lnTo>
                    <a:pt x="72772" y="4138313"/>
                  </a:lnTo>
                  <a:lnTo>
                    <a:pt x="34897" y="4112811"/>
                  </a:lnTo>
                  <a:lnTo>
                    <a:pt x="9362" y="4074969"/>
                  </a:lnTo>
                  <a:lnTo>
                    <a:pt x="0" y="4028598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354" y="0"/>
                  </a:lnTo>
                  <a:lnTo>
                    <a:pt x="5172685" y="9361"/>
                  </a:lnTo>
                  <a:lnTo>
                    <a:pt x="5210532" y="34885"/>
                  </a:lnTo>
                  <a:lnTo>
                    <a:pt x="5236056" y="72732"/>
                  </a:lnTo>
                  <a:lnTo>
                    <a:pt x="5245417" y="119062"/>
                  </a:lnTo>
                  <a:lnTo>
                    <a:pt x="5245417" y="4028598"/>
                  </a:lnTo>
                  <a:lnTo>
                    <a:pt x="5236027" y="4074969"/>
                  </a:lnTo>
                  <a:lnTo>
                    <a:pt x="5210467" y="4112811"/>
                  </a:lnTo>
                  <a:lnTo>
                    <a:pt x="5172578" y="4138313"/>
                  </a:lnTo>
                  <a:lnTo>
                    <a:pt x="5126259" y="414766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7475" y="3791397"/>
              <a:ext cx="5251450" cy="4157345"/>
            </a:xfrm>
            <a:custGeom>
              <a:avLst/>
              <a:gdLst/>
              <a:ahLst/>
              <a:cxnLst/>
              <a:rect l="l" t="t" r="r" b="b"/>
              <a:pathLst>
                <a:path w="5251450" h="4157345">
                  <a:moveTo>
                    <a:pt x="123920" y="4157186"/>
                  </a:moveTo>
                  <a:lnTo>
                    <a:pt x="123780" y="4157186"/>
                  </a:lnTo>
                  <a:lnTo>
                    <a:pt x="75705" y="4147455"/>
                  </a:lnTo>
                  <a:lnTo>
                    <a:pt x="36314" y="4120919"/>
                  </a:lnTo>
                  <a:lnTo>
                    <a:pt x="9745" y="4081560"/>
                  </a:lnTo>
                  <a:lnTo>
                    <a:pt x="0" y="4033361"/>
                  </a:lnTo>
                  <a:lnTo>
                    <a:pt x="0" y="123825"/>
                  </a:lnTo>
                  <a:lnTo>
                    <a:pt x="9731" y="75625"/>
                  </a:lnTo>
                  <a:lnTo>
                    <a:pt x="36278" y="36266"/>
                  </a:lnTo>
                  <a:lnTo>
                    <a:pt x="75665" y="9730"/>
                  </a:lnTo>
                  <a:lnTo>
                    <a:pt x="123920" y="0"/>
                  </a:lnTo>
                  <a:lnTo>
                    <a:pt x="5131117" y="0"/>
                  </a:lnTo>
                  <a:lnTo>
                    <a:pt x="5131117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4033361"/>
                  </a:lnTo>
                  <a:lnTo>
                    <a:pt x="18518" y="4077862"/>
                  </a:lnTo>
                  <a:lnTo>
                    <a:pt x="43041" y="4114192"/>
                  </a:lnTo>
                  <a:lnTo>
                    <a:pt x="79404" y="4138682"/>
                  </a:lnTo>
                  <a:lnTo>
                    <a:pt x="123920" y="4147661"/>
                  </a:lnTo>
                  <a:lnTo>
                    <a:pt x="5178353" y="4147661"/>
                  </a:lnTo>
                  <a:lnTo>
                    <a:pt x="5154735" y="4152423"/>
                  </a:lnTo>
                  <a:lnTo>
                    <a:pt x="123920" y="4152423"/>
                  </a:lnTo>
                  <a:lnTo>
                    <a:pt x="123920" y="4157186"/>
                  </a:lnTo>
                  <a:close/>
                </a:path>
                <a:path w="5251450" h="4157345">
                  <a:moveTo>
                    <a:pt x="5178353" y="4147661"/>
                  </a:moveTo>
                  <a:lnTo>
                    <a:pt x="5131117" y="4147661"/>
                  </a:lnTo>
                  <a:lnTo>
                    <a:pt x="5175633" y="4138682"/>
                  </a:lnTo>
                  <a:lnTo>
                    <a:pt x="5211996" y="4114192"/>
                  </a:lnTo>
                  <a:lnTo>
                    <a:pt x="5236518" y="4077862"/>
                  </a:lnTo>
                  <a:lnTo>
                    <a:pt x="5245512" y="4033361"/>
                  </a:lnTo>
                  <a:lnTo>
                    <a:pt x="5245512" y="123825"/>
                  </a:lnTo>
                  <a:lnTo>
                    <a:pt x="5236518" y="79323"/>
                  </a:lnTo>
                  <a:lnTo>
                    <a:pt x="5211996" y="42993"/>
                  </a:lnTo>
                  <a:lnTo>
                    <a:pt x="5175633" y="18503"/>
                  </a:lnTo>
                  <a:lnTo>
                    <a:pt x="5131117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117" y="4762"/>
                  </a:lnTo>
                  <a:lnTo>
                    <a:pt x="5131117" y="0"/>
                  </a:lnTo>
                  <a:lnTo>
                    <a:pt x="5179331" y="9730"/>
                  </a:lnTo>
                  <a:lnTo>
                    <a:pt x="5218723" y="36266"/>
                  </a:lnTo>
                  <a:lnTo>
                    <a:pt x="5245292" y="75625"/>
                  </a:lnTo>
                  <a:lnTo>
                    <a:pt x="5251218" y="104936"/>
                  </a:lnTo>
                  <a:lnTo>
                    <a:pt x="5251218" y="4052276"/>
                  </a:lnTo>
                  <a:lnTo>
                    <a:pt x="5245305" y="4081560"/>
                  </a:lnTo>
                  <a:lnTo>
                    <a:pt x="5218759" y="4120919"/>
                  </a:lnTo>
                  <a:lnTo>
                    <a:pt x="5179371" y="4147455"/>
                  </a:lnTo>
                  <a:lnTo>
                    <a:pt x="5178353" y="4147661"/>
                  </a:lnTo>
                  <a:close/>
                </a:path>
                <a:path w="5251450" h="4157345">
                  <a:moveTo>
                    <a:pt x="5131117" y="4157186"/>
                  </a:moveTo>
                  <a:lnTo>
                    <a:pt x="123914" y="4157186"/>
                  </a:lnTo>
                  <a:lnTo>
                    <a:pt x="123920" y="4152423"/>
                  </a:lnTo>
                  <a:lnTo>
                    <a:pt x="5131117" y="4152423"/>
                  </a:lnTo>
                  <a:lnTo>
                    <a:pt x="5131117" y="4157186"/>
                  </a:lnTo>
                  <a:close/>
                </a:path>
                <a:path w="5251450" h="4157345">
                  <a:moveTo>
                    <a:pt x="5131117" y="4157186"/>
                  </a:moveTo>
                  <a:lnTo>
                    <a:pt x="5131117" y="4152423"/>
                  </a:lnTo>
                  <a:lnTo>
                    <a:pt x="5154735" y="4152423"/>
                  </a:lnTo>
                  <a:lnTo>
                    <a:pt x="5131117" y="415718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285284" y="4089196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519237" y="4540865"/>
              <a:ext cx="374650" cy="144145"/>
            </a:xfrm>
            <a:custGeom>
              <a:avLst/>
              <a:gdLst/>
              <a:ahLst/>
              <a:cxnLst/>
              <a:rect l="l" t="t" r="r" b="b"/>
              <a:pathLst>
                <a:path w="374650" h="144145">
                  <a:moveTo>
                    <a:pt x="374075" y="133507"/>
                  </a:moveTo>
                  <a:lnTo>
                    <a:pt x="337371" y="143847"/>
                  </a:lnTo>
                  <a:lnTo>
                    <a:pt x="322916" y="144038"/>
                  </a:lnTo>
                </a:path>
                <a:path w="374650" h="144145">
                  <a:moveTo>
                    <a:pt x="49010" y="143941"/>
                  </a:moveTo>
                  <a:lnTo>
                    <a:pt x="36875" y="143789"/>
                  </a:lnTo>
                </a:path>
                <a:path w="374650" h="144145">
                  <a:moveTo>
                    <a:pt x="191111" y="23834"/>
                  </a:moveTo>
                  <a:lnTo>
                    <a:pt x="208730" y="3999"/>
                  </a:lnTo>
                  <a:lnTo>
                    <a:pt x="208768" y="0"/>
                  </a:lnTo>
                </a:path>
                <a:path w="374650" h="144145">
                  <a:moveTo>
                    <a:pt x="36875" y="143790"/>
                  </a:moveTo>
                  <a:lnTo>
                    <a:pt x="1455" y="127351"/>
                  </a:lnTo>
                  <a:lnTo>
                    <a:pt x="0" y="124972"/>
                  </a:lnTo>
                </a:path>
                <a:path w="374650" h="144145">
                  <a:moveTo>
                    <a:pt x="0" y="80417"/>
                  </a:moveTo>
                  <a:lnTo>
                    <a:pt x="5024" y="71520"/>
                  </a:lnTo>
                  <a:lnTo>
                    <a:pt x="13649" y="56957"/>
                  </a:lnTo>
                </a:path>
              </a:pathLst>
            </a:custGeom>
            <a:ln w="174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5762" y="4333365"/>
              <a:ext cx="100567" cy="12459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532886" y="4364511"/>
              <a:ext cx="367665" cy="320675"/>
            </a:xfrm>
            <a:custGeom>
              <a:avLst/>
              <a:gdLst/>
              <a:ahLst/>
              <a:cxnLst/>
              <a:rect l="l" t="t" r="r" b="b"/>
              <a:pathLst>
                <a:path w="367664" h="320675">
                  <a:moveTo>
                    <a:pt x="160402" y="245096"/>
                  </a:moveTo>
                  <a:lnTo>
                    <a:pt x="158886" y="247554"/>
                  </a:lnTo>
                  <a:lnTo>
                    <a:pt x="157940" y="250214"/>
                  </a:lnTo>
                  <a:lnTo>
                    <a:pt x="157563" y="253075"/>
                  </a:lnTo>
                  <a:lnTo>
                    <a:pt x="157186" y="255936"/>
                  </a:lnTo>
                  <a:lnTo>
                    <a:pt x="157411" y="258750"/>
                  </a:lnTo>
                  <a:lnTo>
                    <a:pt x="166446" y="272844"/>
                  </a:lnTo>
                  <a:lnTo>
                    <a:pt x="169064" y="274074"/>
                  </a:lnTo>
                </a:path>
                <a:path w="367664" h="320675">
                  <a:moveTo>
                    <a:pt x="160144" y="244931"/>
                  </a:moveTo>
                  <a:lnTo>
                    <a:pt x="172114" y="236444"/>
                  </a:lnTo>
                  <a:lnTo>
                    <a:pt x="174579" y="235843"/>
                  </a:lnTo>
                  <a:lnTo>
                    <a:pt x="186661" y="238461"/>
                  </a:lnTo>
                  <a:lnTo>
                    <a:pt x="188868" y="239711"/>
                  </a:lnTo>
                  <a:lnTo>
                    <a:pt x="190765" y="241322"/>
                  </a:lnTo>
                  <a:lnTo>
                    <a:pt x="192354" y="243295"/>
                  </a:lnTo>
                  <a:lnTo>
                    <a:pt x="193942" y="245268"/>
                  </a:lnTo>
                  <a:lnTo>
                    <a:pt x="195109" y="247464"/>
                  </a:lnTo>
                  <a:lnTo>
                    <a:pt x="195855" y="249882"/>
                  </a:lnTo>
                  <a:lnTo>
                    <a:pt x="196601" y="252301"/>
                  </a:lnTo>
                  <a:lnTo>
                    <a:pt x="196872" y="254771"/>
                  </a:lnTo>
                  <a:lnTo>
                    <a:pt x="196670" y="257293"/>
                  </a:lnTo>
                  <a:lnTo>
                    <a:pt x="196467" y="259815"/>
                  </a:lnTo>
                  <a:lnTo>
                    <a:pt x="195805" y="262211"/>
                  </a:lnTo>
                  <a:lnTo>
                    <a:pt x="194683" y="264480"/>
                  </a:lnTo>
                  <a:lnTo>
                    <a:pt x="193561" y="266750"/>
                  </a:lnTo>
                  <a:lnTo>
                    <a:pt x="192058" y="268733"/>
                  </a:lnTo>
                  <a:lnTo>
                    <a:pt x="190175" y="270429"/>
                  </a:lnTo>
                  <a:lnTo>
                    <a:pt x="188292" y="272125"/>
                  </a:lnTo>
                  <a:lnTo>
                    <a:pt x="186162" y="273414"/>
                  </a:lnTo>
                  <a:lnTo>
                    <a:pt x="183784" y="274297"/>
                  </a:lnTo>
                  <a:lnTo>
                    <a:pt x="181406" y="275180"/>
                  </a:lnTo>
                  <a:lnTo>
                    <a:pt x="178948" y="275594"/>
                  </a:lnTo>
                  <a:lnTo>
                    <a:pt x="176411" y="275540"/>
                  </a:lnTo>
                  <a:lnTo>
                    <a:pt x="173874" y="275485"/>
                  </a:lnTo>
                  <a:lnTo>
                    <a:pt x="171437" y="274965"/>
                  </a:lnTo>
                  <a:lnTo>
                    <a:pt x="169100" y="273981"/>
                  </a:lnTo>
                </a:path>
                <a:path w="367664" h="320675">
                  <a:moveTo>
                    <a:pt x="360425" y="309861"/>
                  </a:moveTo>
                  <a:lnTo>
                    <a:pt x="362618" y="308074"/>
                  </a:lnTo>
                </a:path>
                <a:path w="367664" h="320675">
                  <a:moveTo>
                    <a:pt x="177461" y="200157"/>
                  </a:moveTo>
                  <a:lnTo>
                    <a:pt x="172212" y="200245"/>
                  </a:lnTo>
                  <a:lnTo>
                    <a:pt x="167742" y="198429"/>
                  </a:lnTo>
                  <a:lnTo>
                    <a:pt x="164050" y="194708"/>
                  </a:lnTo>
                </a:path>
                <a:path w="367664" h="320675">
                  <a:moveTo>
                    <a:pt x="164072" y="194686"/>
                  </a:moveTo>
                  <a:lnTo>
                    <a:pt x="163439" y="193986"/>
                  </a:lnTo>
                  <a:lnTo>
                    <a:pt x="162853" y="193249"/>
                  </a:lnTo>
                  <a:lnTo>
                    <a:pt x="162313" y="192476"/>
                  </a:lnTo>
                </a:path>
                <a:path w="367664" h="320675">
                  <a:moveTo>
                    <a:pt x="162314" y="192474"/>
                  </a:moveTo>
                  <a:lnTo>
                    <a:pt x="161625" y="191456"/>
                  </a:lnTo>
                  <a:lnTo>
                    <a:pt x="161035" y="190383"/>
                  </a:lnTo>
                  <a:lnTo>
                    <a:pt x="160543" y="189257"/>
                  </a:lnTo>
                </a:path>
                <a:path w="367664" h="320675">
                  <a:moveTo>
                    <a:pt x="309267" y="320392"/>
                  </a:moveTo>
                  <a:lnTo>
                    <a:pt x="35361" y="320295"/>
                  </a:lnTo>
                </a:path>
                <a:path w="367664" h="320675">
                  <a:moveTo>
                    <a:pt x="0" y="233310"/>
                  </a:moveTo>
                  <a:lnTo>
                    <a:pt x="141580" y="0"/>
                  </a:lnTo>
                </a:path>
                <a:path w="367664" h="320675">
                  <a:moveTo>
                    <a:pt x="224737" y="19733"/>
                  </a:moveTo>
                  <a:lnTo>
                    <a:pt x="366082" y="253037"/>
                  </a:lnTo>
                </a:path>
                <a:path w="367664" h="320675">
                  <a:moveTo>
                    <a:pt x="195118" y="176354"/>
                  </a:moveTo>
                  <a:lnTo>
                    <a:pt x="195075" y="73453"/>
                  </a:lnTo>
                </a:path>
                <a:path w="367664" h="320675">
                  <a:moveTo>
                    <a:pt x="365887" y="253178"/>
                  </a:moveTo>
                  <a:lnTo>
                    <a:pt x="367350" y="255194"/>
                  </a:lnTo>
                </a:path>
                <a:path w="367664" h="320675">
                  <a:moveTo>
                    <a:pt x="367350" y="302375"/>
                  </a:moveTo>
                  <a:lnTo>
                    <a:pt x="366038" y="304401"/>
                  </a:lnTo>
                  <a:lnTo>
                    <a:pt x="362631" y="308087"/>
                  </a:lnTo>
                </a:path>
                <a:path w="367664" h="320675">
                  <a:moveTo>
                    <a:pt x="159022" y="84740"/>
                  </a:moveTo>
                  <a:lnTo>
                    <a:pt x="160543" y="189257"/>
                  </a:lnTo>
                </a:path>
              </a:pathLst>
            </a:custGeom>
            <a:ln w="174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272584" y="4952116"/>
            <a:ext cx="4514215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What</a:t>
            </a:r>
            <a:r>
              <a:rPr dirty="0" sz="27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Are</a:t>
            </a:r>
            <a:r>
              <a:rPr dirty="0" sz="27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Outliers?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deviate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significantly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from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 expected patterns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normal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behavior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dataset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6516443" y="3791397"/>
            <a:ext cx="5251450" cy="4157345"/>
            <a:chOff x="6516443" y="3791397"/>
            <a:chExt cx="5251450" cy="4157345"/>
          </a:xfrm>
        </p:grpSpPr>
        <p:sp>
          <p:nvSpPr>
            <p:cNvPr id="12" name="object 12" descr=""/>
            <p:cNvSpPr/>
            <p:nvPr/>
          </p:nvSpPr>
          <p:spPr>
            <a:xfrm>
              <a:off x="6521206" y="3796160"/>
              <a:ext cx="5245735" cy="4147820"/>
            </a:xfrm>
            <a:custGeom>
              <a:avLst/>
              <a:gdLst/>
              <a:ahLst/>
              <a:cxnLst/>
              <a:rect l="l" t="t" r="r" b="b"/>
              <a:pathLst>
                <a:path w="5245734" h="4147820">
                  <a:moveTo>
                    <a:pt x="5126259" y="4147661"/>
                  </a:moveTo>
                  <a:lnTo>
                    <a:pt x="119157" y="4147661"/>
                  </a:lnTo>
                  <a:lnTo>
                    <a:pt x="72772" y="4138313"/>
                  </a:lnTo>
                  <a:lnTo>
                    <a:pt x="34897" y="4112811"/>
                  </a:lnTo>
                  <a:lnTo>
                    <a:pt x="9362" y="4074969"/>
                  </a:lnTo>
                  <a:lnTo>
                    <a:pt x="0" y="4028598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354" y="0"/>
                  </a:lnTo>
                  <a:lnTo>
                    <a:pt x="5172685" y="9361"/>
                  </a:lnTo>
                  <a:lnTo>
                    <a:pt x="5210532" y="34885"/>
                  </a:lnTo>
                  <a:lnTo>
                    <a:pt x="5236056" y="72732"/>
                  </a:lnTo>
                  <a:lnTo>
                    <a:pt x="5245417" y="119062"/>
                  </a:lnTo>
                  <a:lnTo>
                    <a:pt x="5245417" y="4028598"/>
                  </a:lnTo>
                  <a:lnTo>
                    <a:pt x="5236027" y="4074969"/>
                  </a:lnTo>
                  <a:lnTo>
                    <a:pt x="5210467" y="4112811"/>
                  </a:lnTo>
                  <a:lnTo>
                    <a:pt x="5172578" y="4138313"/>
                  </a:lnTo>
                  <a:lnTo>
                    <a:pt x="5126259" y="414766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516443" y="3791397"/>
              <a:ext cx="5251450" cy="4157345"/>
            </a:xfrm>
            <a:custGeom>
              <a:avLst/>
              <a:gdLst/>
              <a:ahLst/>
              <a:cxnLst/>
              <a:rect l="l" t="t" r="r" b="b"/>
              <a:pathLst>
                <a:path w="5251450" h="4157345">
                  <a:moveTo>
                    <a:pt x="123920" y="4157186"/>
                  </a:moveTo>
                  <a:lnTo>
                    <a:pt x="123780" y="4157186"/>
                  </a:lnTo>
                  <a:lnTo>
                    <a:pt x="75705" y="4147455"/>
                  </a:lnTo>
                  <a:lnTo>
                    <a:pt x="36314" y="4120919"/>
                  </a:lnTo>
                  <a:lnTo>
                    <a:pt x="9745" y="4081560"/>
                  </a:lnTo>
                  <a:lnTo>
                    <a:pt x="0" y="4033361"/>
                  </a:lnTo>
                  <a:lnTo>
                    <a:pt x="0" y="123825"/>
                  </a:lnTo>
                  <a:lnTo>
                    <a:pt x="9732" y="75625"/>
                  </a:lnTo>
                  <a:lnTo>
                    <a:pt x="36278" y="36266"/>
                  </a:lnTo>
                  <a:lnTo>
                    <a:pt x="75665" y="9730"/>
                  </a:lnTo>
                  <a:lnTo>
                    <a:pt x="123920" y="0"/>
                  </a:lnTo>
                  <a:lnTo>
                    <a:pt x="5131117" y="0"/>
                  </a:lnTo>
                  <a:lnTo>
                    <a:pt x="5131117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4033361"/>
                  </a:lnTo>
                  <a:lnTo>
                    <a:pt x="18518" y="4077862"/>
                  </a:lnTo>
                  <a:lnTo>
                    <a:pt x="43041" y="4114192"/>
                  </a:lnTo>
                  <a:lnTo>
                    <a:pt x="79404" y="4138682"/>
                  </a:lnTo>
                  <a:lnTo>
                    <a:pt x="123920" y="4147661"/>
                  </a:lnTo>
                  <a:lnTo>
                    <a:pt x="5178353" y="4147661"/>
                  </a:lnTo>
                  <a:lnTo>
                    <a:pt x="5154735" y="4152423"/>
                  </a:lnTo>
                  <a:lnTo>
                    <a:pt x="123920" y="4152423"/>
                  </a:lnTo>
                  <a:lnTo>
                    <a:pt x="123920" y="4157186"/>
                  </a:lnTo>
                  <a:close/>
                </a:path>
                <a:path w="5251450" h="4157345">
                  <a:moveTo>
                    <a:pt x="5178353" y="4147661"/>
                  </a:moveTo>
                  <a:lnTo>
                    <a:pt x="5131117" y="4147661"/>
                  </a:lnTo>
                  <a:lnTo>
                    <a:pt x="5175633" y="4138682"/>
                  </a:lnTo>
                  <a:lnTo>
                    <a:pt x="5211996" y="4114192"/>
                  </a:lnTo>
                  <a:lnTo>
                    <a:pt x="5236519" y="4077862"/>
                  </a:lnTo>
                  <a:lnTo>
                    <a:pt x="5245513" y="4033361"/>
                  </a:lnTo>
                  <a:lnTo>
                    <a:pt x="5245513" y="123825"/>
                  </a:lnTo>
                  <a:lnTo>
                    <a:pt x="5236519" y="79323"/>
                  </a:lnTo>
                  <a:lnTo>
                    <a:pt x="5211996" y="42993"/>
                  </a:lnTo>
                  <a:lnTo>
                    <a:pt x="5175633" y="18503"/>
                  </a:lnTo>
                  <a:lnTo>
                    <a:pt x="5131117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117" y="4762"/>
                  </a:lnTo>
                  <a:lnTo>
                    <a:pt x="5131117" y="0"/>
                  </a:lnTo>
                  <a:lnTo>
                    <a:pt x="5179331" y="9730"/>
                  </a:lnTo>
                  <a:lnTo>
                    <a:pt x="5218723" y="36266"/>
                  </a:lnTo>
                  <a:lnTo>
                    <a:pt x="5245292" y="75625"/>
                  </a:lnTo>
                  <a:lnTo>
                    <a:pt x="5251218" y="104937"/>
                  </a:lnTo>
                  <a:lnTo>
                    <a:pt x="5251218" y="4052275"/>
                  </a:lnTo>
                  <a:lnTo>
                    <a:pt x="5245305" y="4081560"/>
                  </a:lnTo>
                  <a:lnTo>
                    <a:pt x="5218759" y="4120919"/>
                  </a:lnTo>
                  <a:lnTo>
                    <a:pt x="5179372" y="4147455"/>
                  </a:lnTo>
                  <a:lnTo>
                    <a:pt x="5178353" y="4147661"/>
                  </a:lnTo>
                  <a:close/>
                </a:path>
                <a:path w="5251450" h="4157345">
                  <a:moveTo>
                    <a:pt x="5131117" y="4157186"/>
                  </a:moveTo>
                  <a:lnTo>
                    <a:pt x="123914" y="4157186"/>
                  </a:lnTo>
                  <a:lnTo>
                    <a:pt x="123920" y="4152423"/>
                  </a:lnTo>
                  <a:lnTo>
                    <a:pt x="5131117" y="4152423"/>
                  </a:lnTo>
                  <a:lnTo>
                    <a:pt x="5131117" y="4157186"/>
                  </a:lnTo>
                  <a:close/>
                </a:path>
                <a:path w="5251450" h="4157345">
                  <a:moveTo>
                    <a:pt x="5131117" y="4157186"/>
                  </a:moveTo>
                  <a:lnTo>
                    <a:pt x="5131117" y="4152423"/>
                  </a:lnTo>
                  <a:lnTo>
                    <a:pt x="5154735" y="4152423"/>
                  </a:lnTo>
                  <a:lnTo>
                    <a:pt x="5131117" y="415718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814241" y="4089196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66456" y="4313321"/>
              <a:ext cx="151211" cy="40033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01289" y="4592931"/>
              <a:ext cx="109784" cy="12073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7069379" y="4323006"/>
              <a:ext cx="337820" cy="381000"/>
            </a:xfrm>
            <a:custGeom>
              <a:avLst/>
              <a:gdLst/>
              <a:ahLst/>
              <a:cxnLst/>
              <a:rect l="l" t="t" r="r" b="b"/>
              <a:pathLst>
                <a:path w="337820" h="381000">
                  <a:moveTo>
                    <a:pt x="130193" y="0"/>
                  </a:moveTo>
                  <a:lnTo>
                    <a:pt x="91882" y="18030"/>
                  </a:lnTo>
                  <a:lnTo>
                    <a:pt x="47482" y="31174"/>
                  </a:lnTo>
                  <a:lnTo>
                    <a:pt x="12806" y="36101"/>
                  </a:lnTo>
                  <a:lnTo>
                    <a:pt x="0" y="37459"/>
                  </a:lnTo>
                </a:path>
                <a:path w="337820" h="381000">
                  <a:moveTo>
                    <a:pt x="168999" y="380999"/>
                  </a:moveTo>
                  <a:lnTo>
                    <a:pt x="168778" y="0"/>
                  </a:lnTo>
                </a:path>
                <a:path w="337820" h="381000">
                  <a:moveTo>
                    <a:pt x="41572" y="279586"/>
                  </a:moveTo>
                  <a:lnTo>
                    <a:pt x="26711" y="250504"/>
                  </a:lnTo>
                  <a:lnTo>
                    <a:pt x="16149" y="221472"/>
                  </a:lnTo>
                  <a:lnTo>
                    <a:pt x="8925" y="192463"/>
                  </a:lnTo>
                  <a:lnTo>
                    <a:pt x="4078" y="163448"/>
                  </a:lnTo>
                </a:path>
                <a:path w="337820" h="381000">
                  <a:moveTo>
                    <a:pt x="337498" y="133044"/>
                  </a:moveTo>
                  <a:lnTo>
                    <a:pt x="334688" y="162089"/>
                  </a:lnTo>
                </a:path>
                <a:path w="337820" h="381000">
                  <a:moveTo>
                    <a:pt x="4078" y="163448"/>
                  </a:moveTo>
                  <a:lnTo>
                    <a:pt x="0" y="37459"/>
                  </a:lnTo>
                </a:path>
              </a:pathLst>
            </a:custGeom>
            <a:ln w="1932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801542" y="4952116"/>
            <a:ext cx="431355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Why</a:t>
            </a:r>
            <a:r>
              <a:rPr dirty="0" sz="2750" spc="-1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It's</a:t>
            </a:r>
            <a:r>
              <a:rPr dirty="0" sz="2750" spc="-1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Critical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Fraud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detection,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cybersecurity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threats,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healthcare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monitoring,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financial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analytics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all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rely</a:t>
            </a:r>
            <a:r>
              <a:rPr dirty="0" sz="21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on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identifying</a:t>
            </a:r>
            <a:r>
              <a:rPr dirty="0" sz="2150" spc="-1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unusual</a:t>
            </a:r>
            <a:r>
              <a:rPr dirty="0" sz="2150" spc="-1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2045399" y="3791397"/>
            <a:ext cx="5251450" cy="4157345"/>
            <a:chOff x="12045399" y="3791397"/>
            <a:chExt cx="5251450" cy="4157345"/>
          </a:xfrm>
        </p:grpSpPr>
        <p:sp>
          <p:nvSpPr>
            <p:cNvPr id="20" name="object 20" descr=""/>
            <p:cNvSpPr/>
            <p:nvPr/>
          </p:nvSpPr>
          <p:spPr>
            <a:xfrm>
              <a:off x="12050162" y="3796160"/>
              <a:ext cx="5245735" cy="4147820"/>
            </a:xfrm>
            <a:custGeom>
              <a:avLst/>
              <a:gdLst/>
              <a:ahLst/>
              <a:cxnLst/>
              <a:rect l="l" t="t" r="r" b="b"/>
              <a:pathLst>
                <a:path w="5245734" h="4147820">
                  <a:moveTo>
                    <a:pt x="5126260" y="4147661"/>
                  </a:moveTo>
                  <a:lnTo>
                    <a:pt x="119157" y="4147661"/>
                  </a:lnTo>
                  <a:lnTo>
                    <a:pt x="72772" y="4138313"/>
                  </a:lnTo>
                  <a:lnTo>
                    <a:pt x="34897" y="4112811"/>
                  </a:lnTo>
                  <a:lnTo>
                    <a:pt x="9362" y="4074969"/>
                  </a:lnTo>
                  <a:lnTo>
                    <a:pt x="0" y="4028598"/>
                  </a:lnTo>
                  <a:lnTo>
                    <a:pt x="0" y="119062"/>
                  </a:lnTo>
                  <a:lnTo>
                    <a:pt x="9362" y="72732"/>
                  </a:lnTo>
                  <a:lnTo>
                    <a:pt x="34897" y="34885"/>
                  </a:lnTo>
                  <a:lnTo>
                    <a:pt x="72772" y="9361"/>
                  </a:lnTo>
                  <a:lnTo>
                    <a:pt x="119157" y="0"/>
                  </a:lnTo>
                  <a:lnTo>
                    <a:pt x="5126355" y="0"/>
                  </a:lnTo>
                  <a:lnTo>
                    <a:pt x="5172685" y="9361"/>
                  </a:lnTo>
                  <a:lnTo>
                    <a:pt x="5210532" y="34885"/>
                  </a:lnTo>
                  <a:lnTo>
                    <a:pt x="5236056" y="72732"/>
                  </a:lnTo>
                  <a:lnTo>
                    <a:pt x="5245417" y="119062"/>
                  </a:lnTo>
                  <a:lnTo>
                    <a:pt x="5245417" y="4028598"/>
                  </a:lnTo>
                  <a:lnTo>
                    <a:pt x="5236027" y="4074969"/>
                  </a:lnTo>
                  <a:lnTo>
                    <a:pt x="5210467" y="4112811"/>
                  </a:lnTo>
                  <a:lnTo>
                    <a:pt x="5172578" y="4138313"/>
                  </a:lnTo>
                  <a:lnTo>
                    <a:pt x="5126260" y="414766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045399" y="3791397"/>
              <a:ext cx="5251450" cy="4157345"/>
            </a:xfrm>
            <a:custGeom>
              <a:avLst/>
              <a:gdLst/>
              <a:ahLst/>
              <a:cxnLst/>
              <a:rect l="l" t="t" r="r" b="b"/>
              <a:pathLst>
                <a:path w="5251450" h="4157345">
                  <a:moveTo>
                    <a:pt x="123920" y="4157186"/>
                  </a:moveTo>
                  <a:lnTo>
                    <a:pt x="123780" y="4157186"/>
                  </a:lnTo>
                  <a:lnTo>
                    <a:pt x="75706" y="4147455"/>
                  </a:lnTo>
                  <a:lnTo>
                    <a:pt x="36314" y="4120919"/>
                  </a:lnTo>
                  <a:lnTo>
                    <a:pt x="9745" y="4081560"/>
                  </a:lnTo>
                  <a:lnTo>
                    <a:pt x="0" y="4033361"/>
                  </a:lnTo>
                  <a:lnTo>
                    <a:pt x="0" y="123825"/>
                  </a:lnTo>
                  <a:lnTo>
                    <a:pt x="9732" y="75625"/>
                  </a:lnTo>
                  <a:lnTo>
                    <a:pt x="36278" y="36266"/>
                  </a:lnTo>
                  <a:lnTo>
                    <a:pt x="75665" y="9730"/>
                  </a:lnTo>
                  <a:lnTo>
                    <a:pt x="123920" y="0"/>
                  </a:lnTo>
                  <a:lnTo>
                    <a:pt x="5131118" y="0"/>
                  </a:lnTo>
                  <a:lnTo>
                    <a:pt x="5131118" y="4762"/>
                  </a:lnTo>
                  <a:lnTo>
                    <a:pt x="123920" y="4762"/>
                  </a:lnTo>
                  <a:lnTo>
                    <a:pt x="123920" y="9525"/>
                  </a:lnTo>
                  <a:lnTo>
                    <a:pt x="79404" y="18503"/>
                  </a:lnTo>
                  <a:lnTo>
                    <a:pt x="43041" y="42993"/>
                  </a:lnTo>
                  <a:lnTo>
                    <a:pt x="18518" y="79323"/>
                  </a:lnTo>
                  <a:lnTo>
                    <a:pt x="9525" y="123825"/>
                  </a:lnTo>
                  <a:lnTo>
                    <a:pt x="9525" y="4033361"/>
                  </a:lnTo>
                  <a:lnTo>
                    <a:pt x="18518" y="4077862"/>
                  </a:lnTo>
                  <a:lnTo>
                    <a:pt x="43041" y="4114192"/>
                  </a:lnTo>
                  <a:lnTo>
                    <a:pt x="79404" y="4138682"/>
                  </a:lnTo>
                  <a:lnTo>
                    <a:pt x="123920" y="4147661"/>
                  </a:lnTo>
                  <a:lnTo>
                    <a:pt x="5178354" y="4147661"/>
                  </a:lnTo>
                  <a:lnTo>
                    <a:pt x="5154736" y="4152423"/>
                  </a:lnTo>
                  <a:lnTo>
                    <a:pt x="123920" y="4152423"/>
                  </a:lnTo>
                  <a:lnTo>
                    <a:pt x="123920" y="4157186"/>
                  </a:lnTo>
                  <a:close/>
                </a:path>
                <a:path w="5251450" h="4157345">
                  <a:moveTo>
                    <a:pt x="5178354" y="4147661"/>
                  </a:moveTo>
                  <a:lnTo>
                    <a:pt x="5131118" y="4147661"/>
                  </a:lnTo>
                  <a:lnTo>
                    <a:pt x="5175634" y="4138682"/>
                  </a:lnTo>
                  <a:lnTo>
                    <a:pt x="5211997" y="4114192"/>
                  </a:lnTo>
                  <a:lnTo>
                    <a:pt x="5236519" y="4077862"/>
                  </a:lnTo>
                  <a:lnTo>
                    <a:pt x="5245513" y="4033361"/>
                  </a:lnTo>
                  <a:lnTo>
                    <a:pt x="5245513" y="123825"/>
                  </a:lnTo>
                  <a:lnTo>
                    <a:pt x="5236519" y="79323"/>
                  </a:lnTo>
                  <a:lnTo>
                    <a:pt x="5211997" y="42993"/>
                  </a:lnTo>
                  <a:lnTo>
                    <a:pt x="5175634" y="18503"/>
                  </a:lnTo>
                  <a:lnTo>
                    <a:pt x="5131118" y="9525"/>
                  </a:lnTo>
                  <a:lnTo>
                    <a:pt x="123920" y="9525"/>
                  </a:lnTo>
                  <a:lnTo>
                    <a:pt x="123920" y="4762"/>
                  </a:lnTo>
                  <a:lnTo>
                    <a:pt x="5131118" y="4762"/>
                  </a:lnTo>
                  <a:lnTo>
                    <a:pt x="5131118" y="0"/>
                  </a:lnTo>
                  <a:lnTo>
                    <a:pt x="5179332" y="9730"/>
                  </a:lnTo>
                  <a:lnTo>
                    <a:pt x="5218724" y="36266"/>
                  </a:lnTo>
                  <a:lnTo>
                    <a:pt x="5245293" y="75625"/>
                  </a:lnTo>
                  <a:lnTo>
                    <a:pt x="5251218" y="104932"/>
                  </a:lnTo>
                  <a:lnTo>
                    <a:pt x="5251218" y="4052280"/>
                  </a:lnTo>
                  <a:lnTo>
                    <a:pt x="5245306" y="4081560"/>
                  </a:lnTo>
                  <a:lnTo>
                    <a:pt x="5218760" y="4120919"/>
                  </a:lnTo>
                  <a:lnTo>
                    <a:pt x="5179372" y="4147455"/>
                  </a:lnTo>
                  <a:lnTo>
                    <a:pt x="5178354" y="4147661"/>
                  </a:lnTo>
                  <a:close/>
                </a:path>
                <a:path w="5251450" h="4157345">
                  <a:moveTo>
                    <a:pt x="5131118" y="4157186"/>
                  </a:moveTo>
                  <a:lnTo>
                    <a:pt x="123914" y="4157186"/>
                  </a:lnTo>
                  <a:lnTo>
                    <a:pt x="123920" y="4152423"/>
                  </a:lnTo>
                  <a:lnTo>
                    <a:pt x="5131118" y="4152423"/>
                  </a:lnTo>
                  <a:lnTo>
                    <a:pt x="5131118" y="4157186"/>
                  </a:lnTo>
                  <a:close/>
                </a:path>
                <a:path w="5251450" h="4157345">
                  <a:moveTo>
                    <a:pt x="5131118" y="4157186"/>
                  </a:moveTo>
                  <a:lnTo>
                    <a:pt x="5131118" y="4152423"/>
                  </a:lnTo>
                  <a:lnTo>
                    <a:pt x="5154736" y="4152423"/>
                  </a:lnTo>
                  <a:lnTo>
                    <a:pt x="5131118" y="415718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343209" y="4089196"/>
              <a:ext cx="850900" cy="850900"/>
            </a:xfrm>
            <a:custGeom>
              <a:avLst/>
              <a:gdLst/>
              <a:ahLst/>
              <a:cxnLst/>
              <a:rect l="l" t="t" r="r" b="b"/>
              <a:pathLst>
                <a:path w="850900" h="850900">
                  <a:moveTo>
                    <a:pt x="425291" y="850582"/>
                  </a:moveTo>
                  <a:lnTo>
                    <a:pt x="378950" y="848086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471632" y="2495"/>
                  </a:lnTo>
                  <a:lnTo>
                    <a:pt x="516527" y="9809"/>
                  </a:lnTo>
                  <a:lnTo>
                    <a:pt x="559717" y="21681"/>
                  </a:lnTo>
                  <a:lnTo>
                    <a:pt x="600943" y="37852"/>
                  </a:lnTo>
                  <a:lnTo>
                    <a:pt x="639945" y="58063"/>
                  </a:lnTo>
                  <a:lnTo>
                    <a:pt x="676464" y="82055"/>
                  </a:lnTo>
                  <a:lnTo>
                    <a:pt x="710240" y="109567"/>
                  </a:lnTo>
                  <a:lnTo>
                    <a:pt x="741014" y="140341"/>
                  </a:lnTo>
                  <a:lnTo>
                    <a:pt x="768527" y="174117"/>
                  </a:lnTo>
                  <a:lnTo>
                    <a:pt x="792518" y="210636"/>
                  </a:lnTo>
                  <a:lnTo>
                    <a:pt x="812729" y="249638"/>
                  </a:lnTo>
                  <a:lnTo>
                    <a:pt x="828901" y="290864"/>
                  </a:lnTo>
                  <a:lnTo>
                    <a:pt x="840773" y="334054"/>
                  </a:lnTo>
                  <a:lnTo>
                    <a:pt x="848086" y="378950"/>
                  </a:lnTo>
                  <a:lnTo>
                    <a:pt x="850582" y="425291"/>
                  </a:lnTo>
                  <a:lnTo>
                    <a:pt x="848086" y="471632"/>
                  </a:lnTo>
                  <a:lnTo>
                    <a:pt x="840773" y="516527"/>
                  </a:lnTo>
                  <a:lnTo>
                    <a:pt x="828901" y="559717"/>
                  </a:lnTo>
                  <a:lnTo>
                    <a:pt x="812729" y="600943"/>
                  </a:lnTo>
                  <a:lnTo>
                    <a:pt x="792518" y="639945"/>
                  </a:lnTo>
                  <a:lnTo>
                    <a:pt x="768527" y="676464"/>
                  </a:lnTo>
                  <a:lnTo>
                    <a:pt x="741014" y="710240"/>
                  </a:lnTo>
                  <a:lnTo>
                    <a:pt x="710240" y="741014"/>
                  </a:lnTo>
                  <a:lnTo>
                    <a:pt x="676464" y="768527"/>
                  </a:lnTo>
                  <a:lnTo>
                    <a:pt x="639945" y="792518"/>
                  </a:lnTo>
                  <a:lnTo>
                    <a:pt x="600943" y="812729"/>
                  </a:lnTo>
                  <a:lnTo>
                    <a:pt x="559717" y="828901"/>
                  </a:lnTo>
                  <a:lnTo>
                    <a:pt x="516527" y="840773"/>
                  </a:lnTo>
                  <a:lnTo>
                    <a:pt x="471632" y="848086"/>
                  </a:lnTo>
                  <a:lnTo>
                    <a:pt x="425291" y="850582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92590" y="4338403"/>
              <a:ext cx="357834" cy="357992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2330508" y="4952116"/>
            <a:ext cx="462915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7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Goal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Spot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these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unusual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instances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early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to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mitigate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risks,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prevent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fraud,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improve</a:t>
            </a:r>
            <a:r>
              <a:rPr dirty="0" sz="2150" spc="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55">
                <a:solidFill>
                  <a:srgbClr val="CFD0D8"/>
                </a:solidFill>
                <a:latin typeface="Roboto"/>
                <a:cs typeface="Roboto"/>
              </a:rPr>
              <a:t>decision-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making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31" rIns="0" bIns="0" rtlCol="0" vert="horz">
            <a:spAutoFit/>
          </a:bodyPr>
          <a:lstStyle/>
          <a:p>
            <a:pPr marL="120650" marR="5080">
              <a:lnSpc>
                <a:spcPts val="6300"/>
              </a:lnSpc>
              <a:spcBef>
                <a:spcPts val="50"/>
              </a:spcBef>
            </a:pPr>
            <a:r>
              <a:rPr dirty="0" sz="5100" spc="-40"/>
              <a:t>Understanding</a:t>
            </a:r>
            <a:r>
              <a:rPr dirty="0" sz="5100" spc="-180"/>
              <a:t> </a:t>
            </a:r>
            <a:r>
              <a:rPr dirty="0" sz="5100"/>
              <a:t>the</a:t>
            </a:r>
            <a:r>
              <a:rPr dirty="0" sz="5100" spc="-175"/>
              <a:t> </a:t>
            </a:r>
            <a:r>
              <a:rPr dirty="0" sz="5100" spc="-10"/>
              <a:t>Landscape:</a:t>
            </a:r>
            <a:r>
              <a:rPr dirty="0" sz="5100" spc="-175"/>
              <a:t> </a:t>
            </a:r>
            <a:r>
              <a:rPr dirty="0" sz="5100" spc="95"/>
              <a:t>A</a:t>
            </a:r>
            <a:r>
              <a:rPr dirty="0" sz="5100" spc="-175"/>
              <a:t> </a:t>
            </a:r>
            <a:r>
              <a:rPr dirty="0" sz="5100"/>
              <a:t>Spectrum</a:t>
            </a:r>
            <a:r>
              <a:rPr dirty="0" sz="5100" spc="-175"/>
              <a:t> </a:t>
            </a:r>
            <a:r>
              <a:rPr dirty="0" sz="5100" spc="-25"/>
              <a:t>of </a:t>
            </a:r>
            <a:r>
              <a:rPr dirty="0" sz="5100" spc="-10"/>
              <a:t>Approaches</a:t>
            </a:r>
            <a:endParaRPr sz="5100"/>
          </a:p>
        </p:txBody>
      </p:sp>
      <p:grpSp>
        <p:nvGrpSpPr>
          <p:cNvPr id="3" name="object 3" descr=""/>
          <p:cNvGrpSpPr/>
          <p:nvPr/>
        </p:nvGrpSpPr>
        <p:grpSpPr>
          <a:xfrm>
            <a:off x="914695" y="3524840"/>
            <a:ext cx="5325745" cy="3093085"/>
            <a:chOff x="914695" y="3524840"/>
            <a:chExt cx="5325745" cy="3093085"/>
          </a:xfrm>
        </p:grpSpPr>
        <p:sp>
          <p:nvSpPr>
            <p:cNvPr id="4" name="object 4" descr=""/>
            <p:cNvSpPr/>
            <p:nvPr/>
          </p:nvSpPr>
          <p:spPr>
            <a:xfrm>
              <a:off x="914695" y="3916860"/>
              <a:ext cx="5325745" cy="2701290"/>
            </a:xfrm>
            <a:custGeom>
              <a:avLst/>
              <a:gdLst/>
              <a:ahLst/>
              <a:cxnLst/>
              <a:rect l="l" t="t" r="r" b="b"/>
              <a:pathLst>
                <a:path w="5325745" h="2701290">
                  <a:moveTo>
                    <a:pt x="5190244" y="2700795"/>
                  </a:moveTo>
                  <a:lnTo>
                    <a:pt x="135278" y="2700795"/>
                  </a:lnTo>
                  <a:lnTo>
                    <a:pt x="93817" y="2694104"/>
                  </a:lnTo>
                  <a:lnTo>
                    <a:pt x="56167" y="2674627"/>
                  </a:lnTo>
                  <a:lnTo>
                    <a:pt x="26471" y="2644932"/>
                  </a:lnTo>
                  <a:lnTo>
                    <a:pt x="6995" y="2607282"/>
                  </a:lnTo>
                  <a:lnTo>
                    <a:pt x="0" y="2563939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1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5188362" y="0"/>
                  </a:lnTo>
                  <a:lnTo>
                    <a:pt x="5231705" y="6995"/>
                  </a:lnTo>
                  <a:lnTo>
                    <a:pt x="5269355" y="26471"/>
                  </a:lnTo>
                  <a:lnTo>
                    <a:pt x="5299050" y="56167"/>
                  </a:lnTo>
                  <a:lnTo>
                    <a:pt x="5318526" y="93817"/>
                  </a:lnTo>
                  <a:lnTo>
                    <a:pt x="5325512" y="137160"/>
                  </a:lnTo>
                  <a:lnTo>
                    <a:pt x="5325512" y="2563939"/>
                  </a:lnTo>
                  <a:lnTo>
                    <a:pt x="5318526" y="2607282"/>
                  </a:lnTo>
                  <a:lnTo>
                    <a:pt x="5299050" y="2644932"/>
                  </a:lnTo>
                  <a:lnTo>
                    <a:pt x="5269355" y="2674627"/>
                  </a:lnTo>
                  <a:lnTo>
                    <a:pt x="5231705" y="2694104"/>
                  </a:lnTo>
                  <a:lnTo>
                    <a:pt x="5190244" y="270079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14692" y="3524846"/>
              <a:ext cx="5325745" cy="784225"/>
            </a:xfrm>
            <a:custGeom>
              <a:avLst/>
              <a:gdLst/>
              <a:ahLst/>
              <a:cxnLst/>
              <a:rect l="l" t="t" r="r" b="b"/>
              <a:pathLst>
                <a:path w="5325745" h="784225">
                  <a:moveTo>
                    <a:pt x="5325516" y="420598"/>
                  </a:moveTo>
                  <a:lnTo>
                    <a:pt x="5321020" y="398360"/>
                  </a:lnTo>
                  <a:lnTo>
                    <a:pt x="5308765" y="380199"/>
                  </a:lnTo>
                  <a:lnTo>
                    <a:pt x="5290604" y="367944"/>
                  </a:lnTo>
                  <a:lnTo>
                    <a:pt x="5268366" y="363448"/>
                  </a:lnTo>
                  <a:lnTo>
                    <a:pt x="3052889" y="363448"/>
                  </a:lnTo>
                  <a:lnTo>
                    <a:pt x="3051619" y="342874"/>
                  </a:lnTo>
                  <a:lnTo>
                    <a:pt x="3042704" y="295529"/>
                  </a:lnTo>
                  <a:lnTo>
                    <a:pt x="3028289" y="250355"/>
                  </a:lnTo>
                  <a:lnTo>
                    <a:pt x="3008757" y="207759"/>
                  </a:lnTo>
                  <a:lnTo>
                    <a:pt x="2984462" y="168071"/>
                  </a:lnTo>
                  <a:lnTo>
                    <a:pt x="2955760" y="131686"/>
                  </a:lnTo>
                  <a:lnTo>
                    <a:pt x="2923044" y="98945"/>
                  </a:lnTo>
                  <a:lnTo>
                    <a:pt x="2886672" y="70243"/>
                  </a:lnTo>
                  <a:lnTo>
                    <a:pt x="2846997" y="45935"/>
                  </a:lnTo>
                  <a:lnTo>
                    <a:pt x="2804401" y="26390"/>
                  </a:lnTo>
                  <a:lnTo>
                    <a:pt x="2759240" y="11976"/>
                  </a:lnTo>
                  <a:lnTo>
                    <a:pt x="2711894" y="3060"/>
                  </a:lnTo>
                  <a:lnTo>
                    <a:pt x="2662720" y="0"/>
                  </a:lnTo>
                  <a:lnTo>
                    <a:pt x="2613545" y="3060"/>
                  </a:lnTo>
                  <a:lnTo>
                    <a:pt x="2566200" y="11976"/>
                  </a:lnTo>
                  <a:lnTo>
                    <a:pt x="2521026" y="26390"/>
                  </a:lnTo>
                  <a:lnTo>
                    <a:pt x="2478430" y="45935"/>
                  </a:lnTo>
                  <a:lnTo>
                    <a:pt x="2438743" y="70243"/>
                  </a:lnTo>
                  <a:lnTo>
                    <a:pt x="2402357" y="98945"/>
                  </a:lnTo>
                  <a:lnTo>
                    <a:pt x="2369616" y="131686"/>
                  </a:lnTo>
                  <a:lnTo>
                    <a:pt x="2340914" y="168071"/>
                  </a:lnTo>
                  <a:lnTo>
                    <a:pt x="2316607" y="207759"/>
                  </a:lnTo>
                  <a:lnTo>
                    <a:pt x="2297061" y="250355"/>
                  </a:lnTo>
                  <a:lnTo>
                    <a:pt x="2282647" y="295529"/>
                  </a:lnTo>
                  <a:lnTo>
                    <a:pt x="2273731" y="342874"/>
                  </a:lnTo>
                  <a:lnTo>
                    <a:pt x="2272449" y="363448"/>
                  </a:lnTo>
                  <a:lnTo>
                    <a:pt x="57150" y="363448"/>
                  </a:lnTo>
                  <a:lnTo>
                    <a:pt x="34912" y="367944"/>
                  </a:lnTo>
                  <a:lnTo>
                    <a:pt x="16751" y="380199"/>
                  </a:lnTo>
                  <a:lnTo>
                    <a:pt x="4495" y="398360"/>
                  </a:lnTo>
                  <a:lnTo>
                    <a:pt x="0" y="420598"/>
                  </a:lnTo>
                  <a:lnTo>
                    <a:pt x="4495" y="442823"/>
                  </a:lnTo>
                  <a:lnTo>
                    <a:pt x="16751" y="460997"/>
                  </a:lnTo>
                  <a:lnTo>
                    <a:pt x="34912" y="473252"/>
                  </a:lnTo>
                  <a:lnTo>
                    <a:pt x="57150" y="477748"/>
                  </a:lnTo>
                  <a:lnTo>
                    <a:pt x="2280602" y="477748"/>
                  </a:lnTo>
                  <a:lnTo>
                    <a:pt x="2282647" y="488569"/>
                  </a:lnTo>
                  <a:lnTo>
                    <a:pt x="2297061" y="533730"/>
                  </a:lnTo>
                  <a:lnTo>
                    <a:pt x="2316607" y="576326"/>
                  </a:lnTo>
                  <a:lnTo>
                    <a:pt x="2340914" y="616000"/>
                  </a:lnTo>
                  <a:lnTo>
                    <a:pt x="2369616" y="652373"/>
                  </a:lnTo>
                  <a:lnTo>
                    <a:pt x="2402357" y="685088"/>
                  </a:lnTo>
                  <a:lnTo>
                    <a:pt x="2438743" y="713790"/>
                  </a:lnTo>
                  <a:lnTo>
                    <a:pt x="2478430" y="738085"/>
                  </a:lnTo>
                  <a:lnTo>
                    <a:pt x="2521026" y="757618"/>
                  </a:lnTo>
                  <a:lnTo>
                    <a:pt x="2566200" y="772033"/>
                  </a:lnTo>
                  <a:lnTo>
                    <a:pt x="2613545" y="780948"/>
                  </a:lnTo>
                  <a:lnTo>
                    <a:pt x="2662720" y="784009"/>
                  </a:lnTo>
                  <a:lnTo>
                    <a:pt x="2711894" y="780948"/>
                  </a:lnTo>
                  <a:lnTo>
                    <a:pt x="2759240" y="772033"/>
                  </a:lnTo>
                  <a:lnTo>
                    <a:pt x="2804401" y="757618"/>
                  </a:lnTo>
                  <a:lnTo>
                    <a:pt x="2846997" y="738085"/>
                  </a:lnTo>
                  <a:lnTo>
                    <a:pt x="2886672" y="713790"/>
                  </a:lnTo>
                  <a:lnTo>
                    <a:pt x="2923044" y="685088"/>
                  </a:lnTo>
                  <a:lnTo>
                    <a:pt x="2955760" y="652373"/>
                  </a:lnTo>
                  <a:lnTo>
                    <a:pt x="2984462" y="616000"/>
                  </a:lnTo>
                  <a:lnTo>
                    <a:pt x="3008757" y="576326"/>
                  </a:lnTo>
                  <a:lnTo>
                    <a:pt x="3028289" y="533730"/>
                  </a:lnTo>
                  <a:lnTo>
                    <a:pt x="3042704" y="488569"/>
                  </a:lnTo>
                  <a:lnTo>
                    <a:pt x="3044736" y="477748"/>
                  </a:lnTo>
                  <a:lnTo>
                    <a:pt x="5268366" y="477748"/>
                  </a:lnTo>
                  <a:lnTo>
                    <a:pt x="5290604" y="473252"/>
                  </a:lnTo>
                  <a:lnTo>
                    <a:pt x="5308765" y="460997"/>
                  </a:lnTo>
                  <a:lnTo>
                    <a:pt x="5321020" y="442823"/>
                  </a:lnTo>
                  <a:lnTo>
                    <a:pt x="5325516" y="420598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191917" y="4316740"/>
            <a:ext cx="4300855" cy="1881505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790"/>
              </a:spcBef>
            </a:pPr>
            <a:r>
              <a:rPr dirty="0" sz="2550" spc="-20">
                <a:solidFill>
                  <a:srgbClr val="CFD0D8"/>
                </a:solidFill>
                <a:latin typeface="Roboto"/>
                <a:cs typeface="Roboto"/>
              </a:rPr>
              <a:t>Statistical</a:t>
            </a:r>
            <a:r>
              <a:rPr dirty="0" sz="25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endParaRPr sz="2550">
              <a:latin typeface="Roboto"/>
              <a:cs typeface="Roboto"/>
            </a:endParaRPr>
          </a:p>
          <a:p>
            <a:pPr algn="just" marL="12700" marR="5080">
              <a:lnSpc>
                <a:spcPct val="128099"/>
              </a:lnSpc>
              <a:spcBef>
                <a:spcPts val="635"/>
              </a:spcBef>
            </a:pP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Use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distributional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assumptions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like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Z-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score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modified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95">
                <a:solidFill>
                  <a:srgbClr val="CFD0D8"/>
                </a:solidFill>
                <a:latin typeface="Roboto"/>
                <a:cs typeface="Roboto"/>
              </a:rPr>
              <a:t>Z-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score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identify deviations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6481171" y="3524840"/>
            <a:ext cx="5325745" cy="3093085"/>
            <a:chOff x="6481171" y="3524840"/>
            <a:chExt cx="5325745" cy="3093085"/>
          </a:xfrm>
        </p:grpSpPr>
        <p:sp>
          <p:nvSpPr>
            <p:cNvPr id="8" name="object 8" descr=""/>
            <p:cNvSpPr/>
            <p:nvPr/>
          </p:nvSpPr>
          <p:spPr>
            <a:xfrm>
              <a:off x="6481171" y="3916860"/>
              <a:ext cx="5325745" cy="2701290"/>
            </a:xfrm>
            <a:custGeom>
              <a:avLst/>
              <a:gdLst/>
              <a:ahLst/>
              <a:cxnLst/>
              <a:rect l="l" t="t" r="r" b="b"/>
              <a:pathLst>
                <a:path w="5325745" h="2701290">
                  <a:moveTo>
                    <a:pt x="5190243" y="2700795"/>
                  </a:moveTo>
                  <a:lnTo>
                    <a:pt x="135279" y="2700795"/>
                  </a:lnTo>
                  <a:lnTo>
                    <a:pt x="93817" y="2694104"/>
                  </a:lnTo>
                  <a:lnTo>
                    <a:pt x="56167" y="2674627"/>
                  </a:lnTo>
                  <a:lnTo>
                    <a:pt x="26472" y="2644932"/>
                  </a:lnTo>
                  <a:lnTo>
                    <a:pt x="6995" y="2607282"/>
                  </a:lnTo>
                  <a:lnTo>
                    <a:pt x="0" y="2563939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2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5188362" y="0"/>
                  </a:lnTo>
                  <a:lnTo>
                    <a:pt x="5231705" y="6995"/>
                  </a:lnTo>
                  <a:lnTo>
                    <a:pt x="5269355" y="26471"/>
                  </a:lnTo>
                  <a:lnTo>
                    <a:pt x="5299050" y="56167"/>
                  </a:lnTo>
                  <a:lnTo>
                    <a:pt x="5318527" y="93817"/>
                  </a:lnTo>
                  <a:lnTo>
                    <a:pt x="5325512" y="137160"/>
                  </a:lnTo>
                  <a:lnTo>
                    <a:pt x="5325512" y="2563939"/>
                  </a:lnTo>
                  <a:lnTo>
                    <a:pt x="5318527" y="2607282"/>
                  </a:lnTo>
                  <a:lnTo>
                    <a:pt x="5299050" y="2644932"/>
                  </a:lnTo>
                  <a:lnTo>
                    <a:pt x="5269355" y="2674627"/>
                  </a:lnTo>
                  <a:lnTo>
                    <a:pt x="5231705" y="2694104"/>
                  </a:lnTo>
                  <a:lnTo>
                    <a:pt x="5190243" y="270079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481165" y="3524846"/>
              <a:ext cx="5325745" cy="784225"/>
            </a:xfrm>
            <a:custGeom>
              <a:avLst/>
              <a:gdLst/>
              <a:ahLst/>
              <a:cxnLst/>
              <a:rect l="l" t="t" r="r" b="b"/>
              <a:pathLst>
                <a:path w="5325745" h="784225">
                  <a:moveTo>
                    <a:pt x="5325516" y="420598"/>
                  </a:moveTo>
                  <a:lnTo>
                    <a:pt x="5321020" y="398360"/>
                  </a:lnTo>
                  <a:lnTo>
                    <a:pt x="5308765" y="380199"/>
                  </a:lnTo>
                  <a:lnTo>
                    <a:pt x="5290604" y="367944"/>
                  </a:lnTo>
                  <a:lnTo>
                    <a:pt x="5268366" y="363448"/>
                  </a:lnTo>
                  <a:lnTo>
                    <a:pt x="3052889" y="363448"/>
                  </a:lnTo>
                  <a:lnTo>
                    <a:pt x="3051619" y="342874"/>
                  </a:lnTo>
                  <a:lnTo>
                    <a:pt x="3042704" y="295529"/>
                  </a:lnTo>
                  <a:lnTo>
                    <a:pt x="3028289" y="250355"/>
                  </a:lnTo>
                  <a:lnTo>
                    <a:pt x="3008744" y="207759"/>
                  </a:lnTo>
                  <a:lnTo>
                    <a:pt x="2984449" y="168071"/>
                  </a:lnTo>
                  <a:lnTo>
                    <a:pt x="2955760" y="131686"/>
                  </a:lnTo>
                  <a:lnTo>
                    <a:pt x="2923044" y="98945"/>
                  </a:lnTo>
                  <a:lnTo>
                    <a:pt x="2886659" y="70243"/>
                  </a:lnTo>
                  <a:lnTo>
                    <a:pt x="2846984" y="45935"/>
                  </a:lnTo>
                  <a:lnTo>
                    <a:pt x="2804388" y="26390"/>
                  </a:lnTo>
                  <a:lnTo>
                    <a:pt x="2759227" y="11976"/>
                  </a:lnTo>
                  <a:lnTo>
                    <a:pt x="2711881" y="3060"/>
                  </a:lnTo>
                  <a:lnTo>
                    <a:pt x="2662707" y="0"/>
                  </a:lnTo>
                  <a:lnTo>
                    <a:pt x="2613533" y="3060"/>
                  </a:lnTo>
                  <a:lnTo>
                    <a:pt x="2566187" y="11976"/>
                  </a:lnTo>
                  <a:lnTo>
                    <a:pt x="2521026" y="26390"/>
                  </a:lnTo>
                  <a:lnTo>
                    <a:pt x="2478417" y="45935"/>
                  </a:lnTo>
                  <a:lnTo>
                    <a:pt x="2438730" y="70243"/>
                  </a:lnTo>
                  <a:lnTo>
                    <a:pt x="2402344" y="98945"/>
                  </a:lnTo>
                  <a:lnTo>
                    <a:pt x="2369616" y="131686"/>
                  </a:lnTo>
                  <a:lnTo>
                    <a:pt x="2340914" y="168071"/>
                  </a:lnTo>
                  <a:lnTo>
                    <a:pt x="2316607" y="207759"/>
                  </a:lnTo>
                  <a:lnTo>
                    <a:pt x="2297061" y="250355"/>
                  </a:lnTo>
                  <a:lnTo>
                    <a:pt x="2282634" y="295529"/>
                  </a:lnTo>
                  <a:lnTo>
                    <a:pt x="2273719" y="342874"/>
                  </a:lnTo>
                  <a:lnTo>
                    <a:pt x="2272436" y="363448"/>
                  </a:lnTo>
                  <a:lnTo>
                    <a:pt x="57150" y="363448"/>
                  </a:lnTo>
                  <a:lnTo>
                    <a:pt x="34925" y="367944"/>
                  </a:lnTo>
                  <a:lnTo>
                    <a:pt x="16751" y="380199"/>
                  </a:lnTo>
                  <a:lnTo>
                    <a:pt x="4495" y="398360"/>
                  </a:lnTo>
                  <a:lnTo>
                    <a:pt x="0" y="420598"/>
                  </a:lnTo>
                  <a:lnTo>
                    <a:pt x="4495" y="442823"/>
                  </a:lnTo>
                  <a:lnTo>
                    <a:pt x="16751" y="460997"/>
                  </a:lnTo>
                  <a:lnTo>
                    <a:pt x="34925" y="473252"/>
                  </a:lnTo>
                  <a:lnTo>
                    <a:pt x="57150" y="477748"/>
                  </a:lnTo>
                  <a:lnTo>
                    <a:pt x="2280589" y="477748"/>
                  </a:lnTo>
                  <a:lnTo>
                    <a:pt x="2282634" y="488569"/>
                  </a:lnTo>
                  <a:lnTo>
                    <a:pt x="2297061" y="533730"/>
                  </a:lnTo>
                  <a:lnTo>
                    <a:pt x="2316607" y="576326"/>
                  </a:lnTo>
                  <a:lnTo>
                    <a:pt x="2340914" y="616000"/>
                  </a:lnTo>
                  <a:lnTo>
                    <a:pt x="2369616" y="652373"/>
                  </a:lnTo>
                  <a:lnTo>
                    <a:pt x="2402344" y="685088"/>
                  </a:lnTo>
                  <a:lnTo>
                    <a:pt x="2438730" y="713790"/>
                  </a:lnTo>
                  <a:lnTo>
                    <a:pt x="2478417" y="738085"/>
                  </a:lnTo>
                  <a:lnTo>
                    <a:pt x="2521026" y="757618"/>
                  </a:lnTo>
                  <a:lnTo>
                    <a:pt x="2566187" y="772033"/>
                  </a:lnTo>
                  <a:lnTo>
                    <a:pt x="2613533" y="780948"/>
                  </a:lnTo>
                  <a:lnTo>
                    <a:pt x="2662707" y="784009"/>
                  </a:lnTo>
                  <a:lnTo>
                    <a:pt x="2711881" y="780948"/>
                  </a:lnTo>
                  <a:lnTo>
                    <a:pt x="2759227" y="772033"/>
                  </a:lnTo>
                  <a:lnTo>
                    <a:pt x="2804388" y="757618"/>
                  </a:lnTo>
                  <a:lnTo>
                    <a:pt x="2846984" y="738085"/>
                  </a:lnTo>
                  <a:lnTo>
                    <a:pt x="2886659" y="713790"/>
                  </a:lnTo>
                  <a:lnTo>
                    <a:pt x="2923044" y="685088"/>
                  </a:lnTo>
                  <a:lnTo>
                    <a:pt x="2955760" y="652373"/>
                  </a:lnTo>
                  <a:lnTo>
                    <a:pt x="2984449" y="616000"/>
                  </a:lnTo>
                  <a:lnTo>
                    <a:pt x="3008744" y="576326"/>
                  </a:lnTo>
                  <a:lnTo>
                    <a:pt x="3028289" y="533730"/>
                  </a:lnTo>
                  <a:lnTo>
                    <a:pt x="3042704" y="488569"/>
                  </a:lnTo>
                  <a:lnTo>
                    <a:pt x="3044736" y="477748"/>
                  </a:lnTo>
                  <a:lnTo>
                    <a:pt x="5268366" y="477748"/>
                  </a:lnTo>
                  <a:lnTo>
                    <a:pt x="5290604" y="473252"/>
                  </a:lnTo>
                  <a:lnTo>
                    <a:pt x="5308765" y="460997"/>
                  </a:lnTo>
                  <a:lnTo>
                    <a:pt x="5321020" y="442823"/>
                  </a:lnTo>
                  <a:lnTo>
                    <a:pt x="5325516" y="420598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01995" y="2815697"/>
            <a:ext cx="12620625" cy="1261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Different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excel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different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scenarios.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Here's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comprehensive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overview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outlier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techniques: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35"/>
              </a:spcBef>
            </a:pPr>
            <a:endParaRPr sz="2000">
              <a:latin typeface="Roboto"/>
              <a:cs typeface="Roboto"/>
            </a:endParaRPr>
          </a:p>
          <a:p>
            <a:pPr marL="2518410">
              <a:lnSpc>
                <a:spcPct val="100000"/>
              </a:lnSpc>
              <a:spcBef>
                <a:spcPts val="5"/>
              </a:spcBef>
              <a:tabLst>
                <a:tab pos="8084820" algn="l"/>
              </a:tabLst>
            </a:pPr>
            <a:r>
              <a:rPr dirty="0" sz="2400" spc="-50">
                <a:solidFill>
                  <a:srgbClr val="FFFFFF"/>
                </a:solidFill>
                <a:latin typeface="Roboto"/>
                <a:cs typeface="Roboto"/>
              </a:rPr>
              <a:t>1</a:t>
            </a:r>
            <a:r>
              <a:rPr dirty="0" sz="2400">
                <a:solidFill>
                  <a:srgbClr val="FFFFFF"/>
                </a:solidFill>
                <a:latin typeface="Roboto"/>
                <a:cs typeface="Roboto"/>
              </a:rPr>
              <a:t>	</a:t>
            </a:r>
            <a:r>
              <a:rPr dirty="0" sz="2400" spc="-5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758384" y="4316740"/>
            <a:ext cx="4739005" cy="1490980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550" spc="-80">
                <a:solidFill>
                  <a:srgbClr val="CFD0D8"/>
                </a:solidFill>
                <a:latin typeface="Roboto"/>
                <a:cs typeface="Roboto"/>
              </a:rPr>
              <a:t>Distance-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5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99"/>
              </a:lnSpc>
              <a:spcBef>
                <a:spcPts val="635"/>
              </a:spcBef>
            </a:pP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Flag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0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far</a:t>
            </a:r>
            <a:r>
              <a:rPr dirty="0" sz="20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from</a:t>
            </a:r>
            <a:r>
              <a:rPr dirty="0" sz="20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neighbors</a:t>
            </a:r>
            <a:r>
              <a:rPr dirty="0" sz="20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using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techniques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like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0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nearest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neighbors</a:t>
            </a:r>
            <a:r>
              <a:rPr dirty="0" sz="20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(kNN)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2047639" y="3524840"/>
            <a:ext cx="5325745" cy="3093085"/>
            <a:chOff x="12047639" y="3524840"/>
            <a:chExt cx="5325745" cy="3093085"/>
          </a:xfrm>
        </p:grpSpPr>
        <p:sp>
          <p:nvSpPr>
            <p:cNvPr id="13" name="object 13" descr=""/>
            <p:cNvSpPr/>
            <p:nvPr/>
          </p:nvSpPr>
          <p:spPr>
            <a:xfrm>
              <a:off x="12047639" y="3916860"/>
              <a:ext cx="5325745" cy="2701290"/>
            </a:xfrm>
            <a:custGeom>
              <a:avLst/>
              <a:gdLst/>
              <a:ahLst/>
              <a:cxnLst/>
              <a:rect l="l" t="t" r="r" b="b"/>
              <a:pathLst>
                <a:path w="5325744" h="2701290">
                  <a:moveTo>
                    <a:pt x="5190244" y="2700795"/>
                  </a:moveTo>
                  <a:lnTo>
                    <a:pt x="135279" y="2700795"/>
                  </a:lnTo>
                  <a:lnTo>
                    <a:pt x="93817" y="2694104"/>
                  </a:lnTo>
                  <a:lnTo>
                    <a:pt x="56167" y="2674627"/>
                  </a:lnTo>
                  <a:lnTo>
                    <a:pt x="26472" y="2644932"/>
                  </a:lnTo>
                  <a:lnTo>
                    <a:pt x="6995" y="2607282"/>
                  </a:lnTo>
                  <a:lnTo>
                    <a:pt x="0" y="2563939"/>
                  </a:lnTo>
                  <a:lnTo>
                    <a:pt x="0" y="137160"/>
                  </a:lnTo>
                  <a:lnTo>
                    <a:pt x="6995" y="93817"/>
                  </a:lnTo>
                  <a:lnTo>
                    <a:pt x="26472" y="56167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60" y="0"/>
                  </a:lnTo>
                  <a:lnTo>
                    <a:pt x="5188363" y="0"/>
                  </a:lnTo>
                  <a:lnTo>
                    <a:pt x="5231705" y="6995"/>
                  </a:lnTo>
                  <a:lnTo>
                    <a:pt x="5269355" y="26471"/>
                  </a:lnTo>
                  <a:lnTo>
                    <a:pt x="5299050" y="56167"/>
                  </a:lnTo>
                  <a:lnTo>
                    <a:pt x="5318527" y="93817"/>
                  </a:lnTo>
                  <a:lnTo>
                    <a:pt x="5325512" y="137160"/>
                  </a:lnTo>
                  <a:lnTo>
                    <a:pt x="5325512" y="2563939"/>
                  </a:lnTo>
                  <a:lnTo>
                    <a:pt x="5318527" y="2607282"/>
                  </a:lnTo>
                  <a:lnTo>
                    <a:pt x="5299050" y="2644932"/>
                  </a:lnTo>
                  <a:lnTo>
                    <a:pt x="5269355" y="2674627"/>
                  </a:lnTo>
                  <a:lnTo>
                    <a:pt x="5231705" y="2694104"/>
                  </a:lnTo>
                  <a:lnTo>
                    <a:pt x="5190244" y="270079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047639" y="3524846"/>
              <a:ext cx="5325745" cy="784225"/>
            </a:xfrm>
            <a:custGeom>
              <a:avLst/>
              <a:gdLst/>
              <a:ahLst/>
              <a:cxnLst/>
              <a:rect l="l" t="t" r="r" b="b"/>
              <a:pathLst>
                <a:path w="5325744" h="784225">
                  <a:moveTo>
                    <a:pt x="5325516" y="420598"/>
                  </a:moveTo>
                  <a:lnTo>
                    <a:pt x="5321020" y="398360"/>
                  </a:lnTo>
                  <a:lnTo>
                    <a:pt x="5308765" y="380199"/>
                  </a:lnTo>
                  <a:lnTo>
                    <a:pt x="5290591" y="367944"/>
                  </a:lnTo>
                  <a:lnTo>
                    <a:pt x="5268366" y="363448"/>
                  </a:lnTo>
                  <a:lnTo>
                    <a:pt x="3052876" y="363448"/>
                  </a:lnTo>
                  <a:lnTo>
                    <a:pt x="3051606" y="342874"/>
                  </a:lnTo>
                  <a:lnTo>
                    <a:pt x="3042691" y="295529"/>
                  </a:lnTo>
                  <a:lnTo>
                    <a:pt x="3028277" y="250355"/>
                  </a:lnTo>
                  <a:lnTo>
                    <a:pt x="3008744" y="207759"/>
                  </a:lnTo>
                  <a:lnTo>
                    <a:pt x="2984449" y="168071"/>
                  </a:lnTo>
                  <a:lnTo>
                    <a:pt x="2955747" y="131686"/>
                  </a:lnTo>
                  <a:lnTo>
                    <a:pt x="2923032" y="98945"/>
                  </a:lnTo>
                  <a:lnTo>
                    <a:pt x="2886659" y="70243"/>
                  </a:lnTo>
                  <a:lnTo>
                    <a:pt x="2846984" y="45935"/>
                  </a:lnTo>
                  <a:lnTo>
                    <a:pt x="2804388" y="26390"/>
                  </a:lnTo>
                  <a:lnTo>
                    <a:pt x="2759227" y="11976"/>
                  </a:lnTo>
                  <a:lnTo>
                    <a:pt x="2711881" y="3060"/>
                  </a:lnTo>
                  <a:lnTo>
                    <a:pt x="2662707" y="0"/>
                  </a:lnTo>
                  <a:lnTo>
                    <a:pt x="2613533" y="3060"/>
                  </a:lnTo>
                  <a:lnTo>
                    <a:pt x="2566187" y="11976"/>
                  </a:lnTo>
                  <a:lnTo>
                    <a:pt x="2521013" y="26390"/>
                  </a:lnTo>
                  <a:lnTo>
                    <a:pt x="2478417" y="45935"/>
                  </a:lnTo>
                  <a:lnTo>
                    <a:pt x="2438730" y="70243"/>
                  </a:lnTo>
                  <a:lnTo>
                    <a:pt x="2402344" y="98945"/>
                  </a:lnTo>
                  <a:lnTo>
                    <a:pt x="2369604" y="131686"/>
                  </a:lnTo>
                  <a:lnTo>
                    <a:pt x="2340902" y="168071"/>
                  </a:lnTo>
                  <a:lnTo>
                    <a:pt x="2316594" y="207759"/>
                  </a:lnTo>
                  <a:lnTo>
                    <a:pt x="2297049" y="250355"/>
                  </a:lnTo>
                  <a:lnTo>
                    <a:pt x="2282634" y="295529"/>
                  </a:lnTo>
                  <a:lnTo>
                    <a:pt x="2273719" y="342874"/>
                  </a:lnTo>
                  <a:lnTo>
                    <a:pt x="2272436" y="363448"/>
                  </a:lnTo>
                  <a:lnTo>
                    <a:pt x="57150" y="363448"/>
                  </a:lnTo>
                  <a:lnTo>
                    <a:pt x="34912" y="367944"/>
                  </a:lnTo>
                  <a:lnTo>
                    <a:pt x="16751" y="380199"/>
                  </a:lnTo>
                  <a:lnTo>
                    <a:pt x="4495" y="398360"/>
                  </a:lnTo>
                  <a:lnTo>
                    <a:pt x="0" y="420598"/>
                  </a:lnTo>
                  <a:lnTo>
                    <a:pt x="4495" y="442823"/>
                  </a:lnTo>
                  <a:lnTo>
                    <a:pt x="16751" y="460997"/>
                  </a:lnTo>
                  <a:lnTo>
                    <a:pt x="34912" y="473252"/>
                  </a:lnTo>
                  <a:lnTo>
                    <a:pt x="57150" y="477748"/>
                  </a:lnTo>
                  <a:lnTo>
                    <a:pt x="2280589" y="477748"/>
                  </a:lnTo>
                  <a:lnTo>
                    <a:pt x="2282634" y="488569"/>
                  </a:lnTo>
                  <a:lnTo>
                    <a:pt x="2297049" y="533730"/>
                  </a:lnTo>
                  <a:lnTo>
                    <a:pt x="2316594" y="576326"/>
                  </a:lnTo>
                  <a:lnTo>
                    <a:pt x="2340902" y="616000"/>
                  </a:lnTo>
                  <a:lnTo>
                    <a:pt x="2369604" y="652373"/>
                  </a:lnTo>
                  <a:lnTo>
                    <a:pt x="2402344" y="685088"/>
                  </a:lnTo>
                  <a:lnTo>
                    <a:pt x="2438730" y="713790"/>
                  </a:lnTo>
                  <a:lnTo>
                    <a:pt x="2478417" y="738085"/>
                  </a:lnTo>
                  <a:lnTo>
                    <a:pt x="2521013" y="757618"/>
                  </a:lnTo>
                  <a:lnTo>
                    <a:pt x="2566187" y="772033"/>
                  </a:lnTo>
                  <a:lnTo>
                    <a:pt x="2613533" y="780948"/>
                  </a:lnTo>
                  <a:lnTo>
                    <a:pt x="2662707" y="784009"/>
                  </a:lnTo>
                  <a:lnTo>
                    <a:pt x="2711881" y="780948"/>
                  </a:lnTo>
                  <a:lnTo>
                    <a:pt x="2759227" y="772033"/>
                  </a:lnTo>
                  <a:lnTo>
                    <a:pt x="2804388" y="757618"/>
                  </a:lnTo>
                  <a:lnTo>
                    <a:pt x="2846984" y="738085"/>
                  </a:lnTo>
                  <a:lnTo>
                    <a:pt x="2886659" y="713790"/>
                  </a:lnTo>
                  <a:lnTo>
                    <a:pt x="2923032" y="685088"/>
                  </a:lnTo>
                  <a:lnTo>
                    <a:pt x="2955747" y="652373"/>
                  </a:lnTo>
                  <a:lnTo>
                    <a:pt x="2984449" y="616000"/>
                  </a:lnTo>
                  <a:lnTo>
                    <a:pt x="3008744" y="576326"/>
                  </a:lnTo>
                  <a:lnTo>
                    <a:pt x="3028277" y="533730"/>
                  </a:lnTo>
                  <a:lnTo>
                    <a:pt x="3042691" y="488569"/>
                  </a:lnTo>
                  <a:lnTo>
                    <a:pt x="3044723" y="477748"/>
                  </a:lnTo>
                  <a:lnTo>
                    <a:pt x="5268366" y="477748"/>
                  </a:lnTo>
                  <a:lnTo>
                    <a:pt x="5290591" y="473252"/>
                  </a:lnTo>
                  <a:lnTo>
                    <a:pt x="5308765" y="460997"/>
                  </a:lnTo>
                  <a:lnTo>
                    <a:pt x="5321020" y="442823"/>
                  </a:lnTo>
                  <a:lnTo>
                    <a:pt x="5325516" y="420598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540755" y="3679580"/>
            <a:ext cx="199390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50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24851" y="4316740"/>
            <a:ext cx="4192270" cy="1490980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550" spc="-95">
                <a:solidFill>
                  <a:srgbClr val="CFD0D8"/>
                </a:solidFill>
                <a:latin typeface="Roboto"/>
                <a:cs typeface="Roboto"/>
              </a:rPr>
              <a:t>Density-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5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99"/>
              </a:lnSpc>
              <a:spcBef>
                <a:spcPts val="635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Identify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CFD0D8"/>
                </a:solidFill>
                <a:latin typeface="Roboto"/>
                <a:cs typeface="Roboto"/>
              </a:rPr>
              <a:t>low-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20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regions, such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Local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Outlier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Factor</a:t>
            </a:r>
            <a:r>
              <a:rPr dirty="0" sz="200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(LOF)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914695" y="6858895"/>
            <a:ext cx="8108950" cy="2691765"/>
            <a:chOff x="914695" y="6858895"/>
            <a:chExt cx="8108950" cy="2691765"/>
          </a:xfrm>
        </p:grpSpPr>
        <p:sp>
          <p:nvSpPr>
            <p:cNvPr id="18" name="object 18" descr=""/>
            <p:cNvSpPr/>
            <p:nvPr/>
          </p:nvSpPr>
          <p:spPr>
            <a:xfrm>
              <a:off x="914695" y="7250906"/>
              <a:ext cx="8108950" cy="2299970"/>
            </a:xfrm>
            <a:custGeom>
              <a:avLst/>
              <a:gdLst/>
              <a:ahLst/>
              <a:cxnLst/>
              <a:rect l="l" t="t" r="r" b="b"/>
              <a:pathLst>
                <a:path w="8108950" h="2299970">
                  <a:moveTo>
                    <a:pt x="7971568" y="2299430"/>
                  </a:moveTo>
                  <a:lnTo>
                    <a:pt x="137159" y="2299430"/>
                  </a:lnTo>
                  <a:lnTo>
                    <a:pt x="93817" y="2292434"/>
                  </a:lnTo>
                  <a:lnTo>
                    <a:pt x="56167" y="2272958"/>
                  </a:lnTo>
                  <a:lnTo>
                    <a:pt x="26471" y="2243263"/>
                  </a:lnTo>
                  <a:lnTo>
                    <a:pt x="6995" y="2205612"/>
                  </a:lnTo>
                  <a:lnTo>
                    <a:pt x="0" y="2162270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6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7971568" y="0"/>
                  </a:lnTo>
                  <a:lnTo>
                    <a:pt x="8014911" y="6995"/>
                  </a:lnTo>
                  <a:lnTo>
                    <a:pt x="8052561" y="26471"/>
                  </a:lnTo>
                  <a:lnTo>
                    <a:pt x="8082256" y="56166"/>
                  </a:lnTo>
                  <a:lnTo>
                    <a:pt x="8101733" y="93817"/>
                  </a:lnTo>
                  <a:lnTo>
                    <a:pt x="8108728" y="137159"/>
                  </a:lnTo>
                  <a:lnTo>
                    <a:pt x="8108728" y="2162270"/>
                  </a:lnTo>
                  <a:lnTo>
                    <a:pt x="8101733" y="2205612"/>
                  </a:lnTo>
                  <a:lnTo>
                    <a:pt x="8082256" y="2243263"/>
                  </a:lnTo>
                  <a:lnTo>
                    <a:pt x="8052561" y="2272958"/>
                  </a:lnTo>
                  <a:lnTo>
                    <a:pt x="8014911" y="2292434"/>
                  </a:lnTo>
                  <a:lnTo>
                    <a:pt x="7971568" y="2299430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14692" y="6858901"/>
              <a:ext cx="8108950" cy="784225"/>
            </a:xfrm>
            <a:custGeom>
              <a:avLst/>
              <a:gdLst/>
              <a:ahLst/>
              <a:cxnLst/>
              <a:rect l="l" t="t" r="r" b="b"/>
              <a:pathLst>
                <a:path w="8108950" h="784225">
                  <a:moveTo>
                    <a:pt x="8108721" y="420585"/>
                  </a:moveTo>
                  <a:lnTo>
                    <a:pt x="8104225" y="398360"/>
                  </a:lnTo>
                  <a:lnTo>
                    <a:pt x="8091970" y="380187"/>
                  </a:lnTo>
                  <a:lnTo>
                    <a:pt x="8073809" y="367931"/>
                  </a:lnTo>
                  <a:lnTo>
                    <a:pt x="8051571" y="363435"/>
                  </a:lnTo>
                  <a:lnTo>
                    <a:pt x="4444581" y="363435"/>
                  </a:lnTo>
                  <a:lnTo>
                    <a:pt x="4443311" y="342874"/>
                  </a:lnTo>
                  <a:lnTo>
                    <a:pt x="4434395" y="295529"/>
                  </a:lnTo>
                  <a:lnTo>
                    <a:pt x="4419981" y="250355"/>
                  </a:lnTo>
                  <a:lnTo>
                    <a:pt x="4400448" y="207759"/>
                  </a:lnTo>
                  <a:lnTo>
                    <a:pt x="4376140" y="168071"/>
                  </a:lnTo>
                  <a:lnTo>
                    <a:pt x="4347451" y="131686"/>
                  </a:lnTo>
                  <a:lnTo>
                    <a:pt x="4314736" y="98945"/>
                  </a:lnTo>
                  <a:lnTo>
                    <a:pt x="4278350" y="70243"/>
                  </a:lnTo>
                  <a:lnTo>
                    <a:pt x="4238688" y="45935"/>
                  </a:lnTo>
                  <a:lnTo>
                    <a:pt x="4196080" y="26390"/>
                  </a:lnTo>
                  <a:lnTo>
                    <a:pt x="4150931" y="11976"/>
                  </a:lnTo>
                  <a:lnTo>
                    <a:pt x="4103586" y="3060"/>
                  </a:lnTo>
                  <a:lnTo>
                    <a:pt x="4054411" y="0"/>
                  </a:lnTo>
                  <a:lnTo>
                    <a:pt x="4005237" y="3060"/>
                  </a:lnTo>
                  <a:lnTo>
                    <a:pt x="3957878" y="11976"/>
                  </a:lnTo>
                  <a:lnTo>
                    <a:pt x="3912717" y="26390"/>
                  </a:lnTo>
                  <a:lnTo>
                    <a:pt x="3870109" y="45935"/>
                  </a:lnTo>
                  <a:lnTo>
                    <a:pt x="3830434" y="70243"/>
                  </a:lnTo>
                  <a:lnTo>
                    <a:pt x="3794036" y="98945"/>
                  </a:lnTo>
                  <a:lnTo>
                    <a:pt x="3761308" y="131686"/>
                  </a:lnTo>
                  <a:lnTo>
                    <a:pt x="3732606" y="168071"/>
                  </a:lnTo>
                  <a:lnTo>
                    <a:pt x="3708298" y="207759"/>
                  </a:lnTo>
                  <a:lnTo>
                    <a:pt x="3688753" y="250355"/>
                  </a:lnTo>
                  <a:lnTo>
                    <a:pt x="3674338" y="295529"/>
                  </a:lnTo>
                  <a:lnTo>
                    <a:pt x="3665410" y="342874"/>
                  </a:lnTo>
                  <a:lnTo>
                    <a:pt x="3664127" y="363435"/>
                  </a:lnTo>
                  <a:lnTo>
                    <a:pt x="57150" y="363435"/>
                  </a:lnTo>
                  <a:lnTo>
                    <a:pt x="34912" y="367931"/>
                  </a:lnTo>
                  <a:lnTo>
                    <a:pt x="16751" y="380187"/>
                  </a:lnTo>
                  <a:lnTo>
                    <a:pt x="4495" y="398360"/>
                  </a:lnTo>
                  <a:lnTo>
                    <a:pt x="0" y="420585"/>
                  </a:lnTo>
                  <a:lnTo>
                    <a:pt x="4495" y="442810"/>
                  </a:lnTo>
                  <a:lnTo>
                    <a:pt x="16751" y="460984"/>
                  </a:lnTo>
                  <a:lnTo>
                    <a:pt x="34912" y="473240"/>
                  </a:lnTo>
                  <a:lnTo>
                    <a:pt x="57150" y="477735"/>
                  </a:lnTo>
                  <a:lnTo>
                    <a:pt x="3672294" y="477735"/>
                  </a:lnTo>
                  <a:lnTo>
                    <a:pt x="3674338" y="488569"/>
                  </a:lnTo>
                  <a:lnTo>
                    <a:pt x="3688753" y="533730"/>
                  </a:lnTo>
                  <a:lnTo>
                    <a:pt x="3708298" y="576326"/>
                  </a:lnTo>
                  <a:lnTo>
                    <a:pt x="3732606" y="616000"/>
                  </a:lnTo>
                  <a:lnTo>
                    <a:pt x="3761308" y="652373"/>
                  </a:lnTo>
                  <a:lnTo>
                    <a:pt x="3794036" y="685088"/>
                  </a:lnTo>
                  <a:lnTo>
                    <a:pt x="3830434" y="713790"/>
                  </a:lnTo>
                  <a:lnTo>
                    <a:pt x="3870109" y="738085"/>
                  </a:lnTo>
                  <a:lnTo>
                    <a:pt x="3912717" y="757618"/>
                  </a:lnTo>
                  <a:lnTo>
                    <a:pt x="3957878" y="772033"/>
                  </a:lnTo>
                  <a:lnTo>
                    <a:pt x="4005237" y="780948"/>
                  </a:lnTo>
                  <a:lnTo>
                    <a:pt x="4054411" y="784009"/>
                  </a:lnTo>
                  <a:lnTo>
                    <a:pt x="4103586" y="780948"/>
                  </a:lnTo>
                  <a:lnTo>
                    <a:pt x="4150931" y="772033"/>
                  </a:lnTo>
                  <a:lnTo>
                    <a:pt x="4196080" y="757618"/>
                  </a:lnTo>
                  <a:lnTo>
                    <a:pt x="4238688" y="738085"/>
                  </a:lnTo>
                  <a:lnTo>
                    <a:pt x="4278350" y="713790"/>
                  </a:lnTo>
                  <a:lnTo>
                    <a:pt x="4314736" y="685088"/>
                  </a:lnTo>
                  <a:lnTo>
                    <a:pt x="4347451" y="652373"/>
                  </a:lnTo>
                  <a:lnTo>
                    <a:pt x="4376140" y="616000"/>
                  </a:lnTo>
                  <a:lnTo>
                    <a:pt x="4400448" y="576326"/>
                  </a:lnTo>
                  <a:lnTo>
                    <a:pt x="4419981" y="533730"/>
                  </a:lnTo>
                  <a:lnTo>
                    <a:pt x="4434395" y="488569"/>
                  </a:lnTo>
                  <a:lnTo>
                    <a:pt x="4436427" y="477735"/>
                  </a:lnTo>
                  <a:lnTo>
                    <a:pt x="8051571" y="477735"/>
                  </a:lnTo>
                  <a:lnTo>
                    <a:pt x="8073809" y="473240"/>
                  </a:lnTo>
                  <a:lnTo>
                    <a:pt x="8091970" y="460984"/>
                  </a:lnTo>
                  <a:lnTo>
                    <a:pt x="8104225" y="442810"/>
                  </a:lnTo>
                  <a:lnTo>
                    <a:pt x="8108721" y="420585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4799510" y="7013626"/>
            <a:ext cx="199390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5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191917" y="7650805"/>
            <a:ext cx="7404100" cy="1490980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550" spc="-85">
                <a:solidFill>
                  <a:srgbClr val="CFD0D8"/>
                </a:solidFill>
                <a:latin typeface="Roboto"/>
                <a:cs typeface="Roboto"/>
              </a:rPr>
              <a:t>Model-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5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99"/>
              </a:lnSpc>
              <a:spcBef>
                <a:spcPts val="635"/>
              </a:spcBef>
            </a:pP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Learn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normal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using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Isolation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Forest,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10">
                <a:solidFill>
                  <a:srgbClr val="CFD0D8"/>
                </a:solidFill>
                <a:latin typeface="Roboto"/>
                <a:cs typeface="Roboto"/>
              </a:rPr>
              <a:t>One-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Class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SVM,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autoencoders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9264405" y="6858895"/>
            <a:ext cx="8108950" cy="2691765"/>
            <a:chOff x="9264405" y="6858895"/>
            <a:chExt cx="8108950" cy="2691765"/>
          </a:xfrm>
        </p:grpSpPr>
        <p:sp>
          <p:nvSpPr>
            <p:cNvPr id="23" name="object 23" descr=""/>
            <p:cNvSpPr/>
            <p:nvPr/>
          </p:nvSpPr>
          <p:spPr>
            <a:xfrm>
              <a:off x="9264405" y="7250906"/>
              <a:ext cx="8108950" cy="2299970"/>
            </a:xfrm>
            <a:custGeom>
              <a:avLst/>
              <a:gdLst/>
              <a:ahLst/>
              <a:cxnLst/>
              <a:rect l="l" t="t" r="r" b="b"/>
              <a:pathLst>
                <a:path w="8108950" h="2299970">
                  <a:moveTo>
                    <a:pt x="7971568" y="2299430"/>
                  </a:moveTo>
                  <a:lnTo>
                    <a:pt x="137159" y="2299430"/>
                  </a:lnTo>
                  <a:lnTo>
                    <a:pt x="93817" y="2292434"/>
                  </a:lnTo>
                  <a:lnTo>
                    <a:pt x="56166" y="2272958"/>
                  </a:lnTo>
                  <a:lnTo>
                    <a:pt x="26471" y="2243263"/>
                  </a:lnTo>
                  <a:lnTo>
                    <a:pt x="6995" y="2205612"/>
                  </a:lnTo>
                  <a:lnTo>
                    <a:pt x="0" y="2162270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6"/>
                  </a:lnTo>
                  <a:lnTo>
                    <a:pt x="56166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7971568" y="0"/>
                  </a:lnTo>
                  <a:lnTo>
                    <a:pt x="8014910" y="6995"/>
                  </a:lnTo>
                  <a:lnTo>
                    <a:pt x="8052561" y="26471"/>
                  </a:lnTo>
                  <a:lnTo>
                    <a:pt x="8082256" y="56166"/>
                  </a:lnTo>
                  <a:lnTo>
                    <a:pt x="8101733" y="93817"/>
                  </a:lnTo>
                  <a:lnTo>
                    <a:pt x="8108728" y="137159"/>
                  </a:lnTo>
                  <a:lnTo>
                    <a:pt x="8108728" y="2162270"/>
                  </a:lnTo>
                  <a:lnTo>
                    <a:pt x="8101733" y="2205612"/>
                  </a:lnTo>
                  <a:lnTo>
                    <a:pt x="8082256" y="2243263"/>
                  </a:lnTo>
                  <a:lnTo>
                    <a:pt x="8052561" y="2272958"/>
                  </a:lnTo>
                  <a:lnTo>
                    <a:pt x="8014910" y="2292434"/>
                  </a:lnTo>
                  <a:lnTo>
                    <a:pt x="7971568" y="2299430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264396" y="6858901"/>
              <a:ext cx="8108950" cy="784225"/>
            </a:xfrm>
            <a:custGeom>
              <a:avLst/>
              <a:gdLst/>
              <a:ahLst/>
              <a:cxnLst/>
              <a:rect l="l" t="t" r="r" b="b"/>
              <a:pathLst>
                <a:path w="8108950" h="784225">
                  <a:moveTo>
                    <a:pt x="8108734" y="420585"/>
                  </a:moveTo>
                  <a:lnTo>
                    <a:pt x="8104238" y="398360"/>
                  </a:lnTo>
                  <a:lnTo>
                    <a:pt x="8091983" y="380187"/>
                  </a:lnTo>
                  <a:lnTo>
                    <a:pt x="8073809" y="367931"/>
                  </a:lnTo>
                  <a:lnTo>
                    <a:pt x="8051584" y="363435"/>
                  </a:lnTo>
                  <a:lnTo>
                    <a:pt x="4444581" y="363435"/>
                  </a:lnTo>
                  <a:lnTo>
                    <a:pt x="4443311" y="342874"/>
                  </a:lnTo>
                  <a:lnTo>
                    <a:pt x="4434395" y="295529"/>
                  </a:lnTo>
                  <a:lnTo>
                    <a:pt x="4419993" y="250355"/>
                  </a:lnTo>
                  <a:lnTo>
                    <a:pt x="4400448" y="207759"/>
                  </a:lnTo>
                  <a:lnTo>
                    <a:pt x="4376153" y="168071"/>
                  </a:lnTo>
                  <a:lnTo>
                    <a:pt x="4347464" y="131686"/>
                  </a:lnTo>
                  <a:lnTo>
                    <a:pt x="4314736" y="98945"/>
                  </a:lnTo>
                  <a:lnTo>
                    <a:pt x="4278363" y="70243"/>
                  </a:lnTo>
                  <a:lnTo>
                    <a:pt x="4238688" y="45935"/>
                  </a:lnTo>
                  <a:lnTo>
                    <a:pt x="4196092" y="26390"/>
                  </a:lnTo>
                  <a:lnTo>
                    <a:pt x="4150931" y="11976"/>
                  </a:lnTo>
                  <a:lnTo>
                    <a:pt x="4103586" y="3060"/>
                  </a:lnTo>
                  <a:lnTo>
                    <a:pt x="4054411" y="0"/>
                  </a:lnTo>
                  <a:lnTo>
                    <a:pt x="4005237" y="3060"/>
                  </a:lnTo>
                  <a:lnTo>
                    <a:pt x="3957891" y="11976"/>
                  </a:lnTo>
                  <a:lnTo>
                    <a:pt x="3912730" y="26390"/>
                  </a:lnTo>
                  <a:lnTo>
                    <a:pt x="3870121" y="45935"/>
                  </a:lnTo>
                  <a:lnTo>
                    <a:pt x="3830434" y="70243"/>
                  </a:lnTo>
                  <a:lnTo>
                    <a:pt x="3794048" y="98945"/>
                  </a:lnTo>
                  <a:lnTo>
                    <a:pt x="3761321" y="131686"/>
                  </a:lnTo>
                  <a:lnTo>
                    <a:pt x="3732619" y="168071"/>
                  </a:lnTo>
                  <a:lnTo>
                    <a:pt x="3708298" y="207759"/>
                  </a:lnTo>
                  <a:lnTo>
                    <a:pt x="3688753" y="250355"/>
                  </a:lnTo>
                  <a:lnTo>
                    <a:pt x="3674338" y="295529"/>
                  </a:lnTo>
                  <a:lnTo>
                    <a:pt x="3665423" y="342874"/>
                  </a:lnTo>
                  <a:lnTo>
                    <a:pt x="3664140" y="363435"/>
                  </a:lnTo>
                  <a:lnTo>
                    <a:pt x="57150" y="363435"/>
                  </a:lnTo>
                  <a:lnTo>
                    <a:pt x="34925" y="367931"/>
                  </a:lnTo>
                  <a:lnTo>
                    <a:pt x="16751" y="380187"/>
                  </a:lnTo>
                  <a:lnTo>
                    <a:pt x="4495" y="398360"/>
                  </a:lnTo>
                  <a:lnTo>
                    <a:pt x="0" y="420585"/>
                  </a:lnTo>
                  <a:lnTo>
                    <a:pt x="4495" y="442810"/>
                  </a:lnTo>
                  <a:lnTo>
                    <a:pt x="16751" y="460984"/>
                  </a:lnTo>
                  <a:lnTo>
                    <a:pt x="34925" y="473240"/>
                  </a:lnTo>
                  <a:lnTo>
                    <a:pt x="57150" y="477735"/>
                  </a:lnTo>
                  <a:lnTo>
                    <a:pt x="3672294" y="477735"/>
                  </a:lnTo>
                  <a:lnTo>
                    <a:pt x="3674338" y="488569"/>
                  </a:lnTo>
                  <a:lnTo>
                    <a:pt x="3688753" y="533730"/>
                  </a:lnTo>
                  <a:lnTo>
                    <a:pt x="3708298" y="576326"/>
                  </a:lnTo>
                  <a:lnTo>
                    <a:pt x="3732619" y="616000"/>
                  </a:lnTo>
                  <a:lnTo>
                    <a:pt x="3761321" y="652373"/>
                  </a:lnTo>
                  <a:lnTo>
                    <a:pt x="3794048" y="685088"/>
                  </a:lnTo>
                  <a:lnTo>
                    <a:pt x="3830434" y="713790"/>
                  </a:lnTo>
                  <a:lnTo>
                    <a:pt x="3870121" y="738085"/>
                  </a:lnTo>
                  <a:lnTo>
                    <a:pt x="3912730" y="757618"/>
                  </a:lnTo>
                  <a:lnTo>
                    <a:pt x="3957891" y="772033"/>
                  </a:lnTo>
                  <a:lnTo>
                    <a:pt x="4005237" y="780948"/>
                  </a:lnTo>
                  <a:lnTo>
                    <a:pt x="4054411" y="784009"/>
                  </a:lnTo>
                  <a:lnTo>
                    <a:pt x="4103586" y="780948"/>
                  </a:lnTo>
                  <a:lnTo>
                    <a:pt x="4150931" y="772033"/>
                  </a:lnTo>
                  <a:lnTo>
                    <a:pt x="4196092" y="757618"/>
                  </a:lnTo>
                  <a:lnTo>
                    <a:pt x="4238688" y="738085"/>
                  </a:lnTo>
                  <a:lnTo>
                    <a:pt x="4278363" y="713790"/>
                  </a:lnTo>
                  <a:lnTo>
                    <a:pt x="4314736" y="685088"/>
                  </a:lnTo>
                  <a:lnTo>
                    <a:pt x="4347464" y="652373"/>
                  </a:lnTo>
                  <a:lnTo>
                    <a:pt x="4376153" y="616000"/>
                  </a:lnTo>
                  <a:lnTo>
                    <a:pt x="4400448" y="576326"/>
                  </a:lnTo>
                  <a:lnTo>
                    <a:pt x="4419993" y="533730"/>
                  </a:lnTo>
                  <a:lnTo>
                    <a:pt x="4434395" y="488569"/>
                  </a:lnTo>
                  <a:lnTo>
                    <a:pt x="4436427" y="477735"/>
                  </a:lnTo>
                  <a:lnTo>
                    <a:pt x="8051584" y="477735"/>
                  </a:lnTo>
                  <a:lnTo>
                    <a:pt x="8073809" y="473240"/>
                  </a:lnTo>
                  <a:lnTo>
                    <a:pt x="8091983" y="460984"/>
                  </a:lnTo>
                  <a:lnTo>
                    <a:pt x="8104238" y="442810"/>
                  </a:lnTo>
                  <a:lnTo>
                    <a:pt x="8108734" y="420585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3149211" y="7013626"/>
            <a:ext cx="199390" cy="3968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00" spc="-5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541617" y="7650805"/>
            <a:ext cx="6863715" cy="1490980"/>
          </a:xfrm>
          <a:prstGeom prst="rect">
            <a:avLst/>
          </a:prstGeom>
        </p:spPr>
        <p:txBody>
          <a:bodyPr wrap="square" lIns="0" tIns="227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dirty="0" sz="2550" spc="-70">
                <a:solidFill>
                  <a:srgbClr val="CFD0D8"/>
                </a:solidFill>
                <a:latin typeface="Roboto"/>
                <a:cs typeface="Roboto"/>
              </a:rPr>
              <a:t>Histogram-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Based</a:t>
            </a:r>
            <a:r>
              <a:rPr dirty="0" sz="25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Methods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99"/>
              </a:lnSpc>
              <a:spcBef>
                <a:spcPts val="635"/>
              </a:spcBef>
            </a:pP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Efficient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using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20">
                <a:solidFill>
                  <a:srgbClr val="CFD0D8"/>
                </a:solidFill>
                <a:latin typeface="Roboto"/>
                <a:cs typeface="Roboto"/>
              </a:rPr>
              <a:t>histograms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like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HBOS</a:t>
            </a:r>
            <a:r>
              <a:rPr dirty="0" sz="200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00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extended </a:t>
            </a:r>
            <a:r>
              <a:rPr dirty="0" sz="2000">
                <a:solidFill>
                  <a:srgbClr val="CFD0D8"/>
                </a:solidFill>
                <a:latin typeface="Roboto"/>
                <a:cs typeface="Roboto"/>
              </a:rPr>
              <a:t>HBOS</a:t>
            </a:r>
            <a:r>
              <a:rPr dirty="0" sz="2000" spc="-1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00" spc="-10">
                <a:solidFill>
                  <a:srgbClr val="CFD0D8"/>
                </a:solidFill>
                <a:latin typeface="Roboto"/>
                <a:cs typeface="Roboto"/>
              </a:rPr>
              <a:t>(EHBOS)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870065" marR="5080">
              <a:lnSpc>
                <a:spcPts val="5630"/>
              </a:lnSpc>
            </a:pPr>
            <a:r>
              <a:rPr dirty="0" sz="4500"/>
              <a:t>Local</a:t>
            </a:r>
            <a:r>
              <a:rPr dirty="0" sz="4500" spc="-160"/>
              <a:t> </a:t>
            </a:r>
            <a:r>
              <a:rPr dirty="0" sz="4500"/>
              <a:t>Outlier</a:t>
            </a:r>
            <a:r>
              <a:rPr dirty="0" sz="4500" spc="-160"/>
              <a:t> </a:t>
            </a:r>
            <a:r>
              <a:rPr dirty="0" sz="4500"/>
              <a:t>Factor</a:t>
            </a:r>
            <a:r>
              <a:rPr dirty="0" sz="4500" spc="-160"/>
              <a:t> </a:t>
            </a:r>
            <a:r>
              <a:rPr dirty="0" sz="4500"/>
              <a:t>(LOF):</a:t>
            </a:r>
            <a:r>
              <a:rPr dirty="0" sz="4500" spc="-160"/>
              <a:t> </a:t>
            </a:r>
            <a:r>
              <a:rPr dirty="0" sz="4500" spc="-35"/>
              <a:t>Density </a:t>
            </a:r>
            <a:r>
              <a:rPr dirty="0" sz="4500" spc="-40"/>
              <a:t>Deviation</a:t>
            </a:r>
            <a:r>
              <a:rPr dirty="0" sz="4500" spc="-220"/>
              <a:t> </a:t>
            </a:r>
            <a:r>
              <a:rPr dirty="0" sz="4500" spc="-10"/>
              <a:t>Detective</a:t>
            </a:r>
            <a:endParaRPr sz="45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0235" y="2395273"/>
            <a:ext cx="216540" cy="219297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7664205" y="2724597"/>
            <a:ext cx="9817735" cy="28575"/>
          </a:xfrm>
          <a:custGeom>
            <a:avLst/>
            <a:gdLst/>
            <a:ahLst/>
            <a:cxnLst/>
            <a:rect l="l" t="t" r="r" b="b"/>
            <a:pathLst>
              <a:path w="9817735" h="28575">
                <a:moveTo>
                  <a:pt x="9817633" y="28575"/>
                </a:moveTo>
                <a:lnTo>
                  <a:pt x="0" y="28575"/>
                </a:lnTo>
                <a:lnTo>
                  <a:pt x="0" y="0"/>
                </a:lnTo>
                <a:lnTo>
                  <a:pt x="9817633" y="0"/>
                </a:lnTo>
                <a:lnTo>
                  <a:pt x="9817633" y="28575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7651505" y="2690503"/>
            <a:ext cx="9660255" cy="128016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Core</a:t>
            </a:r>
            <a:r>
              <a:rPr dirty="0" sz="22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20">
                <a:solidFill>
                  <a:srgbClr val="CFD0D8"/>
                </a:solidFill>
                <a:latin typeface="Roboto"/>
                <a:cs typeface="Roboto"/>
              </a:rPr>
              <a:t>Idea</a:t>
            </a:r>
            <a:endParaRPr sz="2250">
              <a:latin typeface="Roboto"/>
              <a:cs typeface="Roboto"/>
            </a:endParaRPr>
          </a:p>
          <a:p>
            <a:pPr marL="12700" marR="5080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point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flagged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outlier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when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its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local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substantially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lower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than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its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neighboring points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68902" y="4425512"/>
            <a:ext cx="219071" cy="228413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7664205" y="4759223"/>
            <a:ext cx="9817735" cy="28575"/>
          </a:xfrm>
          <a:custGeom>
            <a:avLst/>
            <a:gdLst/>
            <a:ahLst/>
            <a:cxnLst/>
            <a:rect l="l" t="t" r="r" b="b"/>
            <a:pathLst>
              <a:path w="9817735" h="28575">
                <a:moveTo>
                  <a:pt x="9817633" y="28575"/>
                </a:moveTo>
                <a:lnTo>
                  <a:pt x="0" y="28575"/>
                </a:lnTo>
                <a:lnTo>
                  <a:pt x="0" y="0"/>
                </a:lnTo>
                <a:lnTo>
                  <a:pt x="9817633" y="0"/>
                </a:lnTo>
                <a:lnTo>
                  <a:pt x="9817633" y="28575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7651505" y="4725130"/>
            <a:ext cx="9838690" cy="128016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How</a:t>
            </a:r>
            <a:r>
              <a:rPr dirty="0" sz="22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2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CFD0D8"/>
                </a:solidFill>
                <a:latin typeface="Roboto"/>
                <a:cs typeface="Roboto"/>
              </a:rPr>
              <a:t>Works</a:t>
            </a:r>
            <a:endParaRPr sz="2250">
              <a:latin typeface="Roboto"/>
              <a:cs typeface="Roboto"/>
            </a:endParaRPr>
          </a:p>
          <a:p>
            <a:pPr marL="12700" marR="5080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Computes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local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deviation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by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comparing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point's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its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75">
                <a:solidFill>
                  <a:srgbClr val="CFD0D8"/>
                </a:solidFill>
                <a:latin typeface="Roboto"/>
                <a:cs typeface="Roboto"/>
              </a:rPr>
              <a:t>k-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nearest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neighbors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CFD0D8"/>
                </a:solidFill>
                <a:latin typeface="Roboto"/>
                <a:cs typeface="Roboto"/>
              </a:rPr>
              <a:t>the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feature</a:t>
            </a:r>
            <a:r>
              <a:rPr dirty="0" sz="18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space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60070" y="6466601"/>
            <a:ext cx="237499" cy="215162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7664205" y="6793858"/>
            <a:ext cx="9817735" cy="28575"/>
          </a:xfrm>
          <a:custGeom>
            <a:avLst/>
            <a:gdLst/>
            <a:ahLst/>
            <a:cxnLst/>
            <a:rect l="l" t="t" r="r" b="b"/>
            <a:pathLst>
              <a:path w="9817735" h="28575">
                <a:moveTo>
                  <a:pt x="9817633" y="28575"/>
                </a:moveTo>
                <a:lnTo>
                  <a:pt x="0" y="28575"/>
                </a:lnTo>
                <a:lnTo>
                  <a:pt x="0" y="0"/>
                </a:lnTo>
                <a:lnTo>
                  <a:pt x="9817633" y="0"/>
                </a:lnTo>
                <a:lnTo>
                  <a:pt x="9817633" y="28575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651505" y="6759775"/>
            <a:ext cx="8597900" cy="94678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50" spc="-10">
                <a:solidFill>
                  <a:srgbClr val="CFD0D8"/>
                </a:solidFill>
                <a:latin typeface="Roboto"/>
                <a:cs typeface="Roboto"/>
              </a:rPr>
              <a:t>Visualizing</a:t>
            </a:r>
            <a:r>
              <a:rPr dirty="0" sz="225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25">
                <a:solidFill>
                  <a:srgbClr val="CFD0D8"/>
                </a:solidFill>
                <a:latin typeface="Roboto"/>
                <a:cs typeface="Roboto"/>
              </a:rPr>
              <a:t>LOF</a:t>
            </a:r>
            <a:endParaRPr sz="22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significantly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lower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than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their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neighbors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are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flagged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endParaRPr sz="1800">
              <a:latin typeface="Roboto"/>
              <a:cs typeface="Roboto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72992" y="8154222"/>
            <a:ext cx="211092" cy="241260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7664205" y="8494509"/>
            <a:ext cx="9817735" cy="28575"/>
          </a:xfrm>
          <a:custGeom>
            <a:avLst/>
            <a:gdLst/>
            <a:ahLst/>
            <a:cxnLst/>
            <a:rect l="l" t="t" r="r" b="b"/>
            <a:pathLst>
              <a:path w="9817735" h="28575">
                <a:moveTo>
                  <a:pt x="9817633" y="28575"/>
                </a:moveTo>
                <a:lnTo>
                  <a:pt x="0" y="28575"/>
                </a:lnTo>
                <a:lnTo>
                  <a:pt x="0" y="0"/>
                </a:lnTo>
                <a:lnTo>
                  <a:pt x="9817633" y="0"/>
                </a:lnTo>
                <a:lnTo>
                  <a:pt x="9817633" y="28575"/>
                </a:lnTo>
                <a:close/>
              </a:path>
            </a:pathLst>
          </a:custGeom>
          <a:solidFill>
            <a:srgbClr val="596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7651505" y="8460437"/>
            <a:ext cx="8677910" cy="94678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Use</a:t>
            </a:r>
            <a:r>
              <a:rPr dirty="0" sz="22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20">
                <a:solidFill>
                  <a:srgbClr val="CFD0D8"/>
                </a:solidFill>
                <a:latin typeface="Roboto"/>
                <a:cs typeface="Roboto"/>
              </a:rPr>
              <a:t>Case</a:t>
            </a:r>
            <a:endParaRPr sz="22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Particularly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effective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for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detecting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in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datasets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varying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density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regions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35628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10"/>
              </a:spcBef>
            </a:pPr>
            <a:r>
              <a:rPr dirty="0" sz="5550" spc="-20"/>
              <a:t>Isolation</a:t>
            </a:r>
            <a:r>
              <a:rPr dirty="0" sz="5550" spc="-245"/>
              <a:t> </a:t>
            </a:r>
            <a:r>
              <a:rPr dirty="0" sz="5550"/>
              <a:t>Forest:</a:t>
            </a:r>
            <a:r>
              <a:rPr dirty="0" sz="5550" spc="-240"/>
              <a:t> </a:t>
            </a:r>
            <a:r>
              <a:rPr dirty="0" sz="5550"/>
              <a:t>The</a:t>
            </a:r>
            <a:r>
              <a:rPr dirty="0" sz="5550" spc="-245"/>
              <a:t> </a:t>
            </a:r>
            <a:r>
              <a:rPr dirty="0" sz="5550"/>
              <a:t>Speedy</a:t>
            </a:r>
            <a:r>
              <a:rPr dirty="0" sz="5550" spc="-240"/>
              <a:t> </a:t>
            </a:r>
            <a:r>
              <a:rPr dirty="0" sz="5550" spc="-10"/>
              <a:t>Isolator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1263059" y="4185506"/>
            <a:ext cx="428752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Core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Idea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are "few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different,"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making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them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easier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isolate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than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normal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endParaRPr sz="2150">
              <a:latin typeface="Roboto"/>
              <a:cs typeface="Robo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8" y="3039065"/>
            <a:ext cx="16303408" cy="113404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697509" y="4185506"/>
            <a:ext cx="4610100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How</a:t>
            </a:r>
            <a:r>
              <a:rPr dirty="0" sz="27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7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20">
                <a:solidFill>
                  <a:srgbClr val="CFD0D8"/>
                </a:solidFill>
                <a:latin typeface="Roboto"/>
                <a:cs typeface="Roboto"/>
              </a:rPr>
              <a:t>Works</a:t>
            </a:r>
            <a:endParaRPr sz="2750">
              <a:latin typeface="Roboto"/>
              <a:cs typeface="Roboto"/>
            </a:endParaRPr>
          </a:p>
          <a:p>
            <a:pPr marL="12700" marR="4191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Builds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ensemble</a:t>
            </a:r>
            <a:r>
              <a:rPr dirty="0" sz="21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isolation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trees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by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randomly</a:t>
            </a:r>
            <a:r>
              <a:rPr dirty="0" sz="21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partitioning</a:t>
            </a:r>
            <a:r>
              <a:rPr dirty="0" sz="215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data.</a:t>
            </a:r>
            <a:endParaRPr sz="21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have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shorter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average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path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lengths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31969" y="4185506"/>
            <a:ext cx="421767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Advantage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Computationally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efficient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with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low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memory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demand,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handles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high-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dimensional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215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effectively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92238" y="7486650"/>
            <a:ext cx="16302990" cy="1214755"/>
            <a:chOff x="992238" y="7486650"/>
            <a:chExt cx="16302990" cy="1214755"/>
          </a:xfrm>
        </p:grpSpPr>
        <p:sp>
          <p:nvSpPr>
            <p:cNvPr id="8" name="object 8" descr=""/>
            <p:cNvSpPr/>
            <p:nvPr/>
          </p:nvSpPr>
          <p:spPr>
            <a:xfrm>
              <a:off x="992238" y="7486650"/>
              <a:ext cx="16302990" cy="1214755"/>
            </a:xfrm>
            <a:custGeom>
              <a:avLst/>
              <a:gdLst/>
              <a:ahLst/>
              <a:cxnLst/>
              <a:rect l="l" t="t" r="r" b="b"/>
              <a:pathLst>
                <a:path w="16302990" h="1214754">
                  <a:moveTo>
                    <a:pt x="16184404" y="1214285"/>
                  </a:moveTo>
                  <a:lnTo>
                    <a:pt x="119062" y="1214285"/>
                  </a:lnTo>
                  <a:lnTo>
                    <a:pt x="72732" y="1204885"/>
                  </a:lnTo>
                  <a:lnTo>
                    <a:pt x="34885" y="1179361"/>
                  </a:lnTo>
                  <a:lnTo>
                    <a:pt x="9361" y="1141514"/>
                  </a:lnTo>
                  <a:lnTo>
                    <a:pt x="0" y="1095184"/>
                  </a:lnTo>
                  <a:lnTo>
                    <a:pt x="0" y="119062"/>
                  </a:lnTo>
                  <a:lnTo>
                    <a:pt x="9361" y="72732"/>
                  </a:lnTo>
                  <a:lnTo>
                    <a:pt x="34885" y="34885"/>
                  </a:lnTo>
                  <a:lnTo>
                    <a:pt x="72732" y="9361"/>
                  </a:lnTo>
                  <a:lnTo>
                    <a:pt x="119062" y="0"/>
                  </a:lnTo>
                  <a:lnTo>
                    <a:pt x="16184404" y="0"/>
                  </a:lnTo>
                  <a:lnTo>
                    <a:pt x="16230734" y="9361"/>
                  </a:lnTo>
                  <a:lnTo>
                    <a:pt x="16268580" y="34885"/>
                  </a:lnTo>
                  <a:lnTo>
                    <a:pt x="16294104" y="72732"/>
                  </a:lnTo>
                  <a:lnTo>
                    <a:pt x="16302725" y="115399"/>
                  </a:lnTo>
                  <a:lnTo>
                    <a:pt x="16302725" y="1098847"/>
                  </a:lnTo>
                  <a:lnTo>
                    <a:pt x="16294104" y="1141514"/>
                  </a:lnTo>
                  <a:lnTo>
                    <a:pt x="16268580" y="1179361"/>
                  </a:lnTo>
                  <a:lnTo>
                    <a:pt x="16230734" y="1204885"/>
                  </a:lnTo>
                  <a:lnTo>
                    <a:pt x="16184404" y="1214285"/>
                  </a:lnTo>
                  <a:close/>
                </a:path>
              </a:pathLst>
            </a:custGeom>
            <a:solidFill>
              <a:srgbClr val="01234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5759" y="7916761"/>
              <a:ext cx="354329" cy="283559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1900929" y="7795827"/>
            <a:ext cx="1095692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b="1">
                <a:solidFill>
                  <a:srgbClr val="FFFFFF"/>
                </a:solidFill>
                <a:latin typeface="Roboto"/>
                <a:cs typeface="Roboto"/>
              </a:rPr>
              <a:t>Key</a:t>
            </a:r>
            <a:r>
              <a:rPr dirty="0" sz="2150" spc="-1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 b="1">
                <a:solidFill>
                  <a:srgbClr val="FFFFFF"/>
                </a:solidFill>
                <a:latin typeface="Roboto"/>
                <a:cs typeface="Roboto"/>
              </a:rPr>
              <a:t>Parameter:</a:t>
            </a:r>
            <a:r>
              <a:rPr dirty="0" sz="2150" spc="-1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contamination</a:t>
            </a:r>
            <a:r>
              <a:rPr dirty="0" sz="2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controls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proportion</a:t>
            </a:r>
            <a:r>
              <a:rPr dirty="0" sz="2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outliers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expected</a:t>
            </a:r>
            <a:r>
              <a:rPr dirty="0" sz="2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dirty="0" sz="2150" spc="-10">
                <a:solidFill>
                  <a:srgbClr val="FFFFFF"/>
                </a:solidFill>
                <a:latin typeface="Roboto"/>
                <a:cs typeface="Roboto"/>
              </a:rPr>
              <a:t> dataset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8" y="3838139"/>
            <a:ext cx="6409690" cy="7016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400"/>
              <a:t>Finding</a:t>
            </a:r>
            <a:r>
              <a:rPr dirty="0" sz="4400" spc="-95"/>
              <a:t> </a:t>
            </a:r>
            <a:r>
              <a:rPr dirty="0" sz="4400"/>
              <a:t>the</a:t>
            </a:r>
            <a:r>
              <a:rPr dirty="0" sz="4400" spc="-95"/>
              <a:t> </a:t>
            </a:r>
            <a:r>
              <a:rPr dirty="0" sz="4400"/>
              <a:t>Odd</a:t>
            </a:r>
            <a:r>
              <a:rPr dirty="0" sz="4400" spc="-90"/>
              <a:t> </a:t>
            </a:r>
            <a:r>
              <a:rPr dirty="0" sz="4400"/>
              <a:t>Ones</a:t>
            </a:r>
            <a:r>
              <a:rPr dirty="0" sz="4400" spc="-95"/>
              <a:t> </a:t>
            </a:r>
            <a:r>
              <a:rPr dirty="0" sz="4400" spc="-25"/>
              <a:t>Out</a:t>
            </a:r>
            <a:endParaRPr sz="4400"/>
          </a:p>
        </p:txBody>
      </p:sp>
      <p:sp>
        <p:nvSpPr>
          <p:cNvPr id="6" name="object 6" descr=""/>
          <p:cNvSpPr txBox="1"/>
          <p:nvPr/>
        </p:nvSpPr>
        <p:spPr>
          <a:xfrm>
            <a:off x="979538" y="4870386"/>
            <a:ext cx="9335770" cy="1368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Isolation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Forest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identifies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by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measuring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how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quickly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point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can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be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isolated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through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random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partitioning.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require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fewer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splits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to isolate are flagged</a:t>
            </a:r>
            <a:r>
              <a:rPr dirty="0" sz="2150" spc="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outliers.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5221" rIns="0" bIns="0" rtlCol="0" vert="horz">
            <a:spAutoFit/>
          </a:bodyPr>
          <a:lstStyle/>
          <a:p>
            <a:pPr marL="136525" marR="5080">
              <a:lnSpc>
                <a:spcPts val="6450"/>
              </a:lnSpc>
            </a:pPr>
            <a:r>
              <a:rPr dirty="0" sz="5150" spc="-114"/>
              <a:t>Histogram-</a:t>
            </a:r>
            <a:r>
              <a:rPr dirty="0" sz="5150"/>
              <a:t>Based</a:t>
            </a:r>
            <a:r>
              <a:rPr dirty="0" sz="5150" spc="-105"/>
              <a:t> </a:t>
            </a:r>
            <a:r>
              <a:rPr dirty="0" sz="5150"/>
              <a:t>Outlier</a:t>
            </a:r>
            <a:r>
              <a:rPr dirty="0" sz="5150" spc="-100"/>
              <a:t> </a:t>
            </a:r>
            <a:r>
              <a:rPr dirty="0" sz="5150"/>
              <a:t>Score</a:t>
            </a:r>
            <a:r>
              <a:rPr dirty="0" sz="5150" spc="-105"/>
              <a:t> </a:t>
            </a:r>
            <a:r>
              <a:rPr dirty="0" sz="5150"/>
              <a:t>(HBOS):</a:t>
            </a:r>
            <a:r>
              <a:rPr dirty="0" sz="5150" spc="-100"/>
              <a:t> </a:t>
            </a:r>
            <a:r>
              <a:rPr dirty="0" sz="5150" spc="-10"/>
              <a:t>Efficiency </a:t>
            </a:r>
            <a:r>
              <a:rPr dirty="0" sz="5150"/>
              <a:t>Meets</a:t>
            </a:r>
            <a:r>
              <a:rPr dirty="0" sz="5150" spc="-5"/>
              <a:t> </a:t>
            </a:r>
            <a:r>
              <a:rPr dirty="0" sz="5150" spc="-10"/>
              <a:t>Insight</a:t>
            </a:r>
            <a:endParaRPr sz="5150"/>
          </a:p>
        </p:txBody>
      </p:sp>
      <p:grpSp>
        <p:nvGrpSpPr>
          <p:cNvPr id="3" name="object 3" descr=""/>
          <p:cNvGrpSpPr/>
          <p:nvPr/>
        </p:nvGrpSpPr>
        <p:grpSpPr>
          <a:xfrm>
            <a:off x="896988" y="2935634"/>
            <a:ext cx="8261350" cy="5205730"/>
            <a:chOff x="896988" y="2935634"/>
            <a:chExt cx="8261350" cy="5205730"/>
          </a:xfrm>
        </p:grpSpPr>
        <p:sp>
          <p:nvSpPr>
            <p:cNvPr id="4" name="object 4" descr=""/>
            <p:cNvSpPr/>
            <p:nvPr/>
          </p:nvSpPr>
          <p:spPr>
            <a:xfrm>
              <a:off x="9129712" y="2940396"/>
              <a:ext cx="28575" cy="5201285"/>
            </a:xfrm>
            <a:custGeom>
              <a:avLst/>
              <a:gdLst/>
              <a:ahLst/>
              <a:cxnLst/>
              <a:rect l="l" t="t" r="r" b="b"/>
              <a:pathLst>
                <a:path w="28575" h="5201284">
                  <a:moveTo>
                    <a:pt x="22193" y="5200935"/>
                  </a:moveTo>
                  <a:lnTo>
                    <a:pt x="6381" y="5200935"/>
                  </a:lnTo>
                  <a:lnTo>
                    <a:pt x="0" y="519455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22193" y="0"/>
                  </a:lnTo>
                  <a:lnTo>
                    <a:pt x="28574" y="6381"/>
                  </a:lnTo>
                  <a:lnTo>
                    <a:pt x="28574" y="5194553"/>
                  </a:lnTo>
                  <a:lnTo>
                    <a:pt x="22193" y="5200935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01750" y="2940396"/>
              <a:ext cx="8213725" cy="2351405"/>
            </a:xfrm>
            <a:custGeom>
              <a:avLst/>
              <a:gdLst/>
              <a:ahLst/>
              <a:cxnLst/>
              <a:rect l="l" t="t" r="r" b="b"/>
              <a:pathLst>
                <a:path w="8213725" h="2351404">
                  <a:moveTo>
                    <a:pt x="8101677" y="2351341"/>
                  </a:moveTo>
                  <a:lnTo>
                    <a:pt x="111918" y="2351341"/>
                  </a:lnTo>
                  <a:lnTo>
                    <a:pt x="68352" y="2342564"/>
                  </a:lnTo>
                  <a:lnTo>
                    <a:pt x="32777" y="2318634"/>
                  </a:lnTo>
                  <a:lnTo>
                    <a:pt x="8794" y="2283149"/>
                  </a:lnTo>
                  <a:lnTo>
                    <a:pt x="0" y="2239708"/>
                  </a:lnTo>
                  <a:lnTo>
                    <a:pt x="0" y="111632"/>
                  </a:lnTo>
                  <a:lnTo>
                    <a:pt x="8794" y="68191"/>
                  </a:lnTo>
                  <a:lnTo>
                    <a:pt x="32777" y="32706"/>
                  </a:lnTo>
                  <a:lnTo>
                    <a:pt x="68352" y="8776"/>
                  </a:lnTo>
                  <a:lnTo>
                    <a:pt x="111918" y="0"/>
                  </a:lnTo>
                  <a:lnTo>
                    <a:pt x="8101677" y="0"/>
                  </a:lnTo>
                  <a:lnTo>
                    <a:pt x="8145244" y="8776"/>
                  </a:lnTo>
                  <a:lnTo>
                    <a:pt x="8180818" y="32706"/>
                  </a:lnTo>
                  <a:lnTo>
                    <a:pt x="8204802" y="68191"/>
                  </a:lnTo>
                  <a:lnTo>
                    <a:pt x="8213596" y="111632"/>
                  </a:lnTo>
                  <a:lnTo>
                    <a:pt x="8213596" y="2239708"/>
                  </a:lnTo>
                  <a:lnTo>
                    <a:pt x="8204802" y="2283149"/>
                  </a:lnTo>
                  <a:lnTo>
                    <a:pt x="8180818" y="2318634"/>
                  </a:lnTo>
                  <a:lnTo>
                    <a:pt x="8145244" y="2342564"/>
                  </a:lnTo>
                  <a:lnTo>
                    <a:pt x="8101677" y="235134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6988" y="2935634"/>
              <a:ext cx="8223250" cy="2360930"/>
            </a:xfrm>
            <a:custGeom>
              <a:avLst/>
              <a:gdLst/>
              <a:ahLst/>
              <a:cxnLst/>
              <a:rect l="l" t="t" r="r" b="b"/>
              <a:pathLst>
                <a:path w="8223250" h="2360929">
                  <a:moveTo>
                    <a:pt x="116681" y="2360856"/>
                  </a:moveTo>
                  <a:lnTo>
                    <a:pt x="71285" y="2351720"/>
                  </a:lnTo>
                  <a:lnTo>
                    <a:pt x="34194" y="2326778"/>
                  </a:lnTo>
                  <a:lnTo>
                    <a:pt x="9176" y="2289781"/>
                  </a:lnTo>
                  <a:lnTo>
                    <a:pt x="0" y="2244470"/>
                  </a:lnTo>
                  <a:lnTo>
                    <a:pt x="0" y="116395"/>
                  </a:lnTo>
                  <a:lnTo>
                    <a:pt x="9176" y="71084"/>
                  </a:lnTo>
                  <a:lnTo>
                    <a:pt x="34194" y="34087"/>
                  </a:lnTo>
                  <a:lnTo>
                    <a:pt x="71285" y="9145"/>
                  </a:lnTo>
                  <a:lnTo>
                    <a:pt x="116681" y="0"/>
                  </a:lnTo>
                  <a:lnTo>
                    <a:pt x="8106439" y="0"/>
                  </a:lnTo>
                  <a:lnTo>
                    <a:pt x="8106439" y="4762"/>
                  </a:lnTo>
                  <a:lnTo>
                    <a:pt x="116681" y="4762"/>
                  </a:lnTo>
                  <a:lnTo>
                    <a:pt x="116681" y="9525"/>
                  </a:lnTo>
                  <a:lnTo>
                    <a:pt x="74984" y="17932"/>
                  </a:lnTo>
                  <a:lnTo>
                    <a:pt x="40921" y="40850"/>
                  </a:lnTo>
                  <a:lnTo>
                    <a:pt x="17950" y="74823"/>
                  </a:lnTo>
                  <a:lnTo>
                    <a:pt x="9525" y="116395"/>
                  </a:lnTo>
                  <a:lnTo>
                    <a:pt x="9525" y="2244470"/>
                  </a:lnTo>
                  <a:lnTo>
                    <a:pt x="17950" y="2286083"/>
                  </a:lnTo>
                  <a:lnTo>
                    <a:pt x="40921" y="2320051"/>
                  </a:lnTo>
                  <a:lnTo>
                    <a:pt x="74984" y="2342947"/>
                  </a:lnTo>
                  <a:lnTo>
                    <a:pt x="116681" y="2351341"/>
                  </a:lnTo>
                  <a:lnTo>
                    <a:pt x="8152399" y="2351341"/>
                  </a:lnTo>
                  <a:lnTo>
                    <a:pt x="8151835" y="2351720"/>
                  </a:lnTo>
                  <a:lnTo>
                    <a:pt x="8130079" y="2356103"/>
                  </a:lnTo>
                  <a:lnTo>
                    <a:pt x="116681" y="2356103"/>
                  </a:lnTo>
                  <a:lnTo>
                    <a:pt x="116681" y="2360856"/>
                  </a:lnTo>
                  <a:close/>
                </a:path>
                <a:path w="8223250" h="2360929">
                  <a:moveTo>
                    <a:pt x="8152399" y="2351341"/>
                  </a:moveTo>
                  <a:lnTo>
                    <a:pt x="8106439" y="2351341"/>
                  </a:lnTo>
                  <a:lnTo>
                    <a:pt x="8148110" y="2342947"/>
                  </a:lnTo>
                  <a:lnTo>
                    <a:pt x="8182181" y="2320051"/>
                  </a:lnTo>
                  <a:lnTo>
                    <a:pt x="8205157" y="2286083"/>
                  </a:lnTo>
                  <a:lnTo>
                    <a:pt x="8213596" y="2244470"/>
                  </a:lnTo>
                  <a:lnTo>
                    <a:pt x="8213596" y="116395"/>
                  </a:lnTo>
                  <a:lnTo>
                    <a:pt x="8205178" y="74823"/>
                  </a:lnTo>
                  <a:lnTo>
                    <a:pt x="8182223" y="40850"/>
                  </a:lnTo>
                  <a:lnTo>
                    <a:pt x="8148156" y="17932"/>
                  </a:lnTo>
                  <a:lnTo>
                    <a:pt x="8106439" y="9525"/>
                  </a:lnTo>
                  <a:lnTo>
                    <a:pt x="116681" y="9525"/>
                  </a:lnTo>
                  <a:lnTo>
                    <a:pt x="116681" y="4762"/>
                  </a:lnTo>
                  <a:lnTo>
                    <a:pt x="8106439" y="4762"/>
                  </a:lnTo>
                  <a:lnTo>
                    <a:pt x="8106439" y="0"/>
                  </a:lnTo>
                  <a:lnTo>
                    <a:pt x="8151875" y="9145"/>
                  </a:lnTo>
                  <a:lnTo>
                    <a:pt x="8188962" y="34087"/>
                  </a:lnTo>
                  <a:lnTo>
                    <a:pt x="8213957" y="71084"/>
                  </a:lnTo>
                  <a:lnTo>
                    <a:pt x="8223121" y="116395"/>
                  </a:lnTo>
                  <a:lnTo>
                    <a:pt x="8223121" y="2244470"/>
                  </a:lnTo>
                  <a:lnTo>
                    <a:pt x="8213944" y="2289781"/>
                  </a:lnTo>
                  <a:lnTo>
                    <a:pt x="8188926" y="2326778"/>
                  </a:lnTo>
                  <a:lnTo>
                    <a:pt x="8152399" y="2351341"/>
                  </a:lnTo>
                  <a:close/>
                </a:path>
                <a:path w="8223250" h="2360929">
                  <a:moveTo>
                    <a:pt x="8106439" y="2360856"/>
                  </a:moveTo>
                  <a:lnTo>
                    <a:pt x="116681" y="2360856"/>
                  </a:lnTo>
                  <a:lnTo>
                    <a:pt x="116681" y="2356103"/>
                  </a:lnTo>
                  <a:lnTo>
                    <a:pt x="8106439" y="2356103"/>
                  </a:lnTo>
                  <a:lnTo>
                    <a:pt x="8106439" y="2360856"/>
                  </a:lnTo>
                  <a:close/>
                </a:path>
                <a:path w="8223250" h="2360929">
                  <a:moveTo>
                    <a:pt x="8106487" y="2360856"/>
                  </a:moveTo>
                  <a:lnTo>
                    <a:pt x="8106439" y="2356103"/>
                  </a:lnTo>
                  <a:lnTo>
                    <a:pt x="8130079" y="2356103"/>
                  </a:lnTo>
                  <a:lnTo>
                    <a:pt x="8106487" y="2360856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23018" y="2942018"/>
            <a:ext cx="7639684" cy="1944370"/>
          </a:xfrm>
          <a:prstGeom prst="rect">
            <a:avLst/>
          </a:prstGeom>
        </p:spPr>
        <p:txBody>
          <a:bodyPr wrap="square" lIns="0" tIns="95885" rIns="0" bIns="0" rtlCol="0" vert="horz">
            <a:spAutoFit/>
          </a:bodyPr>
          <a:lstStyle/>
          <a:p>
            <a:pPr algn="r" marL="12700" marR="5080" indent="5572125">
              <a:lnSpc>
                <a:spcPct val="138000"/>
              </a:lnSpc>
              <a:spcBef>
                <a:spcPts val="755"/>
              </a:spcBef>
            </a:pP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Original</a:t>
            </a:r>
            <a:r>
              <a:rPr dirty="0" sz="2550" spc="-9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20">
                <a:solidFill>
                  <a:srgbClr val="CFD0D8"/>
                </a:solidFill>
                <a:latin typeface="Roboto"/>
                <a:cs typeface="Roboto"/>
              </a:rPr>
              <a:t>HBOS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Computationally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efficient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method</a:t>
            </a:r>
            <a:r>
              <a:rPr dirty="0" sz="2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using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univariate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histograms</a:t>
            </a:r>
            <a:r>
              <a:rPr dirty="0" sz="20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25">
                <a:solidFill>
                  <a:srgbClr val="CFD0D8"/>
                </a:solidFill>
                <a:latin typeface="Roboto"/>
                <a:cs typeface="Roboto"/>
              </a:rPr>
              <a:t>per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feature.</a:t>
            </a:r>
            <a:r>
              <a:rPr dirty="0" sz="20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However,</a:t>
            </a:r>
            <a:r>
              <a:rPr dirty="0" sz="20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assumes</a:t>
            </a:r>
            <a:r>
              <a:rPr dirty="0" sz="20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feature</a:t>
            </a:r>
            <a:r>
              <a:rPr dirty="0" sz="2050" spc="-1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independence,</a:t>
            </a:r>
            <a:r>
              <a:rPr dirty="0" sz="2050" spc="-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limiting</a:t>
            </a:r>
            <a:endParaRPr sz="2050">
              <a:latin typeface="Roboto"/>
              <a:cs typeface="Roboto"/>
            </a:endParaRPr>
          </a:p>
          <a:p>
            <a:pPr algn="r" marR="5080">
              <a:lnSpc>
                <a:spcPct val="100000"/>
              </a:lnSpc>
              <a:spcBef>
                <a:spcPts val="690"/>
              </a:spcBef>
            </a:pP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multivariate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9167811" y="5785246"/>
            <a:ext cx="8223250" cy="2360930"/>
            <a:chOff x="9167811" y="5785246"/>
            <a:chExt cx="8223250" cy="2360930"/>
          </a:xfrm>
        </p:grpSpPr>
        <p:sp>
          <p:nvSpPr>
            <p:cNvPr id="9" name="object 9" descr=""/>
            <p:cNvSpPr/>
            <p:nvPr/>
          </p:nvSpPr>
          <p:spPr>
            <a:xfrm>
              <a:off x="9172574" y="5790009"/>
              <a:ext cx="8213725" cy="2351405"/>
            </a:xfrm>
            <a:custGeom>
              <a:avLst/>
              <a:gdLst/>
              <a:ahLst/>
              <a:cxnLst/>
              <a:rect l="l" t="t" r="r" b="b"/>
              <a:pathLst>
                <a:path w="8213725" h="2351404">
                  <a:moveTo>
                    <a:pt x="8213692" y="2351341"/>
                  </a:moveTo>
                  <a:lnTo>
                    <a:pt x="0" y="2351341"/>
                  </a:lnTo>
                  <a:lnTo>
                    <a:pt x="0" y="0"/>
                  </a:lnTo>
                  <a:lnTo>
                    <a:pt x="8213692" y="0"/>
                  </a:lnTo>
                  <a:lnTo>
                    <a:pt x="8213692" y="2351341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67811" y="5785246"/>
              <a:ext cx="8223250" cy="2360930"/>
            </a:xfrm>
            <a:custGeom>
              <a:avLst/>
              <a:gdLst/>
              <a:ahLst/>
              <a:cxnLst/>
              <a:rect l="l" t="t" r="r" b="b"/>
              <a:pathLst>
                <a:path w="8223250" h="2360929">
                  <a:moveTo>
                    <a:pt x="8221122" y="2360856"/>
                  </a:moveTo>
                  <a:lnTo>
                    <a:pt x="2095" y="2360856"/>
                  </a:lnTo>
                  <a:lnTo>
                    <a:pt x="0" y="2358770"/>
                  </a:lnTo>
                  <a:lnTo>
                    <a:pt x="0" y="2095"/>
                  </a:lnTo>
                  <a:lnTo>
                    <a:pt x="2095" y="0"/>
                  </a:lnTo>
                  <a:lnTo>
                    <a:pt x="8221122" y="0"/>
                  </a:lnTo>
                  <a:lnTo>
                    <a:pt x="8223217" y="2095"/>
                  </a:lnTo>
                  <a:lnTo>
                    <a:pt x="8223217" y="4762"/>
                  </a:lnTo>
                  <a:lnTo>
                    <a:pt x="4762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2351341"/>
                  </a:lnTo>
                  <a:lnTo>
                    <a:pt x="4762" y="2351341"/>
                  </a:lnTo>
                  <a:lnTo>
                    <a:pt x="4762" y="2356103"/>
                  </a:lnTo>
                  <a:lnTo>
                    <a:pt x="8223217" y="2356103"/>
                  </a:lnTo>
                  <a:lnTo>
                    <a:pt x="8223217" y="2358770"/>
                  </a:lnTo>
                  <a:lnTo>
                    <a:pt x="8221122" y="2360856"/>
                  </a:lnTo>
                  <a:close/>
                </a:path>
                <a:path w="8223250" h="2360929">
                  <a:moveTo>
                    <a:pt x="9525" y="9525"/>
                  </a:moveTo>
                  <a:lnTo>
                    <a:pt x="4762" y="9525"/>
                  </a:lnTo>
                  <a:lnTo>
                    <a:pt x="4762" y="4762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8223250" h="2360929">
                  <a:moveTo>
                    <a:pt x="8213692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8213692" y="4762"/>
                  </a:lnTo>
                  <a:lnTo>
                    <a:pt x="8213692" y="9525"/>
                  </a:lnTo>
                  <a:close/>
                </a:path>
                <a:path w="8223250" h="2360929">
                  <a:moveTo>
                    <a:pt x="8218455" y="2356103"/>
                  </a:moveTo>
                  <a:lnTo>
                    <a:pt x="8213692" y="2356103"/>
                  </a:lnTo>
                  <a:lnTo>
                    <a:pt x="8213692" y="4762"/>
                  </a:lnTo>
                  <a:lnTo>
                    <a:pt x="8218455" y="4762"/>
                  </a:lnTo>
                  <a:lnTo>
                    <a:pt x="8218455" y="9525"/>
                  </a:lnTo>
                  <a:lnTo>
                    <a:pt x="8223217" y="9525"/>
                  </a:lnTo>
                  <a:lnTo>
                    <a:pt x="8223217" y="2351341"/>
                  </a:lnTo>
                  <a:lnTo>
                    <a:pt x="8218455" y="2351341"/>
                  </a:lnTo>
                  <a:lnTo>
                    <a:pt x="8218455" y="2356103"/>
                  </a:lnTo>
                  <a:close/>
                </a:path>
                <a:path w="8223250" h="2360929">
                  <a:moveTo>
                    <a:pt x="8223217" y="9525"/>
                  </a:moveTo>
                  <a:lnTo>
                    <a:pt x="8218455" y="9525"/>
                  </a:lnTo>
                  <a:lnTo>
                    <a:pt x="8218455" y="4762"/>
                  </a:lnTo>
                  <a:lnTo>
                    <a:pt x="8223217" y="4762"/>
                  </a:lnTo>
                  <a:lnTo>
                    <a:pt x="8223217" y="9525"/>
                  </a:lnTo>
                  <a:close/>
                </a:path>
                <a:path w="8223250" h="2360929">
                  <a:moveTo>
                    <a:pt x="9525" y="2356103"/>
                  </a:moveTo>
                  <a:lnTo>
                    <a:pt x="4762" y="2356103"/>
                  </a:lnTo>
                  <a:lnTo>
                    <a:pt x="4762" y="2351341"/>
                  </a:lnTo>
                  <a:lnTo>
                    <a:pt x="9525" y="2351341"/>
                  </a:lnTo>
                  <a:lnTo>
                    <a:pt x="9525" y="2356103"/>
                  </a:lnTo>
                  <a:close/>
                </a:path>
                <a:path w="8223250" h="2360929">
                  <a:moveTo>
                    <a:pt x="8213692" y="2356103"/>
                  </a:moveTo>
                  <a:lnTo>
                    <a:pt x="9525" y="2356103"/>
                  </a:lnTo>
                  <a:lnTo>
                    <a:pt x="9525" y="2351341"/>
                  </a:lnTo>
                  <a:lnTo>
                    <a:pt x="8213692" y="2351341"/>
                  </a:lnTo>
                  <a:lnTo>
                    <a:pt x="8213692" y="2356103"/>
                  </a:lnTo>
                  <a:close/>
                </a:path>
                <a:path w="8223250" h="2360929">
                  <a:moveTo>
                    <a:pt x="8223217" y="2356103"/>
                  </a:moveTo>
                  <a:lnTo>
                    <a:pt x="8218455" y="2356103"/>
                  </a:lnTo>
                  <a:lnTo>
                    <a:pt x="8218455" y="2351341"/>
                  </a:lnTo>
                  <a:lnTo>
                    <a:pt x="8223217" y="2351341"/>
                  </a:lnTo>
                  <a:lnTo>
                    <a:pt x="8223217" y="2356103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9425679" y="5791632"/>
            <a:ext cx="7660640" cy="1944370"/>
          </a:xfrm>
          <a:prstGeom prst="rect">
            <a:avLst/>
          </a:prstGeom>
        </p:spPr>
        <p:txBody>
          <a:bodyPr wrap="square" lIns="0" tIns="2432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14"/>
              </a:spcBef>
            </a:pP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Extended</a:t>
            </a:r>
            <a:r>
              <a:rPr dirty="0" sz="25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>
                <a:solidFill>
                  <a:srgbClr val="CFD0D8"/>
                </a:solidFill>
                <a:latin typeface="Roboto"/>
                <a:cs typeface="Roboto"/>
              </a:rPr>
              <a:t>HBOS</a:t>
            </a:r>
            <a:r>
              <a:rPr dirty="0" sz="25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550" spc="-10">
                <a:solidFill>
                  <a:srgbClr val="CFD0D8"/>
                </a:solidFill>
                <a:latin typeface="Roboto"/>
                <a:cs typeface="Roboto"/>
              </a:rPr>
              <a:t>(EHBOS)</a:t>
            </a:r>
            <a:endParaRPr sz="2550">
              <a:latin typeface="Roboto"/>
              <a:cs typeface="Roboto"/>
            </a:endParaRPr>
          </a:p>
          <a:p>
            <a:pPr marL="12700" marR="5080">
              <a:lnSpc>
                <a:spcPct val="128000"/>
              </a:lnSpc>
              <a:spcBef>
                <a:spcPts val="780"/>
              </a:spcBef>
            </a:pP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Incorporates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2D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histograms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to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capture</a:t>
            </a:r>
            <a:r>
              <a:rPr dirty="0" sz="205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feature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pair</a:t>
            </a:r>
            <a:r>
              <a:rPr dirty="0" sz="205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dependencies,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improving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contextual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anomalies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CFD0D8"/>
                </a:solidFill>
                <a:latin typeface="Roboto"/>
                <a:cs typeface="Roboto"/>
              </a:rPr>
              <a:t>span</a:t>
            </a:r>
            <a:r>
              <a:rPr dirty="0" sz="20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CFD0D8"/>
                </a:solidFill>
                <a:latin typeface="Roboto"/>
                <a:cs typeface="Roboto"/>
              </a:rPr>
              <a:t>multiple dimensions</a:t>
            </a:r>
            <a:endParaRPr sz="2050">
              <a:latin typeface="Roboto"/>
              <a:cs typeface="Roboto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930325" y="8421585"/>
            <a:ext cx="16427450" cy="1084580"/>
            <a:chOff x="930325" y="8421585"/>
            <a:chExt cx="16427450" cy="1084580"/>
          </a:xfrm>
        </p:grpSpPr>
        <p:sp>
          <p:nvSpPr>
            <p:cNvPr id="13" name="object 13" descr=""/>
            <p:cNvSpPr/>
            <p:nvPr/>
          </p:nvSpPr>
          <p:spPr>
            <a:xfrm>
              <a:off x="930325" y="8421585"/>
              <a:ext cx="16427450" cy="1084580"/>
            </a:xfrm>
            <a:custGeom>
              <a:avLst/>
              <a:gdLst/>
              <a:ahLst/>
              <a:cxnLst/>
              <a:rect l="l" t="t" r="r" b="b"/>
              <a:pathLst>
                <a:path w="16427450" h="1084579">
                  <a:moveTo>
                    <a:pt x="16315754" y="1084516"/>
                  </a:moveTo>
                  <a:lnTo>
                    <a:pt x="111632" y="1084516"/>
                  </a:lnTo>
                  <a:lnTo>
                    <a:pt x="68191" y="1075740"/>
                  </a:lnTo>
                  <a:lnTo>
                    <a:pt x="32706" y="1051810"/>
                  </a:lnTo>
                  <a:lnTo>
                    <a:pt x="8776" y="1016324"/>
                  </a:lnTo>
                  <a:lnTo>
                    <a:pt x="0" y="972883"/>
                  </a:lnTo>
                  <a:lnTo>
                    <a:pt x="0" y="111632"/>
                  </a:lnTo>
                  <a:lnTo>
                    <a:pt x="8776" y="68191"/>
                  </a:lnTo>
                  <a:lnTo>
                    <a:pt x="32706" y="32706"/>
                  </a:lnTo>
                  <a:lnTo>
                    <a:pt x="68191" y="8776"/>
                  </a:lnTo>
                  <a:lnTo>
                    <a:pt x="111632" y="0"/>
                  </a:lnTo>
                  <a:lnTo>
                    <a:pt x="16315754" y="0"/>
                  </a:lnTo>
                  <a:lnTo>
                    <a:pt x="16359196" y="8776"/>
                  </a:lnTo>
                  <a:lnTo>
                    <a:pt x="16394680" y="32706"/>
                  </a:lnTo>
                  <a:lnTo>
                    <a:pt x="16418610" y="68191"/>
                  </a:lnTo>
                  <a:lnTo>
                    <a:pt x="16427386" y="111632"/>
                  </a:lnTo>
                  <a:lnTo>
                    <a:pt x="16427386" y="972883"/>
                  </a:lnTo>
                  <a:lnTo>
                    <a:pt x="16418610" y="1016324"/>
                  </a:lnTo>
                  <a:lnTo>
                    <a:pt x="16394680" y="1051810"/>
                  </a:lnTo>
                  <a:lnTo>
                    <a:pt x="16359196" y="1075740"/>
                  </a:lnTo>
                  <a:lnTo>
                    <a:pt x="16315754" y="1084516"/>
                  </a:lnTo>
                  <a:close/>
                </a:path>
              </a:pathLst>
            </a:custGeom>
            <a:solidFill>
              <a:srgbClr val="173A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6130" y="8816425"/>
              <a:ext cx="332217" cy="26580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1781419" y="8702970"/>
            <a:ext cx="1364678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b="1">
                <a:solidFill>
                  <a:srgbClr val="FFFFFF"/>
                </a:solidFill>
                <a:latin typeface="Roboto"/>
                <a:cs typeface="Roboto"/>
              </a:rPr>
              <a:t>Benefit:</a:t>
            </a:r>
            <a:r>
              <a:rPr dirty="0" sz="2050" spc="-3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EHBOS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outperforms</a:t>
            </a:r>
            <a:r>
              <a:rPr dirty="0" sz="20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standard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HBOS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on</a:t>
            </a:r>
            <a:r>
              <a:rPr dirty="0" sz="20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datasets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where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dirty="0" sz="20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interactions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are</a:t>
            </a:r>
            <a:r>
              <a:rPr dirty="0" sz="20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critical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dirty="0" sz="2050" spc="-3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>
                <a:solidFill>
                  <a:srgbClr val="FFFFFF"/>
                </a:solidFill>
                <a:latin typeface="Roboto"/>
                <a:cs typeface="Roboto"/>
              </a:rPr>
              <a:t>anomaly</a:t>
            </a:r>
            <a:r>
              <a:rPr dirty="0" sz="205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2050" spc="-10">
                <a:solidFill>
                  <a:srgbClr val="FFFFFF"/>
                </a:solidFill>
                <a:latin typeface="Roboto"/>
                <a:cs typeface="Roboto"/>
              </a:rPr>
              <a:t>detection</a:t>
            </a:r>
            <a:endParaRPr sz="2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 descr="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6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3505" y="631723"/>
            <a:ext cx="9662795" cy="14255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630"/>
              </a:lnSpc>
            </a:pPr>
            <a:r>
              <a:rPr dirty="0" sz="4500" spc="-125"/>
              <a:t>One-</a:t>
            </a:r>
            <a:r>
              <a:rPr dirty="0" sz="4500" spc="-75"/>
              <a:t>Class</a:t>
            </a:r>
            <a:r>
              <a:rPr dirty="0" sz="4500" spc="-175"/>
              <a:t> </a:t>
            </a:r>
            <a:r>
              <a:rPr dirty="0" sz="4500"/>
              <a:t>SVM:</a:t>
            </a:r>
            <a:r>
              <a:rPr dirty="0" sz="4500" spc="-175"/>
              <a:t> </a:t>
            </a:r>
            <a:r>
              <a:rPr dirty="0" sz="4500" spc="-10"/>
              <a:t>Defining</a:t>
            </a:r>
            <a:r>
              <a:rPr dirty="0" sz="4500" spc="-175"/>
              <a:t> </a:t>
            </a:r>
            <a:r>
              <a:rPr dirty="0" sz="4500"/>
              <a:t>the</a:t>
            </a:r>
            <a:r>
              <a:rPr dirty="0" sz="4500" spc="-170"/>
              <a:t> </a:t>
            </a:r>
            <a:r>
              <a:rPr dirty="0" sz="4500" spc="-20"/>
              <a:t>"Normal" </a:t>
            </a:r>
            <a:r>
              <a:rPr dirty="0" sz="4500" spc="-10"/>
              <a:t>Boundary</a:t>
            </a:r>
            <a:endParaRPr sz="4500"/>
          </a:p>
        </p:txBody>
      </p:sp>
      <p:grpSp>
        <p:nvGrpSpPr>
          <p:cNvPr id="6" name="object 6" descr=""/>
          <p:cNvGrpSpPr/>
          <p:nvPr/>
        </p:nvGrpSpPr>
        <p:grpSpPr>
          <a:xfrm>
            <a:off x="777630" y="2383926"/>
            <a:ext cx="9860915" cy="1686560"/>
            <a:chOff x="777630" y="2383926"/>
            <a:chExt cx="9860915" cy="1686560"/>
          </a:xfrm>
        </p:grpSpPr>
        <p:sp>
          <p:nvSpPr>
            <p:cNvPr id="7" name="object 7" descr=""/>
            <p:cNvSpPr/>
            <p:nvPr/>
          </p:nvSpPr>
          <p:spPr>
            <a:xfrm>
              <a:off x="806205" y="2398213"/>
              <a:ext cx="9817735" cy="1657985"/>
            </a:xfrm>
            <a:custGeom>
              <a:avLst/>
              <a:gdLst/>
              <a:ahLst/>
              <a:cxnLst/>
              <a:rect l="l" t="t" r="r" b="b"/>
              <a:pathLst>
                <a:path w="9817735" h="1657985">
                  <a:moveTo>
                    <a:pt x="9678449" y="1657635"/>
                  </a:moveTo>
                  <a:lnTo>
                    <a:pt x="139160" y="1657635"/>
                  </a:lnTo>
                  <a:lnTo>
                    <a:pt x="95170" y="1650640"/>
                  </a:lnTo>
                  <a:lnTo>
                    <a:pt x="56969" y="1631163"/>
                  </a:lnTo>
                  <a:lnTo>
                    <a:pt x="26846" y="1601468"/>
                  </a:lnTo>
                  <a:lnTo>
                    <a:pt x="7093" y="1563818"/>
                  </a:lnTo>
                  <a:lnTo>
                    <a:pt x="0" y="1520475"/>
                  </a:lnTo>
                  <a:lnTo>
                    <a:pt x="0" y="137160"/>
                  </a:lnTo>
                  <a:lnTo>
                    <a:pt x="7093" y="93817"/>
                  </a:lnTo>
                  <a:lnTo>
                    <a:pt x="26846" y="56167"/>
                  </a:lnTo>
                  <a:lnTo>
                    <a:pt x="56969" y="26471"/>
                  </a:lnTo>
                  <a:lnTo>
                    <a:pt x="95170" y="6995"/>
                  </a:lnTo>
                  <a:lnTo>
                    <a:pt x="139160" y="0"/>
                  </a:lnTo>
                  <a:lnTo>
                    <a:pt x="9678449" y="0"/>
                  </a:lnTo>
                  <a:lnTo>
                    <a:pt x="9722438" y="6995"/>
                  </a:lnTo>
                  <a:lnTo>
                    <a:pt x="9760640" y="26471"/>
                  </a:lnTo>
                  <a:lnTo>
                    <a:pt x="9790763" y="56167"/>
                  </a:lnTo>
                  <a:lnTo>
                    <a:pt x="9810516" y="93817"/>
                  </a:lnTo>
                  <a:lnTo>
                    <a:pt x="9817610" y="137160"/>
                  </a:lnTo>
                  <a:lnTo>
                    <a:pt x="9817610" y="1520475"/>
                  </a:lnTo>
                  <a:lnTo>
                    <a:pt x="9810516" y="1563818"/>
                  </a:lnTo>
                  <a:lnTo>
                    <a:pt x="9790763" y="1601468"/>
                  </a:lnTo>
                  <a:lnTo>
                    <a:pt x="9760640" y="1631163"/>
                  </a:lnTo>
                  <a:lnTo>
                    <a:pt x="9722438" y="1650640"/>
                  </a:lnTo>
                  <a:lnTo>
                    <a:pt x="9678449" y="165763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91917" y="2383926"/>
              <a:ext cx="9846310" cy="1686560"/>
            </a:xfrm>
            <a:custGeom>
              <a:avLst/>
              <a:gdLst/>
              <a:ahLst/>
              <a:cxnLst/>
              <a:rect l="l" t="t" r="r" b="b"/>
              <a:pathLst>
                <a:path w="9846310" h="1686560">
                  <a:moveTo>
                    <a:pt x="153447" y="1686210"/>
                  </a:moveTo>
                  <a:lnTo>
                    <a:pt x="105046" y="1678507"/>
                  </a:lnTo>
                  <a:lnTo>
                    <a:pt x="62935" y="1657041"/>
                  </a:lnTo>
                  <a:lnTo>
                    <a:pt x="29681" y="1624283"/>
                  </a:lnTo>
                  <a:lnTo>
                    <a:pt x="7847" y="1582700"/>
                  </a:lnTo>
                  <a:lnTo>
                    <a:pt x="0" y="1534763"/>
                  </a:lnTo>
                  <a:lnTo>
                    <a:pt x="0" y="151447"/>
                  </a:lnTo>
                  <a:lnTo>
                    <a:pt x="7804" y="103718"/>
                  </a:lnTo>
                  <a:lnTo>
                    <a:pt x="7838" y="103510"/>
                  </a:lnTo>
                  <a:lnTo>
                    <a:pt x="29653" y="61927"/>
                  </a:lnTo>
                  <a:lnTo>
                    <a:pt x="62894" y="29169"/>
                  </a:lnTo>
                  <a:lnTo>
                    <a:pt x="105009" y="7703"/>
                  </a:lnTo>
                  <a:lnTo>
                    <a:pt x="153447" y="0"/>
                  </a:lnTo>
                  <a:lnTo>
                    <a:pt x="9692736" y="0"/>
                  </a:lnTo>
                  <a:lnTo>
                    <a:pt x="9692736" y="14287"/>
                  </a:lnTo>
                  <a:lnTo>
                    <a:pt x="153447" y="14287"/>
                  </a:lnTo>
                  <a:lnTo>
                    <a:pt x="153447" y="28575"/>
                  </a:lnTo>
                  <a:lnTo>
                    <a:pt x="104763" y="38263"/>
                  </a:lnTo>
                  <a:lnTo>
                    <a:pt x="65079" y="64650"/>
                  </a:lnTo>
                  <a:lnTo>
                    <a:pt x="38361" y="103718"/>
                  </a:lnTo>
                  <a:lnTo>
                    <a:pt x="28575" y="151447"/>
                  </a:lnTo>
                  <a:lnTo>
                    <a:pt x="28575" y="1534763"/>
                  </a:lnTo>
                  <a:lnTo>
                    <a:pt x="38361" y="1582492"/>
                  </a:lnTo>
                  <a:lnTo>
                    <a:pt x="65079" y="1621559"/>
                  </a:lnTo>
                  <a:lnTo>
                    <a:pt x="104763" y="1647947"/>
                  </a:lnTo>
                  <a:lnTo>
                    <a:pt x="153447" y="1657635"/>
                  </a:lnTo>
                  <a:lnTo>
                    <a:pt x="9782123" y="1657635"/>
                  </a:lnTo>
                  <a:lnTo>
                    <a:pt x="9754091" y="1671923"/>
                  </a:lnTo>
                  <a:lnTo>
                    <a:pt x="153447" y="1671923"/>
                  </a:lnTo>
                  <a:lnTo>
                    <a:pt x="153447" y="1686210"/>
                  </a:lnTo>
                  <a:close/>
                </a:path>
                <a:path w="9846310" h="1686560">
                  <a:moveTo>
                    <a:pt x="9782123" y="1657635"/>
                  </a:moveTo>
                  <a:lnTo>
                    <a:pt x="9692736" y="1657635"/>
                  </a:lnTo>
                  <a:lnTo>
                    <a:pt x="9741421" y="1647947"/>
                  </a:lnTo>
                  <a:lnTo>
                    <a:pt x="9781104" y="1621559"/>
                  </a:lnTo>
                  <a:lnTo>
                    <a:pt x="9807822" y="1582492"/>
                  </a:lnTo>
                  <a:lnTo>
                    <a:pt x="9817609" y="1534763"/>
                  </a:lnTo>
                  <a:lnTo>
                    <a:pt x="9817609" y="151447"/>
                  </a:lnTo>
                  <a:lnTo>
                    <a:pt x="9807822" y="103718"/>
                  </a:lnTo>
                  <a:lnTo>
                    <a:pt x="9781104" y="64650"/>
                  </a:lnTo>
                  <a:lnTo>
                    <a:pt x="9741421" y="38263"/>
                  </a:lnTo>
                  <a:lnTo>
                    <a:pt x="9692736" y="28575"/>
                  </a:lnTo>
                  <a:lnTo>
                    <a:pt x="153447" y="28575"/>
                  </a:lnTo>
                  <a:lnTo>
                    <a:pt x="153447" y="14287"/>
                  </a:lnTo>
                  <a:lnTo>
                    <a:pt x="9692736" y="14287"/>
                  </a:lnTo>
                  <a:lnTo>
                    <a:pt x="9692736" y="0"/>
                  </a:lnTo>
                  <a:lnTo>
                    <a:pt x="9741138" y="7703"/>
                  </a:lnTo>
                  <a:lnTo>
                    <a:pt x="9783248" y="29169"/>
                  </a:lnTo>
                  <a:lnTo>
                    <a:pt x="9816502" y="61927"/>
                  </a:lnTo>
                  <a:lnTo>
                    <a:pt x="9838336" y="103510"/>
                  </a:lnTo>
                  <a:lnTo>
                    <a:pt x="9846184" y="151447"/>
                  </a:lnTo>
                  <a:lnTo>
                    <a:pt x="9846184" y="1534763"/>
                  </a:lnTo>
                  <a:lnTo>
                    <a:pt x="9838379" y="1582492"/>
                  </a:lnTo>
                  <a:lnTo>
                    <a:pt x="9838345" y="1582700"/>
                  </a:lnTo>
                  <a:lnTo>
                    <a:pt x="9816530" y="1624283"/>
                  </a:lnTo>
                  <a:lnTo>
                    <a:pt x="9783289" y="1657041"/>
                  </a:lnTo>
                  <a:lnTo>
                    <a:pt x="9782123" y="1657635"/>
                  </a:lnTo>
                  <a:close/>
                </a:path>
                <a:path w="9846310" h="1686560">
                  <a:moveTo>
                    <a:pt x="9692736" y="1686210"/>
                  </a:moveTo>
                  <a:lnTo>
                    <a:pt x="153447" y="1686210"/>
                  </a:lnTo>
                  <a:lnTo>
                    <a:pt x="153447" y="1671923"/>
                  </a:lnTo>
                  <a:lnTo>
                    <a:pt x="9692736" y="1671923"/>
                  </a:lnTo>
                  <a:lnTo>
                    <a:pt x="9692736" y="1686210"/>
                  </a:lnTo>
                  <a:close/>
                </a:path>
                <a:path w="9846310" h="1686560">
                  <a:moveTo>
                    <a:pt x="9692736" y="1686210"/>
                  </a:moveTo>
                  <a:lnTo>
                    <a:pt x="9692736" y="1671923"/>
                  </a:lnTo>
                  <a:lnTo>
                    <a:pt x="9754091" y="1671923"/>
                  </a:lnTo>
                  <a:lnTo>
                    <a:pt x="9741174" y="1678507"/>
                  </a:lnTo>
                  <a:lnTo>
                    <a:pt x="9692736" y="1686210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7630" y="2398213"/>
              <a:ext cx="114300" cy="1657985"/>
            </a:xfrm>
            <a:custGeom>
              <a:avLst/>
              <a:gdLst/>
              <a:ahLst/>
              <a:cxnLst/>
              <a:rect l="l" t="t" r="r" b="b"/>
              <a:pathLst>
                <a:path w="114300" h="1657985">
                  <a:moveTo>
                    <a:pt x="57149" y="1657635"/>
                  </a:moveTo>
                  <a:lnTo>
                    <a:pt x="34919" y="1653139"/>
                  </a:lnTo>
                  <a:lnTo>
                    <a:pt x="16752" y="1640883"/>
                  </a:lnTo>
                  <a:lnTo>
                    <a:pt x="4496" y="1622716"/>
                  </a:lnTo>
                  <a:lnTo>
                    <a:pt x="0" y="1600485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00485"/>
                  </a:lnTo>
                  <a:lnTo>
                    <a:pt x="109803" y="1622716"/>
                  </a:lnTo>
                  <a:lnTo>
                    <a:pt x="97547" y="1640883"/>
                  </a:lnTo>
                  <a:lnTo>
                    <a:pt x="79380" y="1653139"/>
                  </a:lnTo>
                  <a:lnTo>
                    <a:pt x="57149" y="1657635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777630" y="4228652"/>
            <a:ext cx="9860915" cy="1686560"/>
            <a:chOff x="777630" y="4228652"/>
            <a:chExt cx="9860915" cy="1686560"/>
          </a:xfrm>
        </p:grpSpPr>
        <p:sp>
          <p:nvSpPr>
            <p:cNvPr id="11" name="object 11" descr=""/>
            <p:cNvSpPr/>
            <p:nvPr/>
          </p:nvSpPr>
          <p:spPr>
            <a:xfrm>
              <a:off x="806205" y="4242939"/>
              <a:ext cx="9817735" cy="1657985"/>
            </a:xfrm>
            <a:custGeom>
              <a:avLst/>
              <a:gdLst/>
              <a:ahLst/>
              <a:cxnLst/>
              <a:rect l="l" t="t" r="r" b="b"/>
              <a:pathLst>
                <a:path w="9817735" h="1657985">
                  <a:moveTo>
                    <a:pt x="9678449" y="1657636"/>
                  </a:moveTo>
                  <a:lnTo>
                    <a:pt x="139160" y="1657636"/>
                  </a:lnTo>
                  <a:lnTo>
                    <a:pt x="95170" y="1650640"/>
                  </a:lnTo>
                  <a:lnTo>
                    <a:pt x="56969" y="1631164"/>
                  </a:lnTo>
                  <a:lnTo>
                    <a:pt x="26846" y="1601469"/>
                  </a:lnTo>
                  <a:lnTo>
                    <a:pt x="7093" y="1563818"/>
                  </a:lnTo>
                  <a:lnTo>
                    <a:pt x="0" y="1520475"/>
                  </a:lnTo>
                  <a:lnTo>
                    <a:pt x="0" y="137160"/>
                  </a:lnTo>
                  <a:lnTo>
                    <a:pt x="7093" y="93817"/>
                  </a:lnTo>
                  <a:lnTo>
                    <a:pt x="26846" y="56167"/>
                  </a:lnTo>
                  <a:lnTo>
                    <a:pt x="56969" y="26471"/>
                  </a:lnTo>
                  <a:lnTo>
                    <a:pt x="95170" y="6995"/>
                  </a:lnTo>
                  <a:lnTo>
                    <a:pt x="139160" y="0"/>
                  </a:lnTo>
                  <a:lnTo>
                    <a:pt x="9678449" y="0"/>
                  </a:lnTo>
                  <a:lnTo>
                    <a:pt x="9722438" y="6995"/>
                  </a:lnTo>
                  <a:lnTo>
                    <a:pt x="9760640" y="26471"/>
                  </a:lnTo>
                  <a:lnTo>
                    <a:pt x="9790763" y="56167"/>
                  </a:lnTo>
                  <a:lnTo>
                    <a:pt x="9810516" y="93817"/>
                  </a:lnTo>
                  <a:lnTo>
                    <a:pt x="9817610" y="137160"/>
                  </a:lnTo>
                  <a:lnTo>
                    <a:pt x="9817610" y="1520475"/>
                  </a:lnTo>
                  <a:lnTo>
                    <a:pt x="9810516" y="1563818"/>
                  </a:lnTo>
                  <a:lnTo>
                    <a:pt x="9790763" y="1601469"/>
                  </a:lnTo>
                  <a:lnTo>
                    <a:pt x="9760640" y="1631164"/>
                  </a:lnTo>
                  <a:lnTo>
                    <a:pt x="9722438" y="1650640"/>
                  </a:lnTo>
                  <a:lnTo>
                    <a:pt x="9678449" y="1657636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91917" y="4228652"/>
              <a:ext cx="9846310" cy="1686560"/>
            </a:xfrm>
            <a:custGeom>
              <a:avLst/>
              <a:gdLst/>
              <a:ahLst/>
              <a:cxnLst/>
              <a:rect l="l" t="t" r="r" b="b"/>
              <a:pathLst>
                <a:path w="9846310" h="1686560">
                  <a:moveTo>
                    <a:pt x="153447" y="1686211"/>
                  </a:moveTo>
                  <a:lnTo>
                    <a:pt x="105046" y="1678507"/>
                  </a:lnTo>
                  <a:lnTo>
                    <a:pt x="62935" y="1657041"/>
                  </a:lnTo>
                  <a:lnTo>
                    <a:pt x="29681" y="1624283"/>
                  </a:lnTo>
                  <a:lnTo>
                    <a:pt x="7847" y="1582700"/>
                  </a:lnTo>
                  <a:lnTo>
                    <a:pt x="0" y="1534763"/>
                  </a:lnTo>
                  <a:lnTo>
                    <a:pt x="0" y="151447"/>
                  </a:lnTo>
                  <a:lnTo>
                    <a:pt x="7804" y="103718"/>
                  </a:lnTo>
                  <a:lnTo>
                    <a:pt x="7838" y="103510"/>
                  </a:lnTo>
                  <a:lnTo>
                    <a:pt x="29653" y="61927"/>
                  </a:lnTo>
                  <a:lnTo>
                    <a:pt x="62894" y="29169"/>
                  </a:lnTo>
                  <a:lnTo>
                    <a:pt x="105009" y="7703"/>
                  </a:lnTo>
                  <a:lnTo>
                    <a:pt x="153447" y="0"/>
                  </a:lnTo>
                  <a:lnTo>
                    <a:pt x="9692736" y="0"/>
                  </a:lnTo>
                  <a:lnTo>
                    <a:pt x="9692736" y="14287"/>
                  </a:lnTo>
                  <a:lnTo>
                    <a:pt x="153447" y="14287"/>
                  </a:lnTo>
                  <a:lnTo>
                    <a:pt x="153447" y="28575"/>
                  </a:lnTo>
                  <a:lnTo>
                    <a:pt x="104763" y="38263"/>
                  </a:lnTo>
                  <a:lnTo>
                    <a:pt x="65079" y="64651"/>
                  </a:lnTo>
                  <a:lnTo>
                    <a:pt x="38361" y="103718"/>
                  </a:lnTo>
                  <a:lnTo>
                    <a:pt x="28575" y="151447"/>
                  </a:lnTo>
                  <a:lnTo>
                    <a:pt x="28575" y="1534763"/>
                  </a:lnTo>
                  <a:lnTo>
                    <a:pt x="38361" y="1582492"/>
                  </a:lnTo>
                  <a:lnTo>
                    <a:pt x="65079" y="1621560"/>
                  </a:lnTo>
                  <a:lnTo>
                    <a:pt x="104763" y="1647947"/>
                  </a:lnTo>
                  <a:lnTo>
                    <a:pt x="153447" y="1657636"/>
                  </a:lnTo>
                  <a:lnTo>
                    <a:pt x="9782123" y="1657636"/>
                  </a:lnTo>
                  <a:lnTo>
                    <a:pt x="9754091" y="1671923"/>
                  </a:lnTo>
                  <a:lnTo>
                    <a:pt x="153447" y="1671923"/>
                  </a:lnTo>
                  <a:lnTo>
                    <a:pt x="153447" y="1686211"/>
                  </a:lnTo>
                  <a:close/>
                </a:path>
                <a:path w="9846310" h="1686560">
                  <a:moveTo>
                    <a:pt x="9782123" y="1657636"/>
                  </a:moveTo>
                  <a:lnTo>
                    <a:pt x="9692736" y="1657636"/>
                  </a:lnTo>
                  <a:lnTo>
                    <a:pt x="9741421" y="1647947"/>
                  </a:lnTo>
                  <a:lnTo>
                    <a:pt x="9781104" y="1621560"/>
                  </a:lnTo>
                  <a:lnTo>
                    <a:pt x="9807822" y="1582492"/>
                  </a:lnTo>
                  <a:lnTo>
                    <a:pt x="9817609" y="1534763"/>
                  </a:lnTo>
                  <a:lnTo>
                    <a:pt x="9817609" y="151447"/>
                  </a:lnTo>
                  <a:lnTo>
                    <a:pt x="9807822" y="103718"/>
                  </a:lnTo>
                  <a:lnTo>
                    <a:pt x="9781104" y="64651"/>
                  </a:lnTo>
                  <a:lnTo>
                    <a:pt x="9741421" y="38263"/>
                  </a:lnTo>
                  <a:lnTo>
                    <a:pt x="9692736" y="28575"/>
                  </a:lnTo>
                  <a:lnTo>
                    <a:pt x="153447" y="28575"/>
                  </a:lnTo>
                  <a:lnTo>
                    <a:pt x="153447" y="14287"/>
                  </a:lnTo>
                  <a:lnTo>
                    <a:pt x="9692736" y="14287"/>
                  </a:lnTo>
                  <a:lnTo>
                    <a:pt x="9692736" y="0"/>
                  </a:lnTo>
                  <a:lnTo>
                    <a:pt x="9741138" y="7703"/>
                  </a:lnTo>
                  <a:lnTo>
                    <a:pt x="9783248" y="29169"/>
                  </a:lnTo>
                  <a:lnTo>
                    <a:pt x="9816502" y="61927"/>
                  </a:lnTo>
                  <a:lnTo>
                    <a:pt x="9838336" y="103510"/>
                  </a:lnTo>
                  <a:lnTo>
                    <a:pt x="9846184" y="151447"/>
                  </a:lnTo>
                  <a:lnTo>
                    <a:pt x="9846184" y="1534763"/>
                  </a:lnTo>
                  <a:lnTo>
                    <a:pt x="9838379" y="1582492"/>
                  </a:lnTo>
                  <a:lnTo>
                    <a:pt x="9838345" y="1582700"/>
                  </a:lnTo>
                  <a:lnTo>
                    <a:pt x="9816530" y="1624283"/>
                  </a:lnTo>
                  <a:lnTo>
                    <a:pt x="9783289" y="1657041"/>
                  </a:lnTo>
                  <a:lnTo>
                    <a:pt x="9782123" y="1657636"/>
                  </a:lnTo>
                  <a:close/>
                </a:path>
                <a:path w="9846310" h="1686560">
                  <a:moveTo>
                    <a:pt x="9692736" y="1686211"/>
                  </a:moveTo>
                  <a:lnTo>
                    <a:pt x="153447" y="1686211"/>
                  </a:lnTo>
                  <a:lnTo>
                    <a:pt x="153447" y="1671923"/>
                  </a:lnTo>
                  <a:lnTo>
                    <a:pt x="9692736" y="1671923"/>
                  </a:lnTo>
                  <a:lnTo>
                    <a:pt x="9692736" y="1686211"/>
                  </a:lnTo>
                  <a:close/>
                </a:path>
                <a:path w="9846310" h="1686560">
                  <a:moveTo>
                    <a:pt x="9692736" y="1686211"/>
                  </a:moveTo>
                  <a:lnTo>
                    <a:pt x="9692736" y="1671923"/>
                  </a:lnTo>
                  <a:lnTo>
                    <a:pt x="9754091" y="1671923"/>
                  </a:lnTo>
                  <a:lnTo>
                    <a:pt x="9741174" y="1678507"/>
                  </a:lnTo>
                  <a:lnTo>
                    <a:pt x="9692736" y="168621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77630" y="4242939"/>
              <a:ext cx="114300" cy="1657985"/>
            </a:xfrm>
            <a:custGeom>
              <a:avLst/>
              <a:gdLst/>
              <a:ahLst/>
              <a:cxnLst/>
              <a:rect l="l" t="t" r="r" b="b"/>
              <a:pathLst>
                <a:path w="114300" h="1657985">
                  <a:moveTo>
                    <a:pt x="57149" y="1657635"/>
                  </a:moveTo>
                  <a:lnTo>
                    <a:pt x="34919" y="1653139"/>
                  </a:lnTo>
                  <a:lnTo>
                    <a:pt x="16752" y="1640883"/>
                  </a:lnTo>
                  <a:lnTo>
                    <a:pt x="4496" y="1622716"/>
                  </a:lnTo>
                  <a:lnTo>
                    <a:pt x="0" y="1600485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00485"/>
                  </a:lnTo>
                  <a:lnTo>
                    <a:pt x="109803" y="1622716"/>
                  </a:lnTo>
                  <a:lnTo>
                    <a:pt x="97547" y="1640883"/>
                  </a:lnTo>
                  <a:lnTo>
                    <a:pt x="79380" y="1653139"/>
                  </a:lnTo>
                  <a:lnTo>
                    <a:pt x="57149" y="1657635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777630" y="6073377"/>
            <a:ext cx="9859645" cy="1705610"/>
            <a:chOff x="777630" y="6073377"/>
            <a:chExt cx="9859645" cy="1705610"/>
          </a:xfrm>
        </p:grpSpPr>
        <p:sp>
          <p:nvSpPr>
            <p:cNvPr id="15" name="object 15" descr=""/>
            <p:cNvSpPr/>
            <p:nvPr/>
          </p:nvSpPr>
          <p:spPr>
            <a:xfrm>
              <a:off x="806205" y="6087665"/>
              <a:ext cx="9817735" cy="1677035"/>
            </a:xfrm>
            <a:custGeom>
              <a:avLst/>
              <a:gdLst/>
              <a:ahLst/>
              <a:cxnLst/>
              <a:rect l="l" t="t" r="r" b="b"/>
              <a:pathLst>
                <a:path w="9817735" h="1677034">
                  <a:moveTo>
                    <a:pt x="9678543" y="1676685"/>
                  </a:moveTo>
                  <a:lnTo>
                    <a:pt x="139065" y="1676685"/>
                  </a:lnTo>
                  <a:lnTo>
                    <a:pt x="95121" y="1669690"/>
                  </a:lnTo>
                  <a:lnTo>
                    <a:pt x="56948" y="1650213"/>
                  </a:lnTo>
                  <a:lnTo>
                    <a:pt x="26840" y="1620518"/>
                  </a:lnTo>
                  <a:lnTo>
                    <a:pt x="7092" y="1582868"/>
                  </a:lnTo>
                  <a:lnTo>
                    <a:pt x="0" y="1539525"/>
                  </a:lnTo>
                  <a:lnTo>
                    <a:pt x="0" y="137160"/>
                  </a:lnTo>
                  <a:lnTo>
                    <a:pt x="7092" y="93817"/>
                  </a:lnTo>
                  <a:lnTo>
                    <a:pt x="26840" y="56167"/>
                  </a:lnTo>
                  <a:lnTo>
                    <a:pt x="56948" y="26471"/>
                  </a:lnTo>
                  <a:lnTo>
                    <a:pt x="95121" y="6995"/>
                  </a:lnTo>
                  <a:lnTo>
                    <a:pt x="139065" y="0"/>
                  </a:lnTo>
                  <a:lnTo>
                    <a:pt x="9678543" y="0"/>
                  </a:lnTo>
                  <a:lnTo>
                    <a:pt x="9722487" y="6995"/>
                  </a:lnTo>
                  <a:lnTo>
                    <a:pt x="9760660" y="26471"/>
                  </a:lnTo>
                  <a:lnTo>
                    <a:pt x="9790768" y="56167"/>
                  </a:lnTo>
                  <a:lnTo>
                    <a:pt x="9810516" y="93817"/>
                  </a:lnTo>
                  <a:lnTo>
                    <a:pt x="9817608" y="137160"/>
                  </a:lnTo>
                  <a:lnTo>
                    <a:pt x="9817608" y="1539525"/>
                  </a:lnTo>
                  <a:lnTo>
                    <a:pt x="9810516" y="1582868"/>
                  </a:lnTo>
                  <a:lnTo>
                    <a:pt x="9790768" y="1620518"/>
                  </a:lnTo>
                  <a:lnTo>
                    <a:pt x="9760660" y="1650213"/>
                  </a:lnTo>
                  <a:lnTo>
                    <a:pt x="9722487" y="1669690"/>
                  </a:lnTo>
                  <a:lnTo>
                    <a:pt x="9678543" y="167668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91917" y="6073377"/>
              <a:ext cx="9845675" cy="1705610"/>
            </a:xfrm>
            <a:custGeom>
              <a:avLst/>
              <a:gdLst/>
              <a:ahLst/>
              <a:cxnLst/>
              <a:rect l="l" t="t" r="r" b="b"/>
              <a:pathLst>
                <a:path w="9845675" h="1705609">
                  <a:moveTo>
                    <a:pt x="153352" y="1705260"/>
                  </a:moveTo>
                  <a:lnTo>
                    <a:pt x="104960" y="1697557"/>
                  </a:lnTo>
                  <a:lnTo>
                    <a:pt x="62874" y="1676091"/>
                  </a:lnTo>
                  <a:lnTo>
                    <a:pt x="29647" y="1643333"/>
                  </a:lnTo>
                  <a:lnTo>
                    <a:pt x="7837" y="1601750"/>
                  </a:lnTo>
                  <a:lnTo>
                    <a:pt x="0" y="1553813"/>
                  </a:lnTo>
                  <a:lnTo>
                    <a:pt x="0" y="151447"/>
                  </a:lnTo>
                  <a:lnTo>
                    <a:pt x="7803" y="103718"/>
                  </a:lnTo>
                  <a:lnTo>
                    <a:pt x="7837" y="103510"/>
                  </a:lnTo>
                  <a:lnTo>
                    <a:pt x="29647" y="61927"/>
                  </a:lnTo>
                  <a:lnTo>
                    <a:pt x="62874" y="29169"/>
                  </a:lnTo>
                  <a:lnTo>
                    <a:pt x="104960" y="7703"/>
                  </a:lnTo>
                  <a:lnTo>
                    <a:pt x="153352" y="0"/>
                  </a:lnTo>
                  <a:lnTo>
                    <a:pt x="9692831" y="0"/>
                  </a:lnTo>
                  <a:lnTo>
                    <a:pt x="9692831" y="14287"/>
                  </a:lnTo>
                  <a:lnTo>
                    <a:pt x="153352" y="14287"/>
                  </a:lnTo>
                  <a:lnTo>
                    <a:pt x="153352" y="28575"/>
                  </a:lnTo>
                  <a:lnTo>
                    <a:pt x="104702" y="38263"/>
                  </a:lnTo>
                  <a:lnTo>
                    <a:pt x="65043" y="64650"/>
                  </a:lnTo>
                  <a:lnTo>
                    <a:pt x="38475" y="103510"/>
                  </a:lnTo>
                  <a:lnTo>
                    <a:pt x="28575" y="151447"/>
                  </a:lnTo>
                  <a:lnTo>
                    <a:pt x="28575" y="1553813"/>
                  </a:lnTo>
                  <a:lnTo>
                    <a:pt x="38387" y="1601582"/>
                  </a:lnTo>
                  <a:lnTo>
                    <a:pt x="65121" y="1640645"/>
                  </a:lnTo>
                  <a:lnTo>
                    <a:pt x="104790" y="1667010"/>
                  </a:lnTo>
                  <a:lnTo>
                    <a:pt x="153352" y="1676685"/>
                  </a:lnTo>
                  <a:lnTo>
                    <a:pt x="9782144" y="1676685"/>
                  </a:lnTo>
                  <a:lnTo>
                    <a:pt x="9754131" y="1690973"/>
                  </a:lnTo>
                  <a:lnTo>
                    <a:pt x="153352" y="1690973"/>
                  </a:lnTo>
                  <a:lnTo>
                    <a:pt x="153352" y="1705260"/>
                  </a:lnTo>
                  <a:close/>
                </a:path>
                <a:path w="9845675" h="1705609">
                  <a:moveTo>
                    <a:pt x="9782144" y="1676685"/>
                  </a:moveTo>
                  <a:lnTo>
                    <a:pt x="9692831" y="1676685"/>
                  </a:lnTo>
                  <a:lnTo>
                    <a:pt x="9741500" y="1667010"/>
                  </a:lnTo>
                  <a:lnTo>
                    <a:pt x="9781151" y="1640645"/>
                  </a:lnTo>
                  <a:lnTo>
                    <a:pt x="9807721" y="1601750"/>
                  </a:lnTo>
                  <a:lnTo>
                    <a:pt x="9807836" y="1601582"/>
                  </a:lnTo>
                  <a:lnTo>
                    <a:pt x="9817608" y="1553813"/>
                  </a:lnTo>
                  <a:lnTo>
                    <a:pt x="9817608" y="151447"/>
                  </a:lnTo>
                  <a:lnTo>
                    <a:pt x="9807823" y="103718"/>
                  </a:lnTo>
                  <a:lnTo>
                    <a:pt x="9781116" y="64650"/>
                  </a:lnTo>
                  <a:lnTo>
                    <a:pt x="9741460" y="38263"/>
                  </a:lnTo>
                  <a:lnTo>
                    <a:pt x="9692831" y="28575"/>
                  </a:lnTo>
                  <a:lnTo>
                    <a:pt x="153352" y="28575"/>
                  </a:lnTo>
                  <a:lnTo>
                    <a:pt x="153352" y="14287"/>
                  </a:lnTo>
                  <a:lnTo>
                    <a:pt x="9692831" y="14287"/>
                  </a:lnTo>
                  <a:lnTo>
                    <a:pt x="9692831" y="0"/>
                  </a:lnTo>
                  <a:lnTo>
                    <a:pt x="9741223" y="7703"/>
                  </a:lnTo>
                  <a:lnTo>
                    <a:pt x="9783309" y="29169"/>
                  </a:lnTo>
                  <a:lnTo>
                    <a:pt x="9816536" y="61927"/>
                  </a:lnTo>
                  <a:lnTo>
                    <a:pt x="9838345" y="103510"/>
                  </a:lnTo>
                  <a:lnTo>
                    <a:pt x="9845271" y="145869"/>
                  </a:lnTo>
                  <a:lnTo>
                    <a:pt x="9845271" y="1559391"/>
                  </a:lnTo>
                  <a:lnTo>
                    <a:pt x="9838373" y="1601582"/>
                  </a:lnTo>
                  <a:lnTo>
                    <a:pt x="9838345" y="1601750"/>
                  </a:lnTo>
                  <a:lnTo>
                    <a:pt x="9816536" y="1643333"/>
                  </a:lnTo>
                  <a:lnTo>
                    <a:pt x="9783309" y="1676091"/>
                  </a:lnTo>
                  <a:lnTo>
                    <a:pt x="9782144" y="1676685"/>
                  </a:lnTo>
                  <a:close/>
                </a:path>
                <a:path w="9845675" h="1705609">
                  <a:moveTo>
                    <a:pt x="9692831" y="1705260"/>
                  </a:moveTo>
                  <a:lnTo>
                    <a:pt x="153352" y="1705260"/>
                  </a:lnTo>
                  <a:lnTo>
                    <a:pt x="153352" y="1690973"/>
                  </a:lnTo>
                  <a:lnTo>
                    <a:pt x="9692831" y="1690973"/>
                  </a:lnTo>
                  <a:lnTo>
                    <a:pt x="9692831" y="1705260"/>
                  </a:lnTo>
                  <a:close/>
                </a:path>
                <a:path w="9845675" h="1705609">
                  <a:moveTo>
                    <a:pt x="9692831" y="1705260"/>
                  </a:moveTo>
                  <a:lnTo>
                    <a:pt x="9692831" y="1690973"/>
                  </a:lnTo>
                  <a:lnTo>
                    <a:pt x="9754131" y="1690973"/>
                  </a:lnTo>
                  <a:lnTo>
                    <a:pt x="9741223" y="1697557"/>
                  </a:lnTo>
                  <a:lnTo>
                    <a:pt x="9692831" y="1705260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77630" y="6087665"/>
              <a:ext cx="114300" cy="1677035"/>
            </a:xfrm>
            <a:custGeom>
              <a:avLst/>
              <a:gdLst/>
              <a:ahLst/>
              <a:cxnLst/>
              <a:rect l="l" t="t" r="r" b="b"/>
              <a:pathLst>
                <a:path w="114300" h="1677034">
                  <a:moveTo>
                    <a:pt x="57827" y="1676548"/>
                  </a:moveTo>
                  <a:lnTo>
                    <a:pt x="56472" y="1676548"/>
                  </a:lnTo>
                  <a:lnTo>
                    <a:pt x="34919" y="1672189"/>
                  </a:lnTo>
                  <a:lnTo>
                    <a:pt x="16752" y="1659933"/>
                  </a:lnTo>
                  <a:lnTo>
                    <a:pt x="4496" y="1641766"/>
                  </a:lnTo>
                  <a:lnTo>
                    <a:pt x="0" y="1619535"/>
                  </a:lnTo>
                  <a:lnTo>
                    <a:pt x="0" y="57150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300" y="57150"/>
                  </a:lnTo>
                  <a:lnTo>
                    <a:pt x="114300" y="1619535"/>
                  </a:lnTo>
                  <a:lnTo>
                    <a:pt x="109803" y="1641766"/>
                  </a:lnTo>
                  <a:lnTo>
                    <a:pt x="97547" y="1659933"/>
                  </a:lnTo>
                  <a:lnTo>
                    <a:pt x="79380" y="1672189"/>
                  </a:lnTo>
                  <a:lnTo>
                    <a:pt x="57827" y="1676548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777630" y="7937154"/>
            <a:ext cx="9860915" cy="1686560"/>
            <a:chOff x="777630" y="7937154"/>
            <a:chExt cx="9860915" cy="1686560"/>
          </a:xfrm>
        </p:grpSpPr>
        <p:sp>
          <p:nvSpPr>
            <p:cNvPr id="19" name="object 19" descr=""/>
            <p:cNvSpPr/>
            <p:nvPr/>
          </p:nvSpPr>
          <p:spPr>
            <a:xfrm>
              <a:off x="806205" y="7951441"/>
              <a:ext cx="9817735" cy="1657985"/>
            </a:xfrm>
            <a:custGeom>
              <a:avLst/>
              <a:gdLst/>
              <a:ahLst/>
              <a:cxnLst/>
              <a:rect l="l" t="t" r="r" b="b"/>
              <a:pathLst>
                <a:path w="9817735" h="1657984">
                  <a:moveTo>
                    <a:pt x="9678449" y="1657635"/>
                  </a:moveTo>
                  <a:lnTo>
                    <a:pt x="139160" y="1657635"/>
                  </a:lnTo>
                  <a:lnTo>
                    <a:pt x="95170" y="1650640"/>
                  </a:lnTo>
                  <a:lnTo>
                    <a:pt x="56969" y="1631164"/>
                  </a:lnTo>
                  <a:lnTo>
                    <a:pt x="26846" y="1601468"/>
                  </a:lnTo>
                  <a:lnTo>
                    <a:pt x="7093" y="1563818"/>
                  </a:lnTo>
                  <a:lnTo>
                    <a:pt x="0" y="1520475"/>
                  </a:lnTo>
                  <a:lnTo>
                    <a:pt x="0" y="137160"/>
                  </a:lnTo>
                  <a:lnTo>
                    <a:pt x="7093" y="93817"/>
                  </a:lnTo>
                  <a:lnTo>
                    <a:pt x="26846" y="56167"/>
                  </a:lnTo>
                  <a:lnTo>
                    <a:pt x="56969" y="26471"/>
                  </a:lnTo>
                  <a:lnTo>
                    <a:pt x="95170" y="6995"/>
                  </a:lnTo>
                  <a:lnTo>
                    <a:pt x="139160" y="0"/>
                  </a:lnTo>
                  <a:lnTo>
                    <a:pt x="9678449" y="0"/>
                  </a:lnTo>
                  <a:lnTo>
                    <a:pt x="9722438" y="6995"/>
                  </a:lnTo>
                  <a:lnTo>
                    <a:pt x="9760640" y="26471"/>
                  </a:lnTo>
                  <a:lnTo>
                    <a:pt x="9790763" y="56167"/>
                  </a:lnTo>
                  <a:lnTo>
                    <a:pt x="9810516" y="93817"/>
                  </a:lnTo>
                  <a:lnTo>
                    <a:pt x="9817610" y="137160"/>
                  </a:lnTo>
                  <a:lnTo>
                    <a:pt x="9817610" y="1520475"/>
                  </a:lnTo>
                  <a:lnTo>
                    <a:pt x="9810516" y="1563818"/>
                  </a:lnTo>
                  <a:lnTo>
                    <a:pt x="9790763" y="1601468"/>
                  </a:lnTo>
                  <a:lnTo>
                    <a:pt x="9760640" y="1631164"/>
                  </a:lnTo>
                  <a:lnTo>
                    <a:pt x="9722438" y="1650640"/>
                  </a:lnTo>
                  <a:lnTo>
                    <a:pt x="9678449" y="1657635"/>
                  </a:lnTo>
                  <a:close/>
                </a:path>
              </a:pathLst>
            </a:custGeom>
            <a:solidFill>
              <a:srgbClr val="000017">
                <a:alpha val="9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1917" y="7937154"/>
              <a:ext cx="9846310" cy="1686560"/>
            </a:xfrm>
            <a:custGeom>
              <a:avLst/>
              <a:gdLst/>
              <a:ahLst/>
              <a:cxnLst/>
              <a:rect l="l" t="t" r="r" b="b"/>
              <a:pathLst>
                <a:path w="9846310" h="1686559">
                  <a:moveTo>
                    <a:pt x="153447" y="1686211"/>
                  </a:moveTo>
                  <a:lnTo>
                    <a:pt x="105046" y="1678507"/>
                  </a:lnTo>
                  <a:lnTo>
                    <a:pt x="62935" y="1657041"/>
                  </a:lnTo>
                  <a:lnTo>
                    <a:pt x="29681" y="1624283"/>
                  </a:lnTo>
                  <a:lnTo>
                    <a:pt x="7847" y="1582700"/>
                  </a:lnTo>
                  <a:lnTo>
                    <a:pt x="0" y="1534763"/>
                  </a:lnTo>
                  <a:lnTo>
                    <a:pt x="0" y="151447"/>
                  </a:lnTo>
                  <a:lnTo>
                    <a:pt x="7804" y="103718"/>
                  </a:lnTo>
                  <a:lnTo>
                    <a:pt x="29653" y="61927"/>
                  </a:lnTo>
                  <a:lnTo>
                    <a:pt x="62894" y="29169"/>
                  </a:lnTo>
                  <a:lnTo>
                    <a:pt x="105009" y="7703"/>
                  </a:lnTo>
                  <a:lnTo>
                    <a:pt x="153447" y="0"/>
                  </a:lnTo>
                  <a:lnTo>
                    <a:pt x="9692736" y="0"/>
                  </a:lnTo>
                  <a:lnTo>
                    <a:pt x="9692736" y="14287"/>
                  </a:lnTo>
                  <a:lnTo>
                    <a:pt x="153447" y="14287"/>
                  </a:lnTo>
                  <a:lnTo>
                    <a:pt x="153447" y="28575"/>
                  </a:lnTo>
                  <a:lnTo>
                    <a:pt x="104763" y="38263"/>
                  </a:lnTo>
                  <a:lnTo>
                    <a:pt x="65079" y="64651"/>
                  </a:lnTo>
                  <a:lnTo>
                    <a:pt x="38361" y="103718"/>
                  </a:lnTo>
                  <a:lnTo>
                    <a:pt x="28575" y="151447"/>
                  </a:lnTo>
                  <a:lnTo>
                    <a:pt x="28575" y="1534763"/>
                  </a:lnTo>
                  <a:lnTo>
                    <a:pt x="38361" y="1582492"/>
                  </a:lnTo>
                  <a:lnTo>
                    <a:pt x="65079" y="1621560"/>
                  </a:lnTo>
                  <a:lnTo>
                    <a:pt x="104763" y="1647947"/>
                  </a:lnTo>
                  <a:lnTo>
                    <a:pt x="153447" y="1657636"/>
                  </a:lnTo>
                  <a:lnTo>
                    <a:pt x="9782123" y="1657636"/>
                  </a:lnTo>
                  <a:lnTo>
                    <a:pt x="9754091" y="1671923"/>
                  </a:lnTo>
                  <a:lnTo>
                    <a:pt x="153447" y="1671923"/>
                  </a:lnTo>
                  <a:lnTo>
                    <a:pt x="153447" y="1686211"/>
                  </a:lnTo>
                  <a:close/>
                </a:path>
                <a:path w="9846310" h="1686559">
                  <a:moveTo>
                    <a:pt x="9782123" y="1657636"/>
                  </a:moveTo>
                  <a:lnTo>
                    <a:pt x="9692736" y="1657636"/>
                  </a:lnTo>
                  <a:lnTo>
                    <a:pt x="9741421" y="1647947"/>
                  </a:lnTo>
                  <a:lnTo>
                    <a:pt x="9781104" y="1621560"/>
                  </a:lnTo>
                  <a:lnTo>
                    <a:pt x="9807822" y="1582492"/>
                  </a:lnTo>
                  <a:lnTo>
                    <a:pt x="9817609" y="1534763"/>
                  </a:lnTo>
                  <a:lnTo>
                    <a:pt x="9817609" y="151447"/>
                  </a:lnTo>
                  <a:lnTo>
                    <a:pt x="9807822" y="103718"/>
                  </a:lnTo>
                  <a:lnTo>
                    <a:pt x="9781104" y="64651"/>
                  </a:lnTo>
                  <a:lnTo>
                    <a:pt x="9741421" y="38263"/>
                  </a:lnTo>
                  <a:lnTo>
                    <a:pt x="9692736" y="28575"/>
                  </a:lnTo>
                  <a:lnTo>
                    <a:pt x="153447" y="28575"/>
                  </a:lnTo>
                  <a:lnTo>
                    <a:pt x="153447" y="14287"/>
                  </a:lnTo>
                  <a:lnTo>
                    <a:pt x="9692736" y="14287"/>
                  </a:lnTo>
                  <a:lnTo>
                    <a:pt x="9692736" y="0"/>
                  </a:lnTo>
                  <a:lnTo>
                    <a:pt x="9741138" y="7703"/>
                  </a:lnTo>
                  <a:lnTo>
                    <a:pt x="9783248" y="29169"/>
                  </a:lnTo>
                  <a:lnTo>
                    <a:pt x="9816502" y="61927"/>
                  </a:lnTo>
                  <a:lnTo>
                    <a:pt x="9838336" y="103510"/>
                  </a:lnTo>
                  <a:lnTo>
                    <a:pt x="9846184" y="151447"/>
                  </a:lnTo>
                  <a:lnTo>
                    <a:pt x="9846184" y="1534763"/>
                  </a:lnTo>
                  <a:lnTo>
                    <a:pt x="9838379" y="1582492"/>
                  </a:lnTo>
                  <a:lnTo>
                    <a:pt x="9838345" y="1582700"/>
                  </a:lnTo>
                  <a:lnTo>
                    <a:pt x="9816530" y="1624283"/>
                  </a:lnTo>
                  <a:lnTo>
                    <a:pt x="9783289" y="1657041"/>
                  </a:lnTo>
                  <a:lnTo>
                    <a:pt x="9782123" y="1657636"/>
                  </a:lnTo>
                  <a:close/>
                </a:path>
                <a:path w="9846310" h="1686559">
                  <a:moveTo>
                    <a:pt x="9692736" y="1686211"/>
                  </a:moveTo>
                  <a:lnTo>
                    <a:pt x="153447" y="1686211"/>
                  </a:lnTo>
                  <a:lnTo>
                    <a:pt x="153447" y="1671923"/>
                  </a:lnTo>
                  <a:lnTo>
                    <a:pt x="9692736" y="1671923"/>
                  </a:lnTo>
                  <a:lnTo>
                    <a:pt x="9692736" y="1686211"/>
                  </a:lnTo>
                  <a:close/>
                </a:path>
                <a:path w="9846310" h="1686559">
                  <a:moveTo>
                    <a:pt x="9692736" y="1686211"/>
                  </a:moveTo>
                  <a:lnTo>
                    <a:pt x="9692736" y="1671923"/>
                  </a:lnTo>
                  <a:lnTo>
                    <a:pt x="9754091" y="1671923"/>
                  </a:lnTo>
                  <a:lnTo>
                    <a:pt x="9741174" y="1678507"/>
                  </a:lnTo>
                  <a:lnTo>
                    <a:pt x="9692736" y="168621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77630" y="7951441"/>
              <a:ext cx="114300" cy="1657985"/>
            </a:xfrm>
            <a:custGeom>
              <a:avLst/>
              <a:gdLst/>
              <a:ahLst/>
              <a:cxnLst/>
              <a:rect l="l" t="t" r="r" b="b"/>
              <a:pathLst>
                <a:path w="114300" h="1657984">
                  <a:moveTo>
                    <a:pt x="57149" y="1657635"/>
                  </a:moveTo>
                  <a:lnTo>
                    <a:pt x="34919" y="1653139"/>
                  </a:lnTo>
                  <a:lnTo>
                    <a:pt x="16752" y="1640883"/>
                  </a:lnTo>
                  <a:lnTo>
                    <a:pt x="4496" y="1622716"/>
                  </a:lnTo>
                  <a:lnTo>
                    <a:pt x="0" y="1600485"/>
                  </a:lnTo>
                  <a:lnTo>
                    <a:pt x="0" y="57149"/>
                  </a:lnTo>
                  <a:lnTo>
                    <a:pt x="4496" y="34919"/>
                  </a:lnTo>
                  <a:lnTo>
                    <a:pt x="16752" y="16752"/>
                  </a:lnTo>
                  <a:lnTo>
                    <a:pt x="34919" y="4496"/>
                  </a:lnTo>
                  <a:lnTo>
                    <a:pt x="57149" y="0"/>
                  </a:lnTo>
                  <a:lnTo>
                    <a:pt x="79380" y="4496"/>
                  </a:lnTo>
                  <a:lnTo>
                    <a:pt x="97547" y="16752"/>
                  </a:lnTo>
                  <a:lnTo>
                    <a:pt x="109803" y="34919"/>
                  </a:lnTo>
                  <a:lnTo>
                    <a:pt x="114299" y="57149"/>
                  </a:lnTo>
                  <a:lnTo>
                    <a:pt x="114299" y="1600485"/>
                  </a:lnTo>
                  <a:lnTo>
                    <a:pt x="109803" y="1622716"/>
                  </a:lnTo>
                  <a:lnTo>
                    <a:pt x="97547" y="1640883"/>
                  </a:lnTo>
                  <a:lnTo>
                    <a:pt x="79380" y="1653139"/>
                  </a:lnTo>
                  <a:lnTo>
                    <a:pt x="57149" y="1657635"/>
                  </a:lnTo>
                  <a:close/>
                </a:path>
              </a:pathLst>
            </a:custGeom>
            <a:solidFill>
              <a:srgbClr val="596ED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138034" y="2450740"/>
            <a:ext cx="8920480" cy="6833870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Core</a:t>
            </a:r>
            <a:r>
              <a:rPr dirty="0" sz="22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20">
                <a:solidFill>
                  <a:srgbClr val="CFD0D8"/>
                </a:solidFill>
                <a:latin typeface="Roboto"/>
                <a:cs typeface="Roboto"/>
              </a:rPr>
              <a:t>Idea</a:t>
            </a:r>
            <a:endParaRPr sz="2250">
              <a:latin typeface="Roboto"/>
              <a:cs typeface="Roboto"/>
            </a:endParaRPr>
          </a:p>
          <a:p>
            <a:pPr marL="12700" marR="621030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Learns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tight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boundary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encompasses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CFD0D8"/>
                </a:solidFill>
                <a:latin typeface="Roboto"/>
                <a:cs typeface="Roboto"/>
              </a:rPr>
              <a:t>"normal"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distribution,</a:t>
            </a:r>
            <a:r>
              <a:rPr dirty="0" sz="1800" spc="-5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treating everything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outside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</a:t>
            </a:r>
            <a:r>
              <a:rPr dirty="0" sz="180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anomaly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How</a:t>
            </a:r>
            <a:r>
              <a:rPr dirty="0" sz="22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It</a:t>
            </a:r>
            <a:r>
              <a:rPr dirty="0" sz="22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10">
                <a:solidFill>
                  <a:srgbClr val="CFD0D8"/>
                </a:solidFill>
                <a:latin typeface="Roboto"/>
                <a:cs typeface="Roboto"/>
              </a:rPr>
              <a:t>Works</a:t>
            </a:r>
            <a:endParaRPr sz="2250">
              <a:latin typeface="Roboto"/>
              <a:cs typeface="Roboto"/>
            </a:endParaRPr>
          </a:p>
          <a:p>
            <a:pPr marL="12700" marR="36195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Estimates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support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95">
                <a:solidFill>
                  <a:srgbClr val="CFD0D8"/>
                </a:solidFill>
                <a:latin typeface="Roboto"/>
                <a:cs typeface="Roboto"/>
              </a:rPr>
              <a:t>high-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dimensional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distribution,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classifying</a:t>
            </a:r>
            <a:r>
              <a:rPr dirty="0" sz="180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points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outside</a:t>
            </a:r>
            <a:r>
              <a:rPr dirty="0" sz="180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this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learned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support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region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as</a:t>
            </a:r>
            <a:r>
              <a:rPr dirty="0" sz="1800" spc="-5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outliers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250" spc="-10">
                <a:solidFill>
                  <a:srgbClr val="CFD0D8"/>
                </a:solidFill>
                <a:latin typeface="Roboto"/>
                <a:cs typeface="Roboto"/>
              </a:rPr>
              <a:t>Parameters</a:t>
            </a:r>
            <a:endParaRPr sz="2250">
              <a:latin typeface="Roboto"/>
              <a:cs typeface="Roboto"/>
            </a:endParaRPr>
          </a:p>
          <a:p>
            <a:pPr marL="12700" marR="5080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Kernel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type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(e.g.,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'rbf',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'linear'),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nu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parameter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controls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upper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bound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on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training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errors</a:t>
            </a:r>
            <a:r>
              <a:rPr dirty="0" sz="180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lower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bound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on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support</a:t>
            </a:r>
            <a:r>
              <a:rPr dirty="0" sz="1800" spc="-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vectors</a:t>
            </a: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795"/>
              </a:spcBef>
            </a:pPr>
            <a:endParaRPr sz="1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2250">
                <a:solidFill>
                  <a:srgbClr val="CFD0D8"/>
                </a:solidFill>
                <a:latin typeface="Roboto"/>
                <a:cs typeface="Roboto"/>
              </a:rPr>
              <a:t>Use</a:t>
            </a:r>
            <a:r>
              <a:rPr dirty="0" sz="22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250" spc="-20">
                <a:solidFill>
                  <a:srgbClr val="CFD0D8"/>
                </a:solidFill>
                <a:latin typeface="Roboto"/>
                <a:cs typeface="Roboto"/>
              </a:rPr>
              <a:t>Case</a:t>
            </a:r>
            <a:endParaRPr sz="2250">
              <a:latin typeface="Roboto"/>
              <a:cs typeface="Roboto"/>
            </a:endParaRPr>
          </a:p>
          <a:p>
            <a:pPr marL="12700" marR="389255">
              <a:lnSpc>
                <a:spcPct val="121500"/>
              </a:lnSpc>
              <a:spcBef>
                <a:spcPts val="610"/>
              </a:spcBef>
            </a:pP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Effective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when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the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majority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of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data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represents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normal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behavior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outliers</a:t>
            </a:r>
            <a:r>
              <a:rPr dirty="0" sz="180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>
                <a:solidFill>
                  <a:srgbClr val="CFD0D8"/>
                </a:solidFill>
                <a:latin typeface="Roboto"/>
                <a:cs typeface="Roboto"/>
              </a:rPr>
              <a:t>are</a:t>
            </a:r>
            <a:r>
              <a:rPr dirty="0" sz="1800" spc="-4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1800" spc="-20">
                <a:solidFill>
                  <a:srgbClr val="CFD0D8"/>
                </a:solidFill>
                <a:latin typeface="Roboto"/>
                <a:cs typeface="Roboto"/>
              </a:rPr>
              <a:t>rare </a:t>
            </a:r>
            <a:r>
              <a:rPr dirty="0" sz="1800" spc="-10">
                <a:solidFill>
                  <a:srgbClr val="CFD0D8"/>
                </a:solidFill>
                <a:latin typeface="Roboto"/>
                <a:cs typeface="Roboto"/>
              </a:rPr>
              <a:t>occurrences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5955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110"/>
              </a:spcBef>
            </a:pPr>
            <a:r>
              <a:rPr dirty="0" sz="5550" spc="-240"/>
              <a:t>Real-</a:t>
            </a:r>
            <a:r>
              <a:rPr dirty="0" sz="5550"/>
              <a:t>World</a:t>
            </a:r>
            <a:r>
              <a:rPr dirty="0" sz="5550" spc="-150"/>
              <a:t> </a:t>
            </a:r>
            <a:r>
              <a:rPr dirty="0" sz="5550"/>
              <a:t>Impact:</a:t>
            </a:r>
            <a:r>
              <a:rPr dirty="0" sz="5550" spc="-145"/>
              <a:t> </a:t>
            </a:r>
            <a:r>
              <a:rPr dirty="0" sz="5550"/>
              <a:t>Where</a:t>
            </a:r>
            <a:r>
              <a:rPr dirty="0" sz="5550" spc="-145"/>
              <a:t> </a:t>
            </a:r>
            <a:r>
              <a:rPr dirty="0" sz="5550" spc="-10"/>
              <a:t>Outliers</a:t>
            </a:r>
            <a:r>
              <a:rPr dirty="0" sz="5550" spc="-150"/>
              <a:t> </a:t>
            </a:r>
            <a:r>
              <a:rPr dirty="0" sz="5550"/>
              <a:t>Tell</a:t>
            </a:r>
            <a:r>
              <a:rPr dirty="0" sz="5550" spc="-145"/>
              <a:t> </a:t>
            </a:r>
            <a:r>
              <a:rPr dirty="0" sz="5550"/>
              <a:t>the</a:t>
            </a:r>
            <a:r>
              <a:rPr dirty="0" sz="5550" spc="-145"/>
              <a:t> </a:t>
            </a:r>
            <a:r>
              <a:rPr dirty="0" sz="5550" spc="-20"/>
              <a:t>Story</a:t>
            </a:r>
            <a:endParaRPr sz="55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8" y="2609402"/>
            <a:ext cx="3809999" cy="3809999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79538" y="6431768"/>
            <a:ext cx="374586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>
                <a:solidFill>
                  <a:srgbClr val="CFD0D8"/>
                </a:solidFill>
                <a:latin typeface="Roboto"/>
                <a:cs typeface="Roboto"/>
              </a:rPr>
              <a:t>Fraud</a:t>
            </a:r>
            <a:r>
              <a:rPr dirty="0" sz="2750" spc="-16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Detection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Identifying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suspicious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transactions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that</a:t>
            </a:r>
            <a:r>
              <a:rPr dirty="0" sz="2150" spc="-7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deviate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0">
                <a:solidFill>
                  <a:srgbClr val="CFD0D8"/>
                </a:solidFill>
                <a:latin typeface="Roboto"/>
                <a:cs typeface="Roboto"/>
              </a:rPr>
              <a:t>from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typical</a:t>
            </a:r>
            <a:r>
              <a:rPr dirty="0" sz="21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spending</a:t>
            </a:r>
            <a:r>
              <a:rPr dirty="0" sz="2150" spc="-8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patterns</a:t>
            </a:r>
            <a:r>
              <a:rPr dirty="0" sz="21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user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behavior</a:t>
            </a:r>
            <a:endParaRPr sz="2150">
              <a:latin typeface="Roboto"/>
              <a:cs typeface="Robo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6596" y="2609402"/>
            <a:ext cx="3810152" cy="381015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5143896" y="6431898"/>
            <a:ext cx="381698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Cybersecurity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Detecting</a:t>
            </a:r>
            <a:r>
              <a:rPr dirty="0" sz="21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unusual</a:t>
            </a:r>
            <a:r>
              <a:rPr dirty="0" sz="2150" spc="-10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network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traffic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patterns,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unauthorized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access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attempts,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-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potential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security</a:t>
            </a:r>
            <a:r>
              <a:rPr dirty="0" sz="2150" spc="-12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breaches</a:t>
            </a:r>
            <a:endParaRPr sz="2150">
              <a:latin typeface="Roboto"/>
              <a:cs typeface="Roboto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21107" y="2609402"/>
            <a:ext cx="3810152" cy="3810152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308407" y="6431898"/>
            <a:ext cx="3810000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Healthcare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Spotting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abnormal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patient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vital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signs,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disease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outbreaks,</a:t>
            </a:r>
            <a:r>
              <a:rPr dirty="0" sz="2150" spc="-3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25">
                <a:solidFill>
                  <a:srgbClr val="CFD0D8"/>
                </a:solidFill>
                <a:latin typeface="Roboto"/>
                <a:cs typeface="Roboto"/>
              </a:rPr>
              <a:t>and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unusual</a:t>
            </a:r>
            <a:r>
              <a:rPr dirty="0" sz="21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treatment</a:t>
            </a:r>
            <a:r>
              <a:rPr dirty="0" sz="2150" spc="-8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responses</a:t>
            </a:r>
            <a:endParaRPr sz="2150">
              <a:latin typeface="Roboto"/>
              <a:cs typeface="Roboto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85609" y="2609402"/>
            <a:ext cx="3810152" cy="3810152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3472909" y="6431898"/>
            <a:ext cx="3724275" cy="254127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>
                <a:solidFill>
                  <a:srgbClr val="CFD0D8"/>
                </a:solidFill>
                <a:latin typeface="Roboto"/>
                <a:cs typeface="Roboto"/>
              </a:rPr>
              <a:t>Manufacturing</a:t>
            </a:r>
            <a:endParaRPr sz="2750">
              <a:latin typeface="Roboto"/>
              <a:cs typeface="Roboto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Pinpointing</a:t>
            </a:r>
            <a:r>
              <a:rPr dirty="0" sz="2150" spc="-3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defective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products,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equipment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malfunctions,</a:t>
            </a:r>
            <a:r>
              <a:rPr dirty="0" sz="21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and</a:t>
            </a:r>
            <a:r>
              <a:rPr dirty="0" sz="2150" spc="-4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quality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deviations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on</a:t>
            </a:r>
            <a:r>
              <a:rPr dirty="0" sz="2150" spc="-70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>
                <a:solidFill>
                  <a:srgbClr val="CFD0D8"/>
                </a:solidFill>
                <a:latin typeface="Roboto"/>
                <a:cs typeface="Roboto"/>
              </a:rPr>
              <a:t>production</a:t>
            </a:r>
            <a:r>
              <a:rPr dirty="0" sz="2150" spc="-65">
                <a:solidFill>
                  <a:srgbClr val="CFD0D8"/>
                </a:solidFill>
                <a:latin typeface="Roboto"/>
                <a:cs typeface="Roboto"/>
              </a:rPr>
              <a:t> </a:t>
            </a:r>
            <a:r>
              <a:rPr dirty="0" sz="2150" spc="-10">
                <a:solidFill>
                  <a:srgbClr val="CFD0D8"/>
                </a:solidFill>
                <a:latin typeface="Roboto"/>
                <a:cs typeface="Roboto"/>
              </a:rPr>
              <a:t>lines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857999" cy="10286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161" rIns="0" bIns="0" rtlCol="0" vert="horz">
            <a:spAutoFit/>
          </a:bodyPr>
          <a:lstStyle/>
          <a:p>
            <a:pPr marL="6901180" marR="5080">
              <a:lnSpc>
                <a:spcPts val="5850"/>
              </a:lnSpc>
            </a:pPr>
            <a:r>
              <a:rPr dirty="0"/>
              <a:t>The</a:t>
            </a:r>
            <a:r>
              <a:rPr dirty="0" spc="-114"/>
              <a:t> </a:t>
            </a:r>
            <a:r>
              <a:rPr dirty="0"/>
              <a:t>Future</a:t>
            </a:r>
            <a:r>
              <a:rPr dirty="0" spc="-95"/>
              <a:t> </a:t>
            </a:r>
            <a:r>
              <a:rPr dirty="0" spc="60"/>
              <a:t>of</a:t>
            </a:r>
            <a:r>
              <a:rPr dirty="0" spc="-100"/>
              <a:t> </a:t>
            </a:r>
            <a:r>
              <a:rPr dirty="0"/>
              <a:t>Anomaly</a:t>
            </a:r>
            <a:r>
              <a:rPr dirty="0" spc="-95"/>
              <a:t> </a:t>
            </a:r>
            <a:r>
              <a:rPr dirty="0" spc="-10"/>
              <a:t>Detection: </a:t>
            </a:r>
            <a:r>
              <a:rPr dirty="0"/>
              <a:t>Smarter,</a:t>
            </a:r>
            <a:r>
              <a:rPr dirty="0" spc="-110"/>
              <a:t> </a:t>
            </a:r>
            <a:r>
              <a:rPr dirty="0"/>
              <a:t>Faster,</a:t>
            </a:r>
            <a:r>
              <a:rPr dirty="0" spc="-105"/>
              <a:t> </a:t>
            </a:r>
            <a:r>
              <a:rPr dirty="0"/>
              <a:t>More</a:t>
            </a:r>
            <a:r>
              <a:rPr dirty="0" spc="-105"/>
              <a:t> </a:t>
            </a:r>
            <a:r>
              <a:rPr dirty="0" spc="-10"/>
              <a:t>Contextual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7690542" y="2701566"/>
            <a:ext cx="727075" cy="1485900"/>
            <a:chOff x="7690542" y="2701566"/>
            <a:chExt cx="727075" cy="1485900"/>
          </a:xfrm>
        </p:grpSpPr>
        <p:sp>
          <p:nvSpPr>
            <p:cNvPr id="5" name="object 5" descr=""/>
            <p:cNvSpPr/>
            <p:nvPr/>
          </p:nvSpPr>
          <p:spPr>
            <a:xfrm>
              <a:off x="7934477" y="2863157"/>
              <a:ext cx="239395" cy="1319530"/>
            </a:xfrm>
            <a:custGeom>
              <a:avLst/>
              <a:gdLst/>
              <a:ahLst/>
              <a:cxnLst/>
              <a:rect l="l" t="t" r="r" b="b"/>
              <a:pathLst>
                <a:path w="239395" h="1319529">
                  <a:moveTo>
                    <a:pt x="138684" y="1319498"/>
                  </a:moveTo>
                  <a:lnTo>
                    <a:pt x="100488" y="1319498"/>
                  </a:lnTo>
                  <a:lnTo>
                    <a:pt x="61360" y="1311354"/>
                  </a:lnTo>
                  <a:lnTo>
                    <a:pt x="29420" y="1289137"/>
                  </a:lnTo>
                  <a:lnTo>
                    <a:pt x="7892" y="1256168"/>
                  </a:lnTo>
                  <a:lnTo>
                    <a:pt x="0" y="1215771"/>
                  </a:lnTo>
                  <a:lnTo>
                    <a:pt x="0" y="103727"/>
                  </a:lnTo>
                  <a:lnTo>
                    <a:pt x="7892" y="63369"/>
                  </a:lnTo>
                  <a:lnTo>
                    <a:pt x="29420" y="30396"/>
                  </a:lnTo>
                  <a:lnTo>
                    <a:pt x="61360" y="8157"/>
                  </a:lnTo>
                  <a:lnTo>
                    <a:pt x="100488" y="0"/>
                  </a:lnTo>
                  <a:lnTo>
                    <a:pt x="138684" y="0"/>
                  </a:lnTo>
                  <a:lnTo>
                    <a:pt x="177812" y="8157"/>
                  </a:lnTo>
                  <a:lnTo>
                    <a:pt x="209752" y="30396"/>
                  </a:lnTo>
                  <a:lnTo>
                    <a:pt x="231280" y="63369"/>
                  </a:lnTo>
                  <a:lnTo>
                    <a:pt x="239172" y="103727"/>
                  </a:lnTo>
                  <a:lnTo>
                    <a:pt x="239172" y="1215771"/>
                  </a:lnTo>
                  <a:lnTo>
                    <a:pt x="231254" y="1256168"/>
                  </a:lnTo>
                  <a:lnTo>
                    <a:pt x="209701" y="1289137"/>
                  </a:lnTo>
                  <a:lnTo>
                    <a:pt x="177748" y="1311354"/>
                  </a:lnTo>
                  <a:lnTo>
                    <a:pt x="138684" y="131949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929715" y="2858395"/>
              <a:ext cx="248920" cy="1329055"/>
            </a:xfrm>
            <a:custGeom>
              <a:avLst/>
              <a:gdLst/>
              <a:ahLst/>
              <a:cxnLst/>
              <a:rect l="l" t="t" r="r" b="b"/>
              <a:pathLst>
                <a:path w="248920" h="1329054">
                  <a:moveTo>
                    <a:pt x="105251" y="1328931"/>
                  </a:moveTo>
                  <a:lnTo>
                    <a:pt x="64213" y="1320483"/>
                  </a:lnTo>
                  <a:lnTo>
                    <a:pt x="30765" y="1297209"/>
                  </a:lnTo>
                  <a:lnTo>
                    <a:pt x="8248" y="1262720"/>
                  </a:lnTo>
                  <a:lnTo>
                    <a:pt x="0" y="1220533"/>
                  </a:lnTo>
                  <a:lnTo>
                    <a:pt x="0" y="108489"/>
                  </a:lnTo>
                  <a:lnTo>
                    <a:pt x="8248" y="66302"/>
                  </a:lnTo>
                  <a:lnTo>
                    <a:pt x="30765" y="31813"/>
                  </a:lnTo>
                  <a:lnTo>
                    <a:pt x="64213" y="8539"/>
                  </a:lnTo>
                  <a:lnTo>
                    <a:pt x="105251" y="0"/>
                  </a:lnTo>
                  <a:lnTo>
                    <a:pt x="143446" y="0"/>
                  </a:lnTo>
                  <a:lnTo>
                    <a:pt x="143446" y="4762"/>
                  </a:lnTo>
                  <a:lnTo>
                    <a:pt x="105251" y="4762"/>
                  </a:lnTo>
                  <a:lnTo>
                    <a:pt x="105251" y="9525"/>
                  </a:lnTo>
                  <a:lnTo>
                    <a:pt x="68032" y="17286"/>
                  </a:lnTo>
                  <a:lnTo>
                    <a:pt x="37600" y="38469"/>
                  </a:lnTo>
                  <a:lnTo>
                    <a:pt x="17061" y="69920"/>
                  </a:lnTo>
                  <a:lnTo>
                    <a:pt x="9525" y="108489"/>
                  </a:lnTo>
                  <a:lnTo>
                    <a:pt x="9525" y="1220533"/>
                  </a:lnTo>
                  <a:lnTo>
                    <a:pt x="17061" y="1259102"/>
                  </a:lnTo>
                  <a:lnTo>
                    <a:pt x="37600" y="1290554"/>
                  </a:lnTo>
                  <a:lnTo>
                    <a:pt x="68032" y="1311736"/>
                  </a:lnTo>
                  <a:lnTo>
                    <a:pt x="105251" y="1319498"/>
                  </a:lnTo>
                  <a:lnTo>
                    <a:pt x="185900" y="1319498"/>
                  </a:lnTo>
                  <a:lnTo>
                    <a:pt x="184484" y="1320483"/>
                  </a:lnTo>
                  <a:lnTo>
                    <a:pt x="166332" y="1324260"/>
                  </a:lnTo>
                  <a:lnTo>
                    <a:pt x="105251" y="1324260"/>
                  </a:lnTo>
                  <a:lnTo>
                    <a:pt x="105251" y="1328931"/>
                  </a:lnTo>
                  <a:close/>
                </a:path>
                <a:path w="248920" h="1329054">
                  <a:moveTo>
                    <a:pt x="185900" y="1319498"/>
                  </a:moveTo>
                  <a:lnTo>
                    <a:pt x="143446" y="1319498"/>
                  </a:lnTo>
                  <a:lnTo>
                    <a:pt x="180625" y="1311736"/>
                  </a:lnTo>
                  <a:lnTo>
                    <a:pt x="211062" y="1290554"/>
                  </a:lnTo>
                  <a:lnTo>
                    <a:pt x="231622" y="1259102"/>
                  </a:lnTo>
                  <a:lnTo>
                    <a:pt x="239172" y="1220533"/>
                  </a:lnTo>
                  <a:lnTo>
                    <a:pt x="239172" y="108489"/>
                  </a:lnTo>
                  <a:lnTo>
                    <a:pt x="231636" y="69920"/>
                  </a:lnTo>
                  <a:lnTo>
                    <a:pt x="211097" y="38469"/>
                  </a:lnTo>
                  <a:lnTo>
                    <a:pt x="180665" y="17286"/>
                  </a:lnTo>
                  <a:lnTo>
                    <a:pt x="143446" y="9525"/>
                  </a:lnTo>
                  <a:lnTo>
                    <a:pt x="105251" y="9525"/>
                  </a:lnTo>
                  <a:lnTo>
                    <a:pt x="105251" y="4762"/>
                  </a:lnTo>
                  <a:lnTo>
                    <a:pt x="143446" y="4762"/>
                  </a:lnTo>
                  <a:lnTo>
                    <a:pt x="143446" y="0"/>
                  </a:lnTo>
                  <a:lnTo>
                    <a:pt x="184484" y="8539"/>
                  </a:lnTo>
                  <a:lnTo>
                    <a:pt x="217932" y="31813"/>
                  </a:lnTo>
                  <a:lnTo>
                    <a:pt x="240449" y="66302"/>
                  </a:lnTo>
                  <a:lnTo>
                    <a:pt x="248688" y="108489"/>
                  </a:lnTo>
                  <a:lnTo>
                    <a:pt x="248688" y="1220533"/>
                  </a:lnTo>
                  <a:lnTo>
                    <a:pt x="240449" y="1262720"/>
                  </a:lnTo>
                  <a:lnTo>
                    <a:pt x="217932" y="1297209"/>
                  </a:lnTo>
                  <a:lnTo>
                    <a:pt x="185900" y="1319498"/>
                  </a:lnTo>
                  <a:close/>
                </a:path>
                <a:path w="248920" h="1329054">
                  <a:moveTo>
                    <a:pt x="143446" y="1328931"/>
                  </a:moveTo>
                  <a:lnTo>
                    <a:pt x="105270" y="1328931"/>
                  </a:lnTo>
                  <a:lnTo>
                    <a:pt x="105251" y="1324260"/>
                  </a:lnTo>
                  <a:lnTo>
                    <a:pt x="143446" y="1324260"/>
                  </a:lnTo>
                  <a:lnTo>
                    <a:pt x="143446" y="1328931"/>
                  </a:lnTo>
                  <a:close/>
                </a:path>
                <a:path w="248920" h="1329054">
                  <a:moveTo>
                    <a:pt x="143887" y="1328931"/>
                  </a:moveTo>
                  <a:lnTo>
                    <a:pt x="143446" y="1328931"/>
                  </a:lnTo>
                  <a:lnTo>
                    <a:pt x="143446" y="1324260"/>
                  </a:lnTo>
                  <a:lnTo>
                    <a:pt x="166332" y="1324260"/>
                  </a:lnTo>
                  <a:lnTo>
                    <a:pt x="143887" y="13289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95304" y="2706138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358806" y="717613"/>
                  </a:moveTo>
                  <a:lnTo>
                    <a:pt x="310107" y="714339"/>
                  </a:lnTo>
                  <a:lnTo>
                    <a:pt x="263403" y="704800"/>
                  </a:lnTo>
                  <a:lnTo>
                    <a:pt x="219121" y="689424"/>
                  </a:lnTo>
                  <a:lnTo>
                    <a:pt x="177687" y="668637"/>
                  </a:lnTo>
                  <a:lnTo>
                    <a:pt x="139528" y="642867"/>
                  </a:lnTo>
                  <a:lnTo>
                    <a:pt x="105072" y="612541"/>
                  </a:lnTo>
                  <a:lnTo>
                    <a:pt x="74746" y="578085"/>
                  </a:lnTo>
                  <a:lnTo>
                    <a:pt x="48976" y="539926"/>
                  </a:lnTo>
                  <a:lnTo>
                    <a:pt x="28189" y="498492"/>
                  </a:lnTo>
                  <a:lnTo>
                    <a:pt x="12813" y="454209"/>
                  </a:lnTo>
                  <a:lnTo>
                    <a:pt x="3274" y="407505"/>
                  </a:lnTo>
                  <a:lnTo>
                    <a:pt x="0" y="358806"/>
                  </a:lnTo>
                  <a:lnTo>
                    <a:pt x="3276" y="310127"/>
                  </a:lnTo>
                  <a:lnTo>
                    <a:pt x="12819" y="263436"/>
                  </a:lnTo>
                  <a:lnTo>
                    <a:pt x="28202" y="219161"/>
                  </a:lnTo>
                  <a:lnTo>
                    <a:pt x="48997" y="177729"/>
                  </a:lnTo>
                  <a:lnTo>
                    <a:pt x="74775" y="139569"/>
                  </a:lnTo>
                  <a:lnTo>
                    <a:pt x="105108" y="105108"/>
                  </a:lnTo>
                  <a:lnTo>
                    <a:pt x="139569" y="74775"/>
                  </a:lnTo>
                  <a:lnTo>
                    <a:pt x="177729" y="48997"/>
                  </a:lnTo>
                  <a:lnTo>
                    <a:pt x="219161" y="28202"/>
                  </a:lnTo>
                  <a:lnTo>
                    <a:pt x="263436" y="12819"/>
                  </a:lnTo>
                  <a:lnTo>
                    <a:pt x="310127" y="3276"/>
                  </a:lnTo>
                  <a:lnTo>
                    <a:pt x="358806" y="0"/>
                  </a:lnTo>
                  <a:lnTo>
                    <a:pt x="407485" y="3276"/>
                  </a:lnTo>
                  <a:lnTo>
                    <a:pt x="454176" y="12819"/>
                  </a:lnTo>
                  <a:lnTo>
                    <a:pt x="498452" y="28202"/>
                  </a:lnTo>
                  <a:lnTo>
                    <a:pt x="539883" y="48997"/>
                  </a:lnTo>
                  <a:lnTo>
                    <a:pt x="578044" y="74775"/>
                  </a:lnTo>
                  <a:lnTo>
                    <a:pt x="612505" y="105108"/>
                  </a:lnTo>
                  <a:lnTo>
                    <a:pt x="642838" y="139569"/>
                  </a:lnTo>
                  <a:lnTo>
                    <a:pt x="668616" y="177729"/>
                  </a:lnTo>
                  <a:lnTo>
                    <a:pt x="689410" y="219161"/>
                  </a:lnTo>
                  <a:lnTo>
                    <a:pt x="704793" y="263436"/>
                  </a:lnTo>
                  <a:lnTo>
                    <a:pt x="714337" y="310127"/>
                  </a:lnTo>
                  <a:lnTo>
                    <a:pt x="717613" y="358806"/>
                  </a:lnTo>
                  <a:lnTo>
                    <a:pt x="714334" y="407505"/>
                  </a:lnTo>
                  <a:lnTo>
                    <a:pt x="704788" y="454209"/>
                  </a:lnTo>
                  <a:lnTo>
                    <a:pt x="689403" y="498492"/>
                  </a:lnTo>
                  <a:lnTo>
                    <a:pt x="668608" y="539926"/>
                  </a:lnTo>
                  <a:lnTo>
                    <a:pt x="642831" y="578085"/>
                  </a:lnTo>
                  <a:lnTo>
                    <a:pt x="612500" y="612541"/>
                  </a:lnTo>
                  <a:lnTo>
                    <a:pt x="578042" y="642867"/>
                  </a:lnTo>
                  <a:lnTo>
                    <a:pt x="539884" y="668637"/>
                  </a:lnTo>
                  <a:lnTo>
                    <a:pt x="498453" y="689424"/>
                  </a:lnTo>
                  <a:lnTo>
                    <a:pt x="454177" y="704800"/>
                  </a:lnTo>
                  <a:lnTo>
                    <a:pt x="407478" y="714339"/>
                  </a:lnTo>
                  <a:lnTo>
                    <a:pt x="358806" y="71761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690542" y="2701566"/>
              <a:ext cx="727075" cy="727075"/>
            </a:xfrm>
            <a:custGeom>
              <a:avLst/>
              <a:gdLst/>
              <a:ahLst/>
              <a:cxnLst/>
              <a:rect l="l" t="t" r="r" b="b"/>
              <a:pathLst>
                <a:path w="727075" h="727075">
                  <a:moveTo>
                    <a:pt x="192" y="360519"/>
                  </a:moveTo>
                  <a:lnTo>
                    <a:pt x="3232" y="315333"/>
                  </a:lnTo>
                  <a:lnTo>
                    <a:pt x="3319" y="314045"/>
                  </a:lnTo>
                  <a:lnTo>
                    <a:pt x="12987" y="266729"/>
                  </a:lnTo>
                  <a:lnTo>
                    <a:pt x="28572" y="221864"/>
                  </a:lnTo>
                  <a:lnTo>
                    <a:pt x="49639" y="179881"/>
                  </a:lnTo>
                  <a:lnTo>
                    <a:pt x="75756" y="141215"/>
                  </a:lnTo>
                  <a:lnTo>
                    <a:pt x="106489" y="106299"/>
                  </a:lnTo>
                  <a:lnTo>
                    <a:pt x="141405" y="75565"/>
                  </a:lnTo>
                  <a:lnTo>
                    <a:pt x="180071" y="49448"/>
                  </a:lnTo>
                  <a:lnTo>
                    <a:pt x="222054" y="28381"/>
                  </a:lnTo>
                  <a:lnTo>
                    <a:pt x="266920" y="12797"/>
                  </a:lnTo>
                  <a:lnTo>
                    <a:pt x="314236" y="3128"/>
                  </a:lnTo>
                  <a:lnTo>
                    <a:pt x="360737" y="0"/>
                  </a:lnTo>
                  <a:lnTo>
                    <a:pt x="363569" y="0"/>
                  </a:lnTo>
                  <a:lnTo>
                    <a:pt x="363569" y="4572"/>
                  </a:lnTo>
                  <a:lnTo>
                    <a:pt x="362080" y="9334"/>
                  </a:lnTo>
                  <a:lnTo>
                    <a:pt x="363569" y="9334"/>
                  </a:lnTo>
                  <a:lnTo>
                    <a:pt x="315524" y="12566"/>
                  </a:lnTo>
                  <a:lnTo>
                    <a:pt x="269444" y="21980"/>
                  </a:lnTo>
                  <a:lnTo>
                    <a:pt x="225752" y="37154"/>
                  </a:lnTo>
                  <a:lnTo>
                    <a:pt x="184869" y="57668"/>
                  </a:lnTo>
                  <a:lnTo>
                    <a:pt x="147216" y="83099"/>
                  </a:lnTo>
                  <a:lnTo>
                    <a:pt x="113216" y="113026"/>
                  </a:lnTo>
                  <a:lnTo>
                    <a:pt x="83289" y="147026"/>
                  </a:lnTo>
                  <a:lnTo>
                    <a:pt x="57859" y="184679"/>
                  </a:lnTo>
                  <a:lnTo>
                    <a:pt x="37345" y="225562"/>
                  </a:lnTo>
                  <a:lnTo>
                    <a:pt x="22170" y="269254"/>
                  </a:lnTo>
                  <a:lnTo>
                    <a:pt x="12756" y="315333"/>
                  </a:lnTo>
                  <a:lnTo>
                    <a:pt x="9845" y="358616"/>
                  </a:lnTo>
                  <a:lnTo>
                    <a:pt x="2095" y="358616"/>
                  </a:lnTo>
                  <a:lnTo>
                    <a:pt x="192" y="360519"/>
                  </a:lnTo>
                  <a:close/>
                </a:path>
                <a:path w="727075" h="727075">
                  <a:moveTo>
                    <a:pt x="363569" y="4572"/>
                  </a:moveTo>
                  <a:lnTo>
                    <a:pt x="363569" y="0"/>
                  </a:lnTo>
                  <a:lnTo>
                    <a:pt x="364998" y="0"/>
                  </a:lnTo>
                  <a:lnTo>
                    <a:pt x="363569" y="4572"/>
                  </a:lnTo>
                  <a:close/>
                </a:path>
                <a:path w="727075" h="727075">
                  <a:moveTo>
                    <a:pt x="717530" y="362146"/>
                  </a:moveTo>
                  <a:lnTo>
                    <a:pt x="714381" y="315333"/>
                  </a:lnTo>
                  <a:lnTo>
                    <a:pt x="704967" y="269254"/>
                  </a:lnTo>
                  <a:lnTo>
                    <a:pt x="689793" y="225562"/>
                  </a:lnTo>
                  <a:lnTo>
                    <a:pt x="669279" y="184679"/>
                  </a:lnTo>
                  <a:lnTo>
                    <a:pt x="643848" y="147026"/>
                  </a:lnTo>
                  <a:lnTo>
                    <a:pt x="613921" y="113026"/>
                  </a:lnTo>
                  <a:lnTo>
                    <a:pt x="579921" y="83099"/>
                  </a:lnTo>
                  <a:lnTo>
                    <a:pt x="542268" y="57668"/>
                  </a:lnTo>
                  <a:lnTo>
                    <a:pt x="501385" y="37154"/>
                  </a:lnTo>
                  <a:lnTo>
                    <a:pt x="457693" y="21980"/>
                  </a:lnTo>
                  <a:lnTo>
                    <a:pt x="411614" y="12566"/>
                  </a:lnTo>
                  <a:lnTo>
                    <a:pt x="363569" y="9334"/>
                  </a:lnTo>
                  <a:lnTo>
                    <a:pt x="363569" y="4572"/>
                  </a:lnTo>
                  <a:lnTo>
                    <a:pt x="364998" y="0"/>
                  </a:lnTo>
                  <a:lnTo>
                    <a:pt x="366400" y="0"/>
                  </a:lnTo>
                  <a:lnTo>
                    <a:pt x="412901" y="3128"/>
                  </a:lnTo>
                  <a:lnTo>
                    <a:pt x="460217" y="12797"/>
                  </a:lnTo>
                  <a:lnTo>
                    <a:pt x="505083" y="28381"/>
                  </a:lnTo>
                  <a:lnTo>
                    <a:pt x="547066" y="49448"/>
                  </a:lnTo>
                  <a:lnTo>
                    <a:pt x="585732" y="75565"/>
                  </a:lnTo>
                  <a:lnTo>
                    <a:pt x="620648" y="106299"/>
                  </a:lnTo>
                  <a:lnTo>
                    <a:pt x="651382" y="141215"/>
                  </a:lnTo>
                  <a:lnTo>
                    <a:pt x="677499" y="179881"/>
                  </a:lnTo>
                  <a:lnTo>
                    <a:pt x="698566" y="221864"/>
                  </a:lnTo>
                  <a:lnTo>
                    <a:pt x="714151" y="266729"/>
                  </a:lnTo>
                  <a:lnTo>
                    <a:pt x="723819" y="314045"/>
                  </a:lnTo>
                  <a:lnTo>
                    <a:pt x="726818" y="358616"/>
                  </a:lnTo>
                  <a:lnTo>
                    <a:pt x="726914" y="360045"/>
                  </a:lnTo>
                  <a:lnTo>
                    <a:pt x="719042" y="360045"/>
                  </a:lnTo>
                  <a:lnTo>
                    <a:pt x="718089" y="360902"/>
                  </a:lnTo>
                  <a:lnTo>
                    <a:pt x="717530" y="362146"/>
                  </a:lnTo>
                  <a:close/>
                </a:path>
                <a:path w="727075" h="727075">
                  <a:moveTo>
                    <a:pt x="363569" y="9334"/>
                  </a:moveTo>
                  <a:lnTo>
                    <a:pt x="362080" y="9334"/>
                  </a:lnTo>
                  <a:lnTo>
                    <a:pt x="363569" y="4572"/>
                  </a:lnTo>
                  <a:lnTo>
                    <a:pt x="363569" y="9334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015" y="726948"/>
                  </a:lnTo>
                  <a:lnTo>
                    <a:pt x="314236" y="723629"/>
                  </a:lnTo>
                  <a:lnTo>
                    <a:pt x="266920" y="713960"/>
                  </a:lnTo>
                  <a:lnTo>
                    <a:pt x="222054" y="698376"/>
                  </a:lnTo>
                  <a:lnTo>
                    <a:pt x="180071" y="677308"/>
                  </a:lnTo>
                  <a:lnTo>
                    <a:pt x="141405" y="651191"/>
                  </a:lnTo>
                  <a:lnTo>
                    <a:pt x="106489" y="620458"/>
                  </a:lnTo>
                  <a:lnTo>
                    <a:pt x="75756" y="585542"/>
                  </a:lnTo>
                  <a:lnTo>
                    <a:pt x="49639" y="546876"/>
                  </a:lnTo>
                  <a:lnTo>
                    <a:pt x="28572" y="504893"/>
                  </a:lnTo>
                  <a:lnTo>
                    <a:pt x="12987" y="460027"/>
                  </a:lnTo>
                  <a:lnTo>
                    <a:pt x="3319" y="412711"/>
                  </a:lnTo>
                  <a:lnTo>
                    <a:pt x="320" y="368141"/>
                  </a:lnTo>
                  <a:lnTo>
                    <a:pt x="192" y="360519"/>
                  </a:lnTo>
                  <a:lnTo>
                    <a:pt x="2095" y="358616"/>
                  </a:lnTo>
                  <a:lnTo>
                    <a:pt x="4762" y="358616"/>
                  </a:lnTo>
                  <a:lnTo>
                    <a:pt x="4762" y="368141"/>
                  </a:lnTo>
                  <a:lnTo>
                    <a:pt x="9845" y="368141"/>
                  </a:lnTo>
                  <a:lnTo>
                    <a:pt x="12756" y="411423"/>
                  </a:lnTo>
                  <a:lnTo>
                    <a:pt x="22170" y="457502"/>
                  </a:lnTo>
                  <a:lnTo>
                    <a:pt x="37345" y="501195"/>
                  </a:lnTo>
                  <a:lnTo>
                    <a:pt x="57859" y="542078"/>
                  </a:lnTo>
                  <a:lnTo>
                    <a:pt x="83289" y="579731"/>
                  </a:lnTo>
                  <a:lnTo>
                    <a:pt x="113216" y="613731"/>
                  </a:lnTo>
                  <a:lnTo>
                    <a:pt x="147216" y="643658"/>
                  </a:lnTo>
                  <a:lnTo>
                    <a:pt x="184869" y="669089"/>
                  </a:lnTo>
                  <a:lnTo>
                    <a:pt x="225752" y="689602"/>
                  </a:lnTo>
                  <a:lnTo>
                    <a:pt x="269444" y="704777"/>
                  </a:lnTo>
                  <a:lnTo>
                    <a:pt x="315524" y="714191"/>
                  </a:lnTo>
                  <a:lnTo>
                    <a:pt x="363569" y="717423"/>
                  </a:lnTo>
                  <a:lnTo>
                    <a:pt x="443272" y="717423"/>
                  </a:lnTo>
                  <a:lnTo>
                    <a:pt x="419965" y="722185"/>
                  </a:lnTo>
                  <a:lnTo>
                    <a:pt x="363569" y="722185"/>
                  </a:lnTo>
                  <a:lnTo>
                    <a:pt x="363566" y="726948"/>
                  </a:lnTo>
                  <a:close/>
                </a:path>
                <a:path w="727075" h="727075">
                  <a:moveTo>
                    <a:pt x="7429" y="368141"/>
                  </a:moveTo>
                  <a:lnTo>
                    <a:pt x="4762" y="368141"/>
                  </a:lnTo>
                  <a:lnTo>
                    <a:pt x="4762" y="358616"/>
                  </a:lnTo>
                  <a:lnTo>
                    <a:pt x="9845" y="358616"/>
                  </a:lnTo>
                  <a:lnTo>
                    <a:pt x="9749" y="360045"/>
                  </a:lnTo>
                  <a:lnTo>
                    <a:pt x="9691" y="360902"/>
                  </a:lnTo>
                  <a:lnTo>
                    <a:pt x="9607" y="362146"/>
                  </a:lnTo>
                  <a:lnTo>
                    <a:pt x="9525" y="366045"/>
                  </a:lnTo>
                  <a:lnTo>
                    <a:pt x="7429" y="368141"/>
                  </a:lnTo>
                  <a:close/>
                </a:path>
                <a:path w="727075" h="727075">
                  <a:moveTo>
                    <a:pt x="443272" y="717423"/>
                  </a:moveTo>
                  <a:lnTo>
                    <a:pt x="363569" y="717423"/>
                  </a:lnTo>
                  <a:lnTo>
                    <a:pt x="411614" y="714191"/>
                  </a:lnTo>
                  <a:lnTo>
                    <a:pt x="457693" y="704777"/>
                  </a:lnTo>
                  <a:lnTo>
                    <a:pt x="501385" y="689602"/>
                  </a:lnTo>
                  <a:lnTo>
                    <a:pt x="542268" y="669089"/>
                  </a:lnTo>
                  <a:lnTo>
                    <a:pt x="579921" y="643658"/>
                  </a:lnTo>
                  <a:lnTo>
                    <a:pt x="613921" y="613731"/>
                  </a:lnTo>
                  <a:lnTo>
                    <a:pt x="643848" y="579731"/>
                  </a:lnTo>
                  <a:lnTo>
                    <a:pt x="669279" y="542078"/>
                  </a:lnTo>
                  <a:lnTo>
                    <a:pt x="689793" y="501195"/>
                  </a:lnTo>
                  <a:lnTo>
                    <a:pt x="704967" y="457502"/>
                  </a:lnTo>
                  <a:lnTo>
                    <a:pt x="714381" y="411423"/>
                  </a:lnTo>
                  <a:lnTo>
                    <a:pt x="717293" y="368141"/>
                  </a:lnTo>
                  <a:lnTo>
                    <a:pt x="717389" y="366712"/>
                  </a:lnTo>
                  <a:lnTo>
                    <a:pt x="717434" y="366045"/>
                  </a:lnTo>
                  <a:lnTo>
                    <a:pt x="717530" y="362146"/>
                  </a:lnTo>
                  <a:lnTo>
                    <a:pt x="718089" y="360902"/>
                  </a:lnTo>
                  <a:lnTo>
                    <a:pt x="719042" y="360045"/>
                  </a:lnTo>
                  <a:lnTo>
                    <a:pt x="725709" y="366712"/>
                  </a:lnTo>
                  <a:lnTo>
                    <a:pt x="726914" y="366712"/>
                  </a:lnTo>
                  <a:lnTo>
                    <a:pt x="723906" y="411423"/>
                  </a:lnTo>
                  <a:lnTo>
                    <a:pt x="723819" y="412711"/>
                  </a:lnTo>
                  <a:lnTo>
                    <a:pt x="714151" y="460027"/>
                  </a:lnTo>
                  <a:lnTo>
                    <a:pt x="698566" y="504893"/>
                  </a:lnTo>
                  <a:lnTo>
                    <a:pt x="677499" y="546876"/>
                  </a:lnTo>
                  <a:lnTo>
                    <a:pt x="651382" y="585542"/>
                  </a:lnTo>
                  <a:lnTo>
                    <a:pt x="620648" y="620458"/>
                  </a:lnTo>
                  <a:lnTo>
                    <a:pt x="585732" y="651191"/>
                  </a:lnTo>
                  <a:lnTo>
                    <a:pt x="547066" y="677308"/>
                  </a:lnTo>
                  <a:lnTo>
                    <a:pt x="505083" y="698376"/>
                  </a:lnTo>
                  <a:lnTo>
                    <a:pt x="460217" y="713960"/>
                  </a:lnTo>
                  <a:lnTo>
                    <a:pt x="443272" y="717423"/>
                  </a:lnTo>
                  <a:close/>
                </a:path>
                <a:path w="727075" h="727075">
                  <a:moveTo>
                    <a:pt x="725709" y="366712"/>
                  </a:moveTo>
                  <a:lnTo>
                    <a:pt x="719042" y="360045"/>
                  </a:lnTo>
                  <a:lnTo>
                    <a:pt x="726914" y="360045"/>
                  </a:lnTo>
                  <a:lnTo>
                    <a:pt x="727037" y="364879"/>
                  </a:lnTo>
                  <a:lnTo>
                    <a:pt x="726662" y="365855"/>
                  </a:lnTo>
                  <a:lnTo>
                    <a:pt x="725709" y="366712"/>
                  </a:lnTo>
                  <a:close/>
                </a:path>
                <a:path w="727075" h="727075">
                  <a:moveTo>
                    <a:pt x="0" y="362146"/>
                  </a:moveTo>
                  <a:lnTo>
                    <a:pt x="0" y="360711"/>
                  </a:lnTo>
                  <a:lnTo>
                    <a:pt x="192" y="360519"/>
                  </a:lnTo>
                  <a:lnTo>
                    <a:pt x="166" y="360902"/>
                  </a:lnTo>
                  <a:lnTo>
                    <a:pt x="0" y="362146"/>
                  </a:lnTo>
                  <a:close/>
                </a:path>
                <a:path w="727075" h="727075">
                  <a:moveTo>
                    <a:pt x="9845" y="368141"/>
                  </a:moveTo>
                  <a:lnTo>
                    <a:pt x="7429" y="368141"/>
                  </a:lnTo>
                  <a:lnTo>
                    <a:pt x="9525" y="366045"/>
                  </a:lnTo>
                  <a:lnTo>
                    <a:pt x="9625" y="364879"/>
                  </a:lnTo>
                  <a:lnTo>
                    <a:pt x="9749" y="366712"/>
                  </a:lnTo>
                  <a:lnTo>
                    <a:pt x="9845" y="368141"/>
                  </a:lnTo>
                  <a:close/>
                </a:path>
                <a:path w="727075" h="727075">
                  <a:moveTo>
                    <a:pt x="726914" y="366712"/>
                  </a:moveTo>
                  <a:lnTo>
                    <a:pt x="725709" y="366712"/>
                  </a:lnTo>
                  <a:lnTo>
                    <a:pt x="726662" y="365855"/>
                  </a:lnTo>
                  <a:lnTo>
                    <a:pt x="727037" y="364879"/>
                  </a:lnTo>
                  <a:lnTo>
                    <a:pt x="726914" y="366712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569" y="722185"/>
                  </a:lnTo>
                  <a:lnTo>
                    <a:pt x="419965" y="722185"/>
                  </a:lnTo>
                  <a:lnTo>
                    <a:pt x="412901" y="723629"/>
                  </a:lnTo>
                  <a:lnTo>
                    <a:pt x="363566" y="72694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82210" y="2883891"/>
              <a:ext cx="346575" cy="36554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8055610" y="2918716"/>
              <a:ext cx="635" cy="294005"/>
            </a:xfrm>
            <a:custGeom>
              <a:avLst/>
              <a:gdLst/>
              <a:ahLst/>
              <a:cxnLst/>
              <a:rect l="l" t="t" r="r" b="b"/>
              <a:pathLst>
                <a:path w="634" h="294005">
                  <a:moveTo>
                    <a:pt x="76" y="0"/>
                  </a:moveTo>
                  <a:lnTo>
                    <a:pt x="0" y="293658"/>
                  </a:lnTo>
                </a:path>
              </a:pathLst>
            </a:custGeom>
            <a:ln w="15499">
              <a:solidFill>
                <a:srgbClr val="CFD0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30807" y="2952936"/>
              <a:ext cx="68889" cy="7607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11751" y="3031742"/>
              <a:ext cx="73158" cy="8278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892341" y="3020544"/>
              <a:ext cx="6985" cy="37465"/>
            </a:xfrm>
            <a:custGeom>
              <a:avLst/>
              <a:gdLst/>
              <a:ahLst/>
              <a:cxnLst/>
              <a:rect l="l" t="t" r="r" b="b"/>
              <a:pathLst>
                <a:path w="6984" h="37464">
                  <a:moveTo>
                    <a:pt x="0" y="0"/>
                  </a:moveTo>
                  <a:lnTo>
                    <a:pt x="6594" y="37354"/>
                  </a:lnTo>
                </a:path>
              </a:pathLst>
            </a:custGeom>
            <a:ln w="15500">
              <a:solidFill>
                <a:srgbClr val="CFD0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8049367" y="4581867"/>
            <a:ext cx="727075" cy="1242695"/>
            <a:chOff x="8049367" y="4581867"/>
            <a:chExt cx="727075" cy="1242695"/>
          </a:xfrm>
        </p:grpSpPr>
        <p:sp>
          <p:nvSpPr>
            <p:cNvPr id="15" name="object 15" descr=""/>
            <p:cNvSpPr/>
            <p:nvPr/>
          </p:nvSpPr>
          <p:spPr>
            <a:xfrm>
              <a:off x="8293303" y="4743449"/>
              <a:ext cx="239395" cy="1076325"/>
            </a:xfrm>
            <a:custGeom>
              <a:avLst/>
              <a:gdLst/>
              <a:ahLst/>
              <a:cxnLst/>
              <a:rect l="l" t="t" r="r" b="b"/>
              <a:pathLst>
                <a:path w="239395" h="1076325">
                  <a:moveTo>
                    <a:pt x="138684" y="1076229"/>
                  </a:moveTo>
                  <a:lnTo>
                    <a:pt x="100488" y="1076229"/>
                  </a:lnTo>
                  <a:lnTo>
                    <a:pt x="61360" y="1068144"/>
                  </a:lnTo>
                  <a:lnTo>
                    <a:pt x="29420" y="1045976"/>
                  </a:lnTo>
                  <a:lnTo>
                    <a:pt x="7892" y="1013074"/>
                  </a:lnTo>
                  <a:lnTo>
                    <a:pt x="0" y="972788"/>
                  </a:lnTo>
                  <a:lnTo>
                    <a:pt x="0" y="103536"/>
                  </a:lnTo>
                  <a:lnTo>
                    <a:pt x="7892" y="63248"/>
                  </a:lnTo>
                  <a:lnTo>
                    <a:pt x="29420" y="30337"/>
                  </a:lnTo>
                  <a:lnTo>
                    <a:pt x="61360" y="8140"/>
                  </a:lnTo>
                  <a:lnTo>
                    <a:pt x="100488" y="0"/>
                  </a:lnTo>
                  <a:lnTo>
                    <a:pt x="138684" y="0"/>
                  </a:lnTo>
                  <a:lnTo>
                    <a:pt x="177812" y="8140"/>
                  </a:lnTo>
                  <a:lnTo>
                    <a:pt x="209752" y="30337"/>
                  </a:lnTo>
                  <a:lnTo>
                    <a:pt x="231280" y="63248"/>
                  </a:lnTo>
                  <a:lnTo>
                    <a:pt x="239172" y="103536"/>
                  </a:lnTo>
                  <a:lnTo>
                    <a:pt x="239154" y="972788"/>
                  </a:lnTo>
                  <a:lnTo>
                    <a:pt x="231219" y="1013074"/>
                  </a:lnTo>
                  <a:lnTo>
                    <a:pt x="209632" y="1045976"/>
                  </a:lnTo>
                  <a:lnTo>
                    <a:pt x="177733" y="1068144"/>
                  </a:lnTo>
                  <a:lnTo>
                    <a:pt x="177548" y="1068144"/>
                  </a:lnTo>
                  <a:lnTo>
                    <a:pt x="138684" y="1076229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288540" y="4738686"/>
              <a:ext cx="248920" cy="1085850"/>
            </a:xfrm>
            <a:custGeom>
              <a:avLst/>
              <a:gdLst/>
              <a:ahLst/>
              <a:cxnLst/>
              <a:rect l="l" t="t" r="r" b="b"/>
              <a:pathLst>
                <a:path w="248920" h="1085850">
                  <a:moveTo>
                    <a:pt x="105251" y="1085755"/>
                  </a:moveTo>
                  <a:lnTo>
                    <a:pt x="64213" y="1077273"/>
                  </a:lnTo>
                  <a:lnTo>
                    <a:pt x="30765" y="1054048"/>
                  </a:lnTo>
                  <a:lnTo>
                    <a:pt x="8248" y="1019626"/>
                  </a:lnTo>
                  <a:lnTo>
                    <a:pt x="0" y="977551"/>
                  </a:lnTo>
                  <a:lnTo>
                    <a:pt x="0" y="108299"/>
                  </a:lnTo>
                  <a:lnTo>
                    <a:pt x="8248" y="66222"/>
                  </a:lnTo>
                  <a:lnTo>
                    <a:pt x="30765" y="31789"/>
                  </a:lnTo>
                  <a:lnTo>
                    <a:pt x="64213" y="8536"/>
                  </a:lnTo>
                  <a:lnTo>
                    <a:pt x="105251" y="0"/>
                  </a:lnTo>
                  <a:lnTo>
                    <a:pt x="143446" y="0"/>
                  </a:lnTo>
                  <a:lnTo>
                    <a:pt x="143446" y="4762"/>
                  </a:lnTo>
                  <a:lnTo>
                    <a:pt x="105251" y="4762"/>
                  </a:lnTo>
                  <a:lnTo>
                    <a:pt x="105251" y="9525"/>
                  </a:lnTo>
                  <a:lnTo>
                    <a:pt x="68032" y="17270"/>
                  </a:lnTo>
                  <a:lnTo>
                    <a:pt x="37600" y="38409"/>
                  </a:lnTo>
                  <a:lnTo>
                    <a:pt x="17061" y="69800"/>
                  </a:lnTo>
                  <a:lnTo>
                    <a:pt x="9525" y="108299"/>
                  </a:lnTo>
                  <a:lnTo>
                    <a:pt x="9543" y="977551"/>
                  </a:lnTo>
                  <a:lnTo>
                    <a:pt x="17088" y="1016049"/>
                  </a:lnTo>
                  <a:lnTo>
                    <a:pt x="37617" y="1047440"/>
                  </a:lnTo>
                  <a:lnTo>
                    <a:pt x="68039" y="1068580"/>
                  </a:lnTo>
                  <a:lnTo>
                    <a:pt x="105251" y="1076325"/>
                  </a:lnTo>
                  <a:lnTo>
                    <a:pt x="185789" y="1076325"/>
                  </a:lnTo>
                  <a:lnTo>
                    <a:pt x="184424" y="1077273"/>
                  </a:lnTo>
                  <a:lnTo>
                    <a:pt x="184284" y="1077273"/>
                  </a:lnTo>
                  <a:lnTo>
                    <a:pt x="166376" y="1080992"/>
                  </a:lnTo>
                  <a:lnTo>
                    <a:pt x="105251" y="1080992"/>
                  </a:lnTo>
                  <a:lnTo>
                    <a:pt x="105251" y="1085755"/>
                  </a:lnTo>
                  <a:close/>
                </a:path>
                <a:path w="248920" h="1085850">
                  <a:moveTo>
                    <a:pt x="185789" y="1076325"/>
                  </a:moveTo>
                  <a:lnTo>
                    <a:pt x="143446" y="1076325"/>
                  </a:lnTo>
                  <a:lnTo>
                    <a:pt x="180665" y="1068580"/>
                  </a:lnTo>
                  <a:lnTo>
                    <a:pt x="211098" y="1047440"/>
                  </a:lnTo>
                  <a:lnTo>
                    <a:pt x="231636" y="1016049"/>
                  </a:lnTo>
                  <a:lnTo>
                    <a:pt x="239173" y="977551"/>
                  </a:lnTo>
                  <a:lnTo>
                    <a:pt x="239173" y="108299"/>
                  </a:lnTo>
                  <a:lnTo>
                    <a:pt x="231636" y="69800"/>
                  </a:lnTo>
                  <a:lnTo>
                    <a:pt x="211098" y="38409"/>
                  </a:lnTo>
                  <a:lnTo>
                    <a:pt x="180665" y="17270"/>
                  </a:lnTo>
                  <a:lnTo>
                    <a:pt x="143446" y="9525"/>
                  </a:lnTo>
                  <a:lnTo>
                    <a:pt x="105251" y="9525"/>
                  </a:lnTo>
                  <a:lnTo>
                    <a:pt x="105251" y="4762"/>
                  </a:lnTo>
                  <a:lnTo>
                    <a:pt x="143446" y="4762"/>
                  </a:lnTo>
                  <a:lnTo>
                    <a:pt x="143446" y="0"/>
                  </a:lnTo>
                  <a:lnTo>
                    <a:pt x="184484" y="8536"/>
                  </a:lnTo>
                  <a:lnTo>
                    <a:pt x="217932" y="31789"/>
                  </a:lnTo>
                  <a:lnTo>
                    <a:pt x="240449" y="66222"/>
                  </a:lnTo>
                  <a:lnTo>
                    <a:pt x="248688" y="108299"/>
                  </a:lnTo>
                  <a:lnTo>
                    <a:pt x="248688" y="977551"/>
                  </a:lnTo>
                  <a:lnTo>
                    <a:pt x="241139" y="1016049"/>
                  </a:lnTo>
                  <a:lnTo>
                    <a:pt x="240414" y="1019626"/>
                  </a:lnTo>
                  <a:lnTo>
                    <a:pt x="222223" y="1047440"/>
                  </a:lnTo>
                  <a:lnTo>
                    <a:pt x="217863" y="1054048"/>
                  </a:lnTo>
                  <a:lnTo>
                    <a:pt x="185789" y="1076325"/>
                  </a:lnTo>
                  <a:close/>
                </a:path>
                <a:path w="248920" h="1085850">
                  <a:moveTo>
                    <a:pt x="143446" y="1085755"/>
                  </a:moveTo>
                  <a:lnTo>
                    <a:pt x="105251" y="1085755"/>
                  </a:lnTo>
                  <a:lnTo>
                    <a:pt x="105251" y="1080992"/>
                  </a:lnTo>
                  <a:lnTo>
                    <a:pt x="143446" y="1080992"/>
                  </a:lnTo>
                  <a:lnTo>
                    <a:pt x="143446" y="1085755"/>
                  </a:lnTo>
                  <a:close/>
                </a:path>
                <a:path w="248920" h="1085850">
                  <a:moveTo>
                    <a:pt x="143446" y="1085755"/>
                  </a:moveTo>
                  <a:lnTo>
                    <a:pt x="143446" y="1080992"/>
                  </a:lnTo>
                  <a:lnTo>
                    <a:pt x="166376" y="1080992"/>
                  </a:lnTo>
                  <a:lnTo>
                    <a:pt x="143446" y="1085755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54130" y="4586439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5">
                  <a:moveTo>
                    <a:pt x="358806" y="717613"/>
                  </a:moveTo>
                  <a:lnTo>
                    <a:pt x="310107" y="714338"/>
                  </a:lnTo>
                  <a:lnTo>
                    <a:pt x="263403" y="704800"/>
                  </a:lnTo>
                  <a:lnTo>
                    <a:pt x="219121" y="689423"/>
                  </a:lnTo>
                  <a:lnTo>
                    <a:pt x="177687" y="668637"/>
                  </a:lnTo>
                  <a:lnTo>
                    <a:pt x="139528" y="642867"/>
                  </a:lnTo>
                  <a:lnTo>
                    <a:pt x="105072" y="612540"/>
                  </a:lnTo>
                  <a:lnTo>
                    <a:pt x="74746" y="578084"/>
                  </a:lnTo>
                  <a:lnTo>
                    <a:pt x="48976" y="539926"/>
                  </a:lnTo>
                  <a:lnTo>
                    <a:pt x="28189" y="498492"/>
                  </a:lnTo>
                  <a:lnTo>
                    <a:pt x="12813" y="454209"/>
                  </a:lnTo>
                  <a:lnTo>
                    <a:pt x="3274" y="407505"/>
                  </a:lnTo>
                  <a:lnTo>
                    <a:pt x="0" y="358806"/>
                  </a:lnTo>
                  <a:lnTo>
                    <a:pt x="3276" y="310127"/>
                  </a:lnTo>
                  <a:lnTo>
                    <a:pt x="12819" y="263436"/>
                  </a:lnTo>
                  <a:lnTo>
                    <a:pt x="28202" y="219161"/>
                  </a:lnTo>
                  <a:lnTo>
                    <a:pt x="48997" y="177729"/>
                  </a:lnTo>
                  <a:lnTo>
                    <a:pt x="74775" y="139569"/>
                  </a:lnTo>
                  <a:lnTo>
                    <a:pt x="105108" y="105108"/>
                  </a:lnTo>
                  <a:lnTo>
                    <a:pt x="139569" y="74775"/>
                  </a:lnTo>
                  <a:lnTo>
                    <a:pt x="177729" y="48997"/>
                  </a:lnTo>
                  <a:lnTo>
                    <a:pt x="219161" y="28202"/>
                  </a:lnTo>
                  <a:lnTo>
                    <a:pt x="263436" y="12819"/>
                  </a:lnTo>
                  <a:lnTo>
                    <a:pt x="310127" y="3276"/>
                  </a:lnTo>
                  <a:lnTo>
                    <a:pt x="358806" y="0"/>
                  </a:lnTo>
                  <a:lnTo>
                    <a:pt x="407485" y="3276"/>
                  </a:lnTo>
                  <a:lnTo>
                    <a:pt x="454176" y="12819"/>
                  </a:lnTo>
                  <a:lnTo>
                    <a:pt x="498452" y="28202"/>
                  </a:lnTo>
                  <a:lnTo>
                    <a:pt x="539883" y="48997"/>
                  </a:lnTo>
                  <a:lnTo>
                    <a:pt x="578044" y="74775"/>
                  </a:lnTo>
                  <a:lnTo>
                    <a:pt x="612505" y="105108"/>
                  </a:lnTo>
                  <a:lnTo>
                    <a:pt x="642838" y="139569"/>
                  </a:lnTo>
                  <a:lnTo>
                    <a:pt x="668616" y="177729"/>
                  </a:lnTo>
                  <a:lnTo>
                    <a:pt x="689410" y="219161"/>
                  </a:lnTo>
                  <a:lnTo>
                    <a:pt x="704793" y="263436"/>
                  </a:lnTo>
                  <a:lnTo>
                    <a:pt x="714337" y="310127"/>
                  </a:lnTo>
                  <a:lnTo>
                    <a:pt x="717613" y="358806"/>
                  </a:lnTo>
                  <a:lnTo>
                    <a:pt x="714334" y="407505"/>
                  </a:lnTo>
                  <a:lnTo>
                    <a:pt x="704788" y="454209"/>
                  </a:lnTo>
                  <a:lnTo>
                    <a:pt x="689403" y="498492"/>
                  </a:lnTo>
                  <a:lnTo>
                    <a:pt x="668608" y="539926"/>
                  </a:lnTo>
                  <a:lnTo>
                    <a:pt x="642831" y="578084"/>
                  </a:lnTo>
                  <a:lnTo>
                    <a:pt x="612500" y="612540"/>
                  </a:lnTo>
                  <a:lnTo>
                    <a:pt x="578042" y="642867"/>
                  </a:lnTo>
                  <a:lnTo>
                    <a:pt x="539884" y="668637"/>
                  </a:lnTo>
                  <a:lnTo>
                    <a:pt x="498453" y="689423"/>
                  </a:lnTo>
                  <a:lnTo>
                    <a:pt x="454177" y="704800"/>
                  </a:lnTo>
                  <a:lnTo>
                    <a:pt x="407478" y="714338"/>
                  </a:lnTo>
                  <a:lnTo>
                    <a:pt x="358806" y="71761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49367" y="4581867"/>
              <a:ext cx="727075" cy="727075"/>
            </a:xfrm>
            <a:custGeom>
              <a:avLst/>
              <a:gdLst/>
              <a:ahLst/>
              <a:cxnLst/>
              <a:rect l="l" t="t" r="r" b="b"/>
              <a:pathLst>
                <a:path w="727075" h="727075">
                  <a:moveTo>
                    <a:pt x="192" y="360519"/>
                  </a:moveTo>
                  <a:lnTo>
                    <a:pt x="3232" y="315333"/>
                  </a:lnTo>
                  <a:lnTo>
                    <a:pt x="3319" y="314045"/>
                  </a:lnTo>
                  <a:lnTo>
                    <a:pt x="12987" y="266729"/>
                  </a:lnTo>
                  <a:lnTo>
                    <a:pt x="28572" y="221864"/>
                  </a:lnTo>
                  <a:lnTo>
                    <a:pt x="49639" y="179881"/>
                  </a:lnTo>
                  <a:lnTo>
                    <a:pt x="75756" y="141215"/>
                  </a:lnTo>
                  <a:lnTo>
                    <a:pt x="106489" y="106299"/>
                  </a:lnTo>
                  <a:lnTo>
                    <a:pt x="141405" y="75565"/>
                  </a:lnTo>
                  <a:lnTo>
                    <a:pt x="180071" y="49448"/>
                  </a:lnTo>
                  <a:lnTo>
                    <a:pt x="222054" y="28381"/>
                  </a:lnTo>
                  <a:lnTo>
                    <a:pt x="266920" y="12797"/>
                  </a:lnTo>
                  <a:lnTo>
                    <a:pt x="314236" y="3128"/>
                  </a:lnTo>
                  <a:lnTo>
                    <a:pt x="360737" y="0"/>
                  </a:lnTo>
                  <a:lnTo>
                    <a:pt x="363569" y="0"/>
                  </a:lnTo>
                  <a:lnTo>
                    <a:pt x="363569" y="4572"/>
                  </a:lnTo>
                  <a:lnTo>
                    <a:pt x="362080" y="9334"/>
                  </a:lnTo>
                  <a:lnTo>
                    <a:pt x="363569" y="9334"/>
                  </a:lnTo>
                  <a:lnTo>
                    <a:pt x="315524" y="12566"/>
                  </a:lnTo>
                  <a:lnTo>
                    <a:pt x="269444" y="21980"/>
                  </a:lnTo>
                  <a:lnTo>
                    <a:pt x="225752" y="37154"/>
                  </a:lnTo>
                  <a:lnTo>
                    <a:pt x="184869" y="57668"/>
                  </a:lnTo>
                  <a:lnTo>
                    <a:pt x="147216" y="83099"/>
                  </a:lnTo>
                  <a:lnTo>
                    <a:pt x="113216" y="113026"/>
                  </a:lnTo>
                  <a:lnTo>
                    <a:pt x="83289" y="147026"/>
                  </a:lnTo>
                  <a:lnTo>
                    <a:pt x="57859" y="184679"/>
                  </a:lnTo>
                  <a:lnTo>
                    <a:pt x="37345" y="225562"/>
                  </a:lnTo>
                  <a:lnTo>
                    <a:pt x="22170" y="269254"/>
                  </a:lnTo>
                  <a:lnTo>
                    <a:pt x="12756" y="315333"/>
                  </a:lnTo>
                  <a:lnTo>
                    <a:pt x="9845" y="358616"/>
                  </a:lnTo>
                  <a:lnTo>
                    <a:pt x="2095" y="358616"/>
                  </a:lnTo>
                  <a:lnTo>
                    <a:pt x="192" y="360519"/>
                  </a:lnTo>
                  <a:close/>
                </a:path>
                <a:path w="727075" h="727075">
                  <a:moveTo>
                    <a:pt x="363569" y="4572"/>
                  </a:moveTo>
                  <a:lnTo>
                    <a:pt x="363569" y="0"/>
                  </a:lnTo>
                  <a:lnTo>
                    <a:pt x="364998" y="0"/>
                  </a:lnTo>
                  <a:lnTo>
                    <a:pt x="363569" y="4572"/>
                  </a:lnTo>
                  <a:close/>
                </a:path>
                <a:path w="727075" h="727075">
                  <a:moveTo>
                    <a:pt x="717530" y="362146"/>
                  </a:moveTo>
                  <a:lnTo>
                    <a:pt x="714381" y="315333"/>
                  </a:lnTo>
                  <a:lnTo>
                    <a:pt x="704967" y="269254"/>
                  </a:lnTo>
                  <a:lnTo>
                    <a:pt x="689793" y="225562"/>
                  </a:lnTo>
                  <a:lnTo>
                    <a:pt x="669279" y="184679"/>
                  </a:lnTo>
                  <a:lnTo>
                    <a:pt x="643848" y="147026"/>
                  </a:lnTo>
                  <a:lnTo>
                    <a:pt x="613921" y="113026"/>
                  </a:lnTo>
                  <a:lnTo>
                    <a:pt x="579921" y="83099"/>
                  </a:lnTo>
                  <a:lnTo>
                    <a:pt x="542268" y="57668"/>
                  </a:lnTo>
                  <a:lnTo>
                    <a:pt x="501385" y="37154"/>
                  </a:lnTo>
                  <a:lnTo>
                    <a:pt x="457693" y="21980"/>
                  </a:lnTo>
                  <a:lnTo>
                    <a:pt x="411614" y="12566"/>
                  </a:lnTo>
                  <a:lnTo>
                    <a:pt x="363569" y="9334"/>
                  </a:lnTo>
                  <a:lnTo>
                    <a:pt x="363569" y="4572"/>
                  </a:lnTo>
                  <a:lnTo>
                    <a:pt x="364998" y="0"/>
                  </a:lnTo>
                  <a:lnTo>
                    <a:pt x="366400" y="0"/>
                  </a:lnTo>
                  <a:lnTo>
                    <a:pt x="412901" y="3128"/>
                  </a:lnTo>
                  <a:lnTo>
                    <a:pt x="460217" y="12797"/>
                  </a:lnTo>
                  <a:lnTo>
                    <a:pt x="505083" y="28381"/>
                  </a:lnTo>
                  <a:lnTo>
                    <a:pt x="547066" y="49448"/>
                  </a:lnTo>
                  <a:lnTo>
                    <a:pt x="585732" y="75565"/>
                  </a:lnTo>
                  <a:lnTo>
                    <a:pt x="620648" y="106299"/>
                  </a:lnTo>
                  <a:lnTo>
                    <a:pt x="651382" y="141215"/>
                  </a:lnTo>
                  <a:lnTo>
                    <a:pt x="677499" y="179881"/>
                  </a:lnTo>
                  <a:lnTo>
                    <a:pt x="698566" y="221864"/>
                  </a:lnTo>
                  <a:lnTo>
                    <a:pt x="714151" y="266729"/>
                  </a:lnTo>
                  <a:lnTo>
                    <a:pt x="723819" y="314045"/>
                  </a:lnTo>
                  <a:lnTo>
                    <a:pt x="726818" y="358616"/>
                  </a:lnTo>
                  <a:lnTo>
                    <a:pt x="726914" y="360045"/>
                  </a:lnTo>
                  <a:lnTo>
                    <a:pt x="719042" y="360045"/>
                  </a:lnTo>
                  <a:lnTo>
                    <a:pt x="718089" y="360902"/>
                  </a:lnTo>
                  <a:lnTo>
                    <a:pt x="717530" y="362146"/>
                  </a:lnTo>
                  <a:close/>
                </a:path>
                <a:path w="727075" h="727075">
                  <a:moveTo>
                    <a:pt x="363569" y="9334"/>
                  </a:moveTo>
                  <a:lnTo>
                    <a:pt x="362080" y="9334"/>
                  </a:lnTo>
                  <a:lnTo>
                    <a:pt x="363569" y="4572"/>
                  </a:lnTo>
                  <a:lnTo>
                    <a:pt x="363569" y="9334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011" y="726948"/>
                  </a:lnTo>
                  <a:lnTo>
                    <a:pt x="314236" y="723628"/>
                  </a:lnTo>
                  <a:lnTo>
                    <a:pt x="266920" y="713960"/>
                  </a:lnTo>
                  <a:lnTo>
                    <a:pt x="222054" y="698375"/>
                  </a:lnTo>
                  <a:lnTo>
                    <a:pt x="180071" y="677308"/>
                  </a:lnTo>
                  <a:lnTo>
                    <a:pt x="141405" y="651191"/>
                  </a:lnTo>
                  <a:lnTo>
                    <a:pt x="106489" y="620458"/>
                  </a:lnTo>
                  <a:lnTo>
                    <a:pt x="75756" y="585542"/>
                  </a:lnTo>
                  <a:lnTo>
                    <a:pt x="49639" y="546876"/>
                  </a:lnTo>
                  <a:lnTo>
                    <a:pt x="28572" y="504893"/>
                  </a:lnTo>
                  <a:lnTo>
                    <a:pt x="12987" y="460027"/>
                  </a:lnTo>
                  <a:lnTo>
                    <a:pt x="3319" y="412711"/>
                  </a:lnTo>
                  <a:lnTo>
                    <a:pt x="320" y="368141"/>
                  </a:lnTo>
                  <a:lnTo>
                    <a:pt x="224" y="366712"/>
                  </a:lnTo>
                  <a:lnTo>
                    <a:pt x="192" y="360519"/>
                  </a:lnTo>
                  <a:lnTo>
                    <a:pt x="2095" y="358616"/>
                  </a:lnTo>
                  <a:lnTo>
                    <a:pt x="4762" y="358616"/>
                  </a:lnTo>
                  <a:lnTo>
                    <a:pt x="4762" y="368141"/>
                  </a:lnTo>
                  <a:lnTo>
                    <a:pt x="9845" y="368141"/>
                  </a:lnTo>
                  <a:lnTo>
                    <a:pt x="12756" y="411423"/>
                  </a:lnTo>
                  <a:lnTo>
                    <a:pt x="22170" y="457502"/>
                  </a:lnTo>
                  <a:lnTo>
                    <a:pt x="37345" y="501195"/>
                  </a:lnTo>
                  <a:lnTo>
                    <a:pt x="57859" y="542078"/>
                  </a:lnTo>
                  <a:lnTo>
                    <a:pt x="83289" y="579730"/>
                  </a:lnTo>
                  <a:lnTo>
                    <a:pt x="113216" y="613731"/>
                  </a:lnTo>
                  <a:lnTo>
                    <a:pt x="147216" y="643657"/>
                  </a:lnTo>
                  <a:lnTo>
                    <a:pt x="184869" y="669088"/>
                  </a:lnTo>
                  <a:lnTo>
                    <a:pt x="225752" y="689602"/>
                  </a:lnTo>
                  <a:lnTo>
                    <a:pt x="269444" y="704777"/>
                  </a:lnTo>
                  <a:lnTo>
                    <a:pt x="315524" y="714191"/>
                  </a:lnTo>
                  <a:lnTo>
                    <a:pt x="363569" y="717422"/>
                  </a:lnTo>
                  <a:lnTo>
                    <a:pt x="443272" y="717422"/>
                  </a:lnTo>
                  <a:lnTo>
                    <a:pt x="419965" y="722185"/>
                  </a:lnTo>
                  <a:lnTo>
                    <a:pt x="363569" y="722185"/>
                  </a:lnTo>
                  <a:lnTo>
                    <a:pt x="363566" y="726948"/>
                  </a:lnTo>
                  <a:close/>
                </a:path>
                <a:path w="727075" h="727075">
                  <a:moveTo>
                    <a:pt x="7429" y="368141"/>
                  </a:moveTo>
                  <a:lnTo>
                    <a:pt x="4762" y="368141"/>
                  </a:lnTo>
                  <a:lnTo>
                    <a:pt x="4762" y="358616"/>
                  </a:lnTo>
                  <a:lnTo>
                    <a:pt x="9845" y="358616"/>
                  </a:lnTo>
                  <a:lnTo>
                    <a:pt x="9749" y="360045"/>
                  </a:lnTo>
                  <a:lnTo>
                    <a:pt x="9691" y="360902"/>
                  </a:lnTo>
                  <a:lnTo>
                    <a:pt x="9607" y="362146"/>
                  </a:lnTo>
                  <a:lnTo>
                    <a:pt x="9525" y="366045"/>
                  </a:lnTo>
                  <a:lnTo>
                    <a:pt x="7429" y="368141"/>
                  </a:lnTo>
                  <a:close/>
                </a:path>
                <a:path w="727075" h="727075">
                  <a:moveTo>
                    <a:pt x="443272" y="717422"/>
                  </a:moveTo>
                  <a:lnTo>
                    <a:pt x="363569" y="717422"/>
                  </a:lnTo>
                  <a:lnTo>
                    <a:pt x="411614" y="714191"/>
                  </a:lnTo>
                  <a:lnTo>
                    <a:pt x="457693" y="704777"/>
                  </a:lnTo>
                  <a:lnTo>
                    <a:pt x="501385" y="689602"/>
                  </a:lnTo>
                  <a:lnTo>
                    <a:pt x="542268" y="669088"/>
                  </a:lnTo>
                  <a:lnTo>
                    <a:pt x="579921" y="643657"/>
                  </a:lnTo>
                  <a:lnTo>
                    <a:pt x="613921" y="613731"/>
                  </a:lnTo>
                  <a:lnTo>
                    <a:pt x="643848" y="579730"/>
                  </a:lnTo>
                  <a:lnTo>
                    <a:pt x="669279" y="542078"/>
                  </a:lnTo>
                  <a:lnTo>
                    <a:pt x="689793" y="501195"/>
                  </a:lnTo>
                  <a:lnTo>
                    <a:pt x="704967" y="457502"/>
                  </a:lnTo>
                  <a:lnTo>
                    <a:pt x="714381" y="411423"/>
                  </a:lnTo>
                  <a:lnTo>
                    <a:pt x="717293" y="368141"/>
                  </a:lnTo>
                  <a:lnTo>
                    <a:pt x="717389" y="366712"/>
                  </a:lnTo>
                  <a:lnTo>
                    <a:pt x="717434" y="366045"/>
                  </a:lnTo>
                  <a:lnTo>
                    <a:pt x="717530" y="362146"/>
                  </a:lnTo>
                  <a:lnTo>
                    <a:pt x="718089" y="360902"/>
                  </a:lnTo>
                  <a:lnTo>
                    <a:pt x="719042" y="360045"/>
                  </a:lnTo>
                  <a:lnTo>
                    <a:pt x="725709" y="366712"/>
                  </a:lnTo>
                  <a:lnTo>
                    <a:pt x="726914" y="366712"/>
                  </a:lnTo>
                  <a:lnTo>
                    <a:pt x="723906" y="411423"/>
                  </a:lnTo>
                  <a:lnTo>
                    <a:pt x="723819" y="412711"/>
                  </a:lnTo>
                  <a:lnTo>
                    <a:pt x="714151" y="460027"/>
                  </a:lnTo>
                  <a:lnTo>
                    <a:pt x="698566" y="504893"/>
                  </a:lnTo>
                  <a:lnTo>
                    <a:pt x="677499" y="546876"/>
                  </a:lnTo>
                  <a:lnTo>
                    <a:pt x="651382" y="585542"/>
                  </a:lnTo>
                  <a:lnTo>
                    <a:pt x="620648" y="620458"/>
                  </a:lnTo>
                  <a:lnTo>
                    <a:pt x="585732" y="651191"/>
                  </a:lnTo>
                  <a:lnTo>
                    <a:pt x="547066" y="677308"/>
                  </a:lnTo>
                  <a:lnTo>
                    <a:pt x="505083" y="698375"/>
                  </a:lnTo>
                  <a:lnTo>
                    <a:pt x="460217" y="713960"/>
                  </a:lnTo>
                  <a:lnTo>
                    <a:pt x="443272" y="717422"/>
                  </a:lnTo>
                  <a:close/>
                </a:path>
                <a:path w="727075" h="727075">
                  <a:moveTo>
                    <a:pt x="725709" y="366712"/>
                  </a:moveTo>
                  <a:lnTo>
                    <a:pt x="719042" y="360045"/>
                  </a:lnTo>
                  <a:lnTo>
                    <a:pt x="726914" y="360045"/>
                  </a:lnTo>
                  <a:lnTo>
                    <a:pt x="727037" y="364879"/>
                  </a:lnTo>
                  <a:lnTo>
                    <a:pt x="726662" y="365855"/>
                  </a:lnTo>
                  <a:lnTo>
                    <a:pt x="725709" y="366712"/>
                  </a:lnTo>
                  <a:close/>
                </a:path>
                <a:path w="727075" h="727075">
                  <a:moveTo>
                    <a:pt x="0" y="362146"/>
                  </a:moveTo>
                  <a:lnTo>
                    <a:pt x="0" y="360711"/>
                  </a:lnTo>
                  <a:lnTo>
                    <a:pt x="192" y="360519"/>
                  </a:lnTo>
                  <a:lnTo>
                    <a:pt x="166" y="360902"/>
                  </a:lnTo>
                  <a:lnTo>
                    <a:pt x="0" y="362146"/>
                  </a:lnTo>
                  <a:close/>
                </a:path>
                <a:path w="727075" h="727075">
                  <a:moveTo>
                    <a:pt x="9845" y="368141"/>
                  </a:moveTo>
                  <a:lnTo>
                    <a:pt x="7429" y="368141"/>
                  </a:lnTo>
                  <a:lnTo>
                    <a:pt x="9525" y="366045"/>
                  </a:lnTo>
                  <a:lnTo>
                    <a:pt x="9625" y="364879"/>
                  </a:lnTo>
                  <a:lnTo>
                    <a:pt x="9749" y="366712"/>
                  </a:lnTo>
                  <a:lnTo>
                    <a:pt x="9845" y="368141"/>
                  </a:lnTo>
                  <a:close/>
                </a:path>
                <a:path w="727075" h="727075">
                  <a:moveTo>
                    <a:pt x="726914" y="366712"/>
                  </a:moveTo>
                  <a:lnTo>
                    <a:pt x="725709" y="366712"/>
                  </a:lnTo>
                  <a:lnTo>
                    <a:pt x="726662" y="365855"/>
                  </a:lnTo>
                  <a:lnTo>
                    <a:pt x="727037" y="364879"/>
                  </a:lnTo>
                  <a:lnTo>
                    <a:pt x="726914" y="366712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569" y="722185"/>
                  </a:lnTo>
                  <a:lnTo>
                    <a:pt x="419965" y="722185"/>
                  </a:lnTo>
                  <a:lnTo>
                    <a:pt x="412901" y="723628"/>
                  </a:lnTo>
                  <a:lnTo>
                    <a:pt x="363566" y="72694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2658" y="4776727"/>
              <a:ext cx="383566" cy="322310"/>
            </a:xfrm>
            <a:prstGeom prst="rect">
              <a:avLst/>
            </a:prstGeom>
          </p:spPr>
        </p:pic>
      </p:grpSp>
      <p:grpSp>
        <p:nvGrpSpPr>
          <p:cNvPr id="20" name="object 20" descr=""/>
          <p:cNvGrpSpPr/>
          <p:nvPr/>
        </p:nvGrpSpPr>
        <p:grpSpPr>
          <a:xfrm>
            <a:off x="8408193" y="6218976"/>
            <a:ext cx="727075" cy="1485900"/>
            <a:chOff x="8408193" y="6218976"/>
            <a:chExt cx="727075" cy="1485900"/>
          </a:xfrm>
        </p:grpSpPr>
        <p:sp>
          <p:nvSpPr>
            <p:cNvPr id="21" name="object 21" descr=""/>
            <p:cNvSpPr/>
            <p:nvPr/>
          </p:nvSpPr>
          <p:spPr>
            <a:xfrm>
              <a:off x="8652119" y="6380559"/>
              <a:ext cx="239395" cy="1319530"/>
            </a:xfrm>
            <a:custGeom>
              <a:avLst/>
              <a:gdLst/>
              <a:ahLst/>
              <a:cxnLst/>
              <a:rect l="l" t="t" r="r" b="b"/>
              <a:pathLst>
                <a:path w="239395" h="1319529">
                  <a:moveTo>
                    <a:pt x="138684" y="1319498"/>
                  </a:moveTo>
                  <a:lnTo>
                    <a:pt x="100488" y="1319498"/>
                  </a:lnTo>
                  <a:lnTo>
                    <a:pt x="61360" y="1311354"/>
                  </a:lnTo>
                  <a:lnTo>
                    <a:pt x="29420" y="1289137"/>
                  </a:lnTo>
                  <a:lnTo>
                    <a:pt x="7892" y="1256168"/>
                  </a:lnTo>
                  <a:lnTo>
                    <a:pt x="0" y="1215771"/>
                  </a:lnTo>
                  <a:lnTo>
                    <a:pt x="0" y="103727"/>
                  </a:lnTo>
                  <a:lnTo>
                    <a:pt x="7892" y="63369"/>
                  </a:lnTo>
                  <a:lnTo>
                    <a:pt x="29420" y="30396"/>
                  </a:lnTo>
                  <a:lnTo>
                    <a:pt x="61360" y="8157"/>
                  </a:lnTo>
                  <a:lnTo>
                    <a:pt x="100488" y="0"/>
                  </a:lnTo>
                  <a:lnTo>
                    <a:pt x="138684" y="0"/>
                  </a:lnTo>
                  <a:lnTo>
                    <a:pt x="177812" y="8157"/>
                  </a:lnTo>
                  <a:lnTo>
                    <a:pt x="209752" y="30396"/>
                  </a:lnTo>
                  <a:lnTo>
                    <a:pt x="231280" y="63369"/>
                  </a:lnTo>
                  <a:lnTo>
                    <a:pt x="239172" y="103727"/>
                  </a:lnTo>
                  <a:lnTo>
                    <a:pt x="239172" y="1215771"/>
                  </a:lnTo>
                  <a:lnTo>
                    <a:pt x="231254" y="1256168"/>
                  </a:lnTo>
                  <a:lnTo>
                    <a:pt x="209701" y="1289137"/>
                  </a:lnTo>
                  <a:lnTo>
                    <a:pt x="177748" y="1311354"/>
                  </a:lnTo>
                  <a:lnTo>
                    <a:pt x="138684" y="131949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47356" y="6375796"/>
              <a:ext cx="248920" cy="1329055"/>
            </a:xfrm>
            <a:custGeom>
              <a:avLst/>
              <a:gdLst/>
              <a:ahLst/>
              <a:cxnLst/>
              <a:rect l="l" t="t" r="r" b="b"/>
              <a:pathLst>
                <a:path w="248920" h="1329054">
                  <a:moveTo>
                    <a:pt x="105251" y="1328931"/>
                  </a:moveTo>
                  <a:lnTo>
                    <a:pt x="64213" y="1320483"/>
                  </a:lnTo>
                  <a:lnTo>
                    <a:pt x="30765" y="1297209"/>
                  </a:lnTo>
                  <a:lnTo>
                    <a:pt x="8248" y="1262720"/>
                  </a:lnTo>
                  <a:lnTo>
                    <a:pt x="0" y="1220533"/>
                  </a:lnTo>
                  <a:lnTo>
                    <a:pt x="0" y="108489"/>
                  </a:lnTo>
                  <a:lnTo>
                    <a:pt x="8248" y="66303"/>
                  </a:lnTo>
                  <a:lnTo>
                    <a:pt x="30765" y="31813"/>
                  </a:lnTo>
                  <a:lnTo>
                    <a:pt x="64213" y="8539"/>
                  </a:lnTo>
                  <a:lnTo>
                    <a:pt x="105251" y="0"/>
                  </a:lnTo>
                  <a:lnTo>
                    <a:pt x="143446" y="0"/>
                  </a:lnTo>
                  <a:lnTo>
                    <a:pt x="143446" y="4762"/>
                  </a:lnTo>
                  <a:lnTo>
                    <a:pt x="105251" y="4762"/>
                  </a:lnTo>
                  <a:lnTo>
                    <a:pt x="105251" y="9525"/>
                  </a:lnTo>
                  <a:lnTo>
                    <a:pt x="68032" y="17286"/>
                  </a:lnTo>
                  <a:lnTo>
                    <a:pt x="37600" y="38469"/>
                  </a:lnTo>
                  <a:lnTo>
                    <a:pt x="17061" y="69921"/>
                  </a:lnTo>
                  <a:lnTo>
                    <a:pt x="9525" y="108489"/>
                  </a:lnTo>
                  <a:lnTo>
                    <a:pt x="9525" y="1220533"/>
                  </a:lnTo>
                  <a:lnTo>
                    <a:pt x="17061" y="1259102"/>
                  </a:lnTo>
                  <a:lnTo>
                    <a:pt x="37600" y="1290554"/>
                  </a:lnTo>
                  <a:lnTo>
                    <a:pt x="68032" y="1311736"/>
                  </a:lnTo>
                  <a:lnTo>
                    <a:pt x="105251" y="1319498"/>
                  </a:lnTo>
                  <a:lnTo>
                    <a:pt x="185900" y="1319498"/>
                  </a:lnTo>
                  <a:lnTo>
                    <a:pt x="184484" y="1320483"/>
                  </a:lnTo>
                  <a:lnTo>
                    <a:pt x="166332" y="1324260"/>
                  </a:lnTo>
                  <a:lnTo>
                    <a:pt x="105251" y="1324260"/>
                  </a:lnTo>
                  <a:lnTo>
                    <a:pt x="105251" y="1328931"/>
                  </a:lnTo>
                  <a:close/>
                </a:path>
                <a:path w="248920" h="1329054">
                  <a:moveTo>
                    <a:pt x="185900" y="1319498"/>
                  </a:moveTo>
                  <a:lnTo>
                    <a:pt x="143446" y="1319498"/>
                  </a:lnTo>
                  <a:lnTo>
                    <a:pt x="180625" y="1311736"/>
                  </a:lnTo>
                  <a:lnTo>
                    <a:pt x="211062" y="1290554"/>
                  </a:lnTo>
                  <a:lnTo>
                    <a:pt x="231622" y="1259102"/>
                  </a:lnTo>
                  <a:lnTo>
                    <a:pt x="239173" y="1220533"/>
                  </a:lnTo>
                  <a:lnTo>
                    <a:pt x="239173" y="108489"/>
                  </a:lnTo>
                  <a:lnTo>
                    <a:pt x="231636" y="69921"/>
                  </a:lnTo>
                  <a:lnTo>
                    <a:pt x="211097" y="38469"/>
                  </a:lnTo>
                  <a:lnTo>
                    <a:pt x="180665" y="17286"/>
                  </a:lnTo>
                  <a:lnTo>
                    <a:pt x="143446" y="9525"/>
                  </a:lnTo>
                  <a:lnTo>
                    <a:pt x="105251" y="9525"/>
                  </a:lnTo>
                  <a:lnTo>
                    <a:pt x="105251" y="4762"/>
                  </a:lnTo>
                  <a:lnTo>
                    <a:pt x="143446" y="4762"/>
                  </a:lnTo>
                  <a:lnTo>
                    <a:pt x="143446" y="0"/>
                  </a:lnTo>
                  <a:lnTo>
                    <a:pt x="184484" y="8539"/>
                  </a:lnTo>
                  <a:lnTo>
                    <a:pt x="217932" y="31813"/>
                  </a:lnTo>
                  <a:lnTo>
                    <a:pt x="240449" y="66303"/>
                  </a:lnTo>
                  <a:lnTo>
                    <a:pt x="248688" y="108489"/>
                  </a:lnTo>
                  <a:lnTo>
                    <a:pt x="248688" y="1220533"/>
                  </a:lnTo>
                  <a:lnTo>
                    <a:pt x="240449" y="1262720"/>
                  </a:lnTo>
                  <a:lnTo>
                    <a:pt x="217932" y="1297209"/>
                  </a:lnTo>
                  <a:lnTo>
                    <a:pt x="185900" y="1319498"/>
                  </a:lnTo>
                  <a:close/>
                </a:path>
                <a:path w="248920" h="1329054">
                  <a:moveTo>
                    <a:pt x="143446" y="1328931"/>
                  </a:moveTo>
                  <a:lnTo>
                    <a:pt x="105270" y="1328931"/>
                  </a:lnTo>
                  <a:lnTo>
                    <a:pt x="105251" y="1324260"/>
                  </a:lnTo>
                  <a:lnTo>
                    <a:pt x="143446" y="1324260"/>
                  </a:lnTo>
                  <a:lnTo>
                    <a:pt x="143446" y="1328931"/>
                  </a:lnTo>
                  <a:close/>
                </a:path>
                <a:path w="248920" h="1329054">
                  <a:moveTo>
                    <a:pt x="143887" y="1328931"/>
                  </a:moveTo>
                  <a:lnTo>
                    <a:pt x="143446" y="1328931"/>
                  </a:lnTo>
                  <a:lnTo>
                    <a:pt x="143446" y="1324260"/>
                  </a:lnTo>
                  <a:lnTo>
                    <a:pt x="166332" y="1324260"/>
                  </a:lnTo>
                  <a:lnTo>
                    <a:pt x="143887" y="13289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12956" y="6223548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4">
                  <a:moveTo>
                    <a:pt x="358806" y="717613"/>
                  </a:moveTo>
                  <a:lnTo>
                    <a:pt x="310107" y="714339"/>
                  </a:lnTo>
                  <a:lnTo>
                    <a:pt x="263403" y="704800"/>
                  </a:lnTo>
                  <a:lnTo>
                    <a:pt x="219121" y="689424"/>
                  </a:lnTo>
                  <a:lnTo>
                    <a:pt x="177687" y="668637"/>
                  </a:lnTo>
                  <a:lnTo>
                    <a:pt x="139528" y="642867"/>
                  </a:lnTo>
                  <a:lnTo>
                    <a:pt x="105072" y="612541"/>
                  </a:lnTo>
                  <a:lnTo>
                    <a:pt x="74746" y="578085"/>
                  </a:lnTo>
                  <a:lnTo>
                    <a:pt x="48976" y="539926"/>
                  </a:lnTo>
                  <a:lnTo>
                    <a:pt x="28189" y="498492"/>
                  </a:lnTo>
                  <a:lnTo>
                    <a:pt x="12813" y="454210"/>
                  </a:lnTo>
                  <a:lnTo>
                    <a:pt x="3274" y="407505"/>
                  </a:lnTo>
                  <a:lnTo>
                    <a:pt x="0" y="358807"/>
                  </a:lnTo>
                  <a:lnTo>
                    <a:pt x="3276" y="310128"/>
                  </a:lnTo>
                  <a:lnTo>
                    <a:pt x="12819" y="263437"/>
                  </a:lnTo>
                  <a:lnTo>
                    <a:pt x="28202" y="219161"/>
                  </a:lnTo>
                  <a:lnTo>
                    <a:pt x="48997" y="177729"/>
                  </a:lnTo>
                  <a:lnTo>
                    <a:pt x="74775" y="139569"/>
                  </a:lnTo>
                  <a:lnTo>
                    <a:pt x="105108" y="105108"/>
                  </a:lnTo>
                  <a:lnTo>
                    <a:pt x="139569" y="74775"/>
                  </a:lnTo>
                  <a:lnTo>
                    <a:pt x="177729" y="48997"/>
                  </a:lnTo>
                  <a:lnTo>
                    <a:pt x="219161" y="28203"/>
                  </a:lnTo>
                  <a:lnTo>
                    <a:pt x="263436" y="12819"/>
                  </a:lnTo>
                  <a:lnTo>
                    <a:pt x="310127" y="3276"/>
                  </a:lnTo>
                  <a:lnTo>
                    <a:pt x="358806" y="0"/>
                  </a:lnTo>
                  <a:lnTo>
                    <a:pt x="407485" y="3276"/>
                  </a:lnTo>
                  <a:lnTo>
                    <a:pt x="454176" y="12819"/>
                  </a:lnTo>
                  <a:lnTo>
                    <a:pt x="498452" y="28203"/>
                  </a:lnTo>
                  <a:lnTo>
                    <a:pt x="539883" y="48997"/>
                  </a:lnTo>
                  <a:lnTo>
                    <a:pt x="578044" y="74775"/>
                  </a:lnTo>
                  <a:lnTo>
                    <a:pt x="612505" y="105108"/>
                  </a:lnTo>
                  <a:lnTo>
                    <a:pt x="642838" y="139569"/>
                  </a:lnTo>
                  <a:lnTo>
                    <a:pt x="668616" y="177729"/>
                  </a:lnTo>
                  <a:lnTo>
                    <a:pt x="689410" y="219161"/>
                  </a:lnTo>
                  <a:lnTo>
                    <a:pt x="704793" y="263437"/>
                  </a:lnTo>
                  <a:lnTo>
                    <a:pt x="714337" y="310128"/>
                  </a:lnTo>
                  <a:lnTo>
                    <a:pt x="717613" y="358807"/>
                  </a:lnTo>
                  <a:lnTo>
                    <a:pt x="714334" y="407505"/>
                  </a:lnTo>
                  <a:lnTo>
                    <a:pt x="704788" y="454210"/>
                  </a:lnTo>
                  <a:lnTo>
                    <a:pt x="689403" y="498492"/>
                  </a:lnTo>
                  <a:lnTo>
                    <a:pt x="668608" y="539926"/>
                  </a:lnTo>
                  <a:lnTo>
                    <a:pt x="642831" y="578085"/>
                  </a:lnTo>
                  <a:lnTo>
                    <a:pt x="612500" y="612541"/>
                  </a:lnTo>
                  <a:lnTo>
                    <a:pt x="578042" y="642867"/>
                  </a:lnTo>
                  <a:lnTo>
                    <a:pt x="539884" y="668637"/>
                  </a:lnTo>
                  <a:lnTo>
                    <a:pt x="498453" y="689424"/>
                  </a:lnTo>
                  <a:lnTo>
                    <a:pt x="454177" y="704800"/>
                  </a:lnTo>
                  <a:lnTo>
                    <a:pt x="407478" y="714339"/>
                  </a:lnTo>
                  <a:lnTo>
                    <a:pt x="358806" y="71761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08193" y="6218976"/>
              <a:ext cx="727075" cy="727075"/>
            </a:xfrm>
            <a:custGeom>
              <a:avLst/>
              <a:gdLst/>
              <a:ahLst/>
              <a:cxnLst/>
              <a:rect l="l" t="t" r="r" b="b"/>
              <a:pathLst>
                <a:path w="727075" h="727075">
                  <a:moveTo>
                    <a:pt x="192" y="360518"/>
                  </a:moveTo>
                  <a:lnTo>
                    <a:pt x="3232" y="315334"/>
                  </a:lnTo>
                  <a:lnTo>
                    <a:pt x="12987" y="266730"/>
                  </a:lnTo>
                  <a:lnTo>
                    <a:pt x="28572" y="221864"/>
                  </a:lnTo>
                  <a:lnTo>
                    <a:pt x="49639" y="179881"/>
                  </a:lnTo>
                  <a:lnTo>
                    <a:pt x="75756" y="141215"/>
                  </a:lnTo>
                  <a:lnTo>
                    <a:pt x="106489" y="106299"/>
                  </a:lnTo>
                  <a:lnTo>
                    <a:pt x="141405" y="75565"/>
                  </a:lnTo>
                  <a:lnTo>
                    <a:pt x="180071" y="49448"/>
                  </a:lnTo>
                  <a:lnTo>
                    <a:pt x="222054" y="28381"/>
                  </a:lnTo>
                  <a:lnTo>
                    <a:pt x="266920" y="12797"/>
                  </a:lnTo>
                  <a:lnTo>
                    <a:pt x="314236" y="3128"/>
                  </a:lnTo>
                  <a:lnTo>
                    <a:pt x="360737" y="0"/>
                  </a:lnTo>
                  <a:lnTo>
                    <a:pt x="363569" y="0"/>
                  </a:lnTo>
                  <a:lnTo>
                    <a:pt x="363569" y="4572"/>
                  </a:lnTo>
                  <a:lnTo>
                    <a:pt x="362080" y="9334"/>
                  </a:lnTo>
                  <a:lnTo>
                    <a:pt x="363569" y="9334"/>
                  </a:lnTo>
                  <a:lnTo>
                    <a:pt x="315524" y="12566"/>
                  </a:lnTo>
                  <a:lnTo>
                    <a:pt x="269444" y="21980"/>
                  </a:lnTo>
                  <a:lnTo>
                    <a:pt x="225752" y="37154"/>
                  </a:lnTo>
                  <a:lnTo>
                    <a:pt x="184869" y="57668"/>
                  </a:lnTo>
                  <a:lnTo>
                    <a:pt x="147216" y="83099"/>
                  </a:lnTo>
                  <a:lnTo>
                    <a:pt x="113216" y="113026"/>
                  </a:lnTo>
                  <a:lnTo>
                    <a:pt x="83289" y="147026"/>
                  </a:lnTo>
                  <a:lnTo>
                    <a:pt x="57859" y="184679"/>
                  </a:lnTo>
                  <a:lnTo>
                    <a:pt x="37345" y="225562"/>
                  </a:lnTo>
                  <a:lnTo>
                    <a:pt x="22170" y="269254"/>
                  </a:lnTo>
                  <a:lnTo>
                    <a:pt x="12756" y="315334"/>
                  </a:lnTo>
                  <a:lnTo>
                    <a:pt x="9845" y="358616"/>
                  </a:lnTo>
                  <a:lnTo>
                    <a:pt x="2095" y="358616"/>
                  </a:lnTo>
                  <a:lnTo>
                    <a:pt x="192" y="360518"/>
                  </a:lnTo>
                  <a:close/>
                </a:path>
                <a:path w="727075" h="727075">
                  <a:moveTo>
                    <a:pt x="363569" y="4572"/>
                  </a:moveTo>
                  <a:lnTo>
                    <a:pt x="363569" y="0"/>
                  </a:lnTo>
                  <a:lnTo>
                    <a:pt x="364998" y="0"/>
                  </a:lnTo>
                  <a:lnTo>
                    <a:pt x="363569" y="4572"/>
                  </a:lnTo>
                  <a:close/>
                </a:path>
                <a:path w="727075" h="727075">
                  <a:moveTo>
                    <a:pt x="717530" y="362146"/>
                  </a:moveTo>
                  <a:lnTo>
                    <a:pt x="714381" y="315334"/>
                  </a:lnTo>
                  <a:lnTo>
                    <a:pt x="704967" y="269254"/>
                  </a:lnTo>
                  <a:lnTo>
                    <a:pt x="689793" y="225562"/>
                  </a:lnTo>
                  <a:lnTo>
                    <a:pt x="669279" y="184679"/>
                  </a:lnTo>
                  <a:lnTo>
                    <a:pt x="643848" y="147026"/>
                  </a:lnTo>
                  <a:lnTo>
                    <a:pt x="613921" y="113026"/>
                  </a:lnTo>
                  <a:lnTo>
                    <a:pt x="579921" y="83099"/>
                  </a:lnTo>
                  <a:lnTo>
                    <a:pt x="542268" y="57668"/>
                  </a:lnTo>
                  <a:lnTo>
                    <a:pt x="501385" y="37154"/>
                  </a:lnTo>
                  <a:lnTo>
                    <a:pt x="457693" y="21980"/>
                  </a:lnTo>
                  <a:lnTo>
                    <a:pt x="411614" y="12566"/>
                  </a:lnTo>
                  <a:lnTo>
                    <a:pt x="363569" y="9334"/>
                  </a:lnTo>
                  <a:lnTo>
                    <a:pt x="363569" y="4572"/>
                  </a:lnTo>
                  <a:lnTo>
                    <a:pt x="364998" y="0"/>
                  </a:lnTo>
                  <a:lnTo>
                    <a:pt x="366400" y="0"/>
                  </a:lnTo>
                  <a:lnTo>
                    <a:pt x="412901" y="3128"/>
                  </a:lnTo>
                  <a:lnTo>
                    <a:pt x="460217" y="12797"/>
                  </a:lnTo>
                  <a:lnTo>
                    <a:pt x="505083" y="28381"/>
                  </a:lnTo>
                  <a:lnTo>
                    <a:pt x="547066" y="49448"/>
                  </a:lnTo>
                  <a:lnTo>
                    <a:pt x="585732" y="75565"/>
                  </a:lnTo>
                  <a:lnTo>
                    <a:pt x="620648" y="106299"/>
                  </a:lnTo>
                  <a:lnTo>
                    <a:pt x="651382" y="141215"/>
                  </a:lnTo>
                  <a:lnTo>
                    <a:pt x="677499" y="179881"/>
                  </a:lnTo>
                  <a:lnTo>
                    <a:pt x="698566" y="221864"/>
                  </a:lnTo>
                  <a:lnTo>
                    <a:pt x="714151" y="266730"/>
                  </a:lnTo>
                  <a:lnTo>
                    <a:pt x="723819" y="314046"/>
                  </a:lnTo>
                  <a:lnTo>
                    <a:pt x="726818" y="358616"/>
                  </a:lnTo>
                  <a:lnTo>
                    <a:pt x="726914" y="360045"/>
                  </a:lnTo>
                  <a:lnTo>
                    <a:pt x="719042" y="360045"/>
                  </a:lnTo>
                  <a:lnTo>
                    <a:pt x="718089" y="360902"/>
                  </a:lnTo>
                  <a:lnTo>
                    <a:pt x="717530" y="362146"/>
                  </a:lnTo>
                  <a:close/>
                </a:path>
                <a:path w="727075" h="727075">
                  <a:moveTo>
                    <a:pt x="363569" y="9334"/>
                  </a:moveTo>
                  <a:lnTo>
                    <a:pt x="362080" y="9334"/>
                  </a:lnTo>
                  <a:lnTo>
                    <a:pt x="363569" y="4572"/>
                  </a:lnTo>
                  <a:lnTo>
                    <a:pt x="363569" y="9334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017" y="726948"/>
                  </a:lnTo>
                  <a:lnTo>
                    <a:pt x="314236" y="723629"/>
                  </a:lnTo>
                  <a:lnTo>
                    <a:pt x="266920" y="713960"/>
                  </a:lnTo>
                  <a:lnTo>
                    <a:pt x="222054" y="698376"/>
                  </a:lnTo>
                  <a:lnTo>
                    <a:pt x="180071" y="677308"/>
                  </a:lnTo>
                  <a:lnTo>
                    <a:pt x="141405" y="651191"/>
                  </a:lnTo>
                  <a:lnTo>
                    <a:pt x="106489" y="620458"/>
                  </a:lnTo>
                  <a:lnTo>
                    <a:pt x="75756" y="585542"/>
                  </a:lnTo>
                  <a:lnTo>
                    <a:pt x="49639" y="546876"/>
                  </a:lnTo>
                  <a:lnTo>
                    <a:pt x="28572" y="504893"/>
                  </a:lnTo>
                  <a:lnTo>
                    <a:pt x="12987" y="460027"/>
                  </a:lnTo>
                  <a:lnTo>
                    <a:pt x="3319" y="412711"/>
                  </a:lnTo>
                  <a:lnTo>
                    <a:pt x="320" y="368141"/>
                  </a:lnTo>
                  <a:lnTo>
                    <a:pt x="224" y="366712"/>
                  </a:lnTo>
                  <a:lnTo>
                    <a:pt x="192" y="360518"/>
                  </a:lnTo>
                  <a:lnTo>
                    <a:pt x="2095" y="358616"/>
                  </a:lnTo>
                  <a:lnTo>
                    <a:pt x="4762" y="358616"/>
                  </a:lnTo>
                  <a:lnTo>
                    <a:pt x="4762" y="368141"/>
                  </a:lnTo>
                  <a:lnTo>
                    <a:pt x="9845" y="368141"/>
                  </a:lnTo>
                  <a:lnTo>
                    <a:pt x="12756" y="411423"/>
                  </a:lnTo>
                  <a:lnTo>
                    <a:pt x="22170" y="457503"/>
                  </a:lnTo>
                  <a:lnTo>
                    <a:pt x="37345" y="501195"/>
                  </a:lnTo>
                  <a:lnTo>
                    <a:pt x="57859" y="542078"/>
                  </a:lnTo>
                  <a:lnTo>
                    <a:pt x="83289" y="579731"/>
                  </a:lnTo>
                  <a:lnTo>
                    <a:pt x="113216" y="613731"/>
                  </a:lnTo>
                  <a:lnTo>
                    <a:pt x="147216" y="643658"/>
                  </a:lnTo>
                  <a:lnTo>
                    <a:pt x="184869" y="669089"/>
                  </a:lnTo>
                  <a:lnTo>
                    <a:pt x="225752" y="689602"/>
                  </a:lnTo>
                  <a:lnTo>
                    <a:pt x="269444" y="704777"/>
                  </a:lnTo>
                  <a:lnTo>
                    <a:pt x="315524" y="714191"/>
                  </a:lnTo>
                  <a:lnTo>
                    <a:pt x="363569" y="717423"/>
                  </a:lnTo>
                  <a:lnTo>
                    <a:pt x="443272" y="717423"/>
                  </a:lnTo>
                  <a:lnTo>
                    <a:pt x="419965" y="722185"/>
                  </a:lnTo>
                  <a:lnTo>
                    <a:pt x="363569" y="722185"/>
                  </a:lnTo>
                  <a:lnTo>
                    <a:pt x="363566" y="726948"/>
                  </a:lnTo>
                  <a:close/>
                </a:path>
                <a:path w="727075" h="727075">
                  <a:moveTo>
                    <a:pt x="7429" y="368141"/>
                  </a:moveTo>
                  <a:lnTo>
                    <a:pt x="4762" y="368141"/>
                  </a:lnTo>
                  <a:lnTo>
                    <a:pt x="4762" y="358616"/>
                  </a:lnTo>
                  <a:lnTo>
                    <a:pt x="9845" y="358616"/>
                  </a:lnTo>
                  <a:lnTo>
                    <a:pt x="9749" y="360045"/>
                  </a:lnTo>
                  <a:lnTo>
                    <a:pt x="9691" y="360902"/>
                  </a:lnTo>
                  <a:lnTo>
                    <a:pt x="9607" y="362146"/>
                  </a:lnTo>
                  <a:lnTo>
                    <a:pt x="9525" y="366046"/>
                  </a:lnTo>
                  <a:lnTo>
                    <a:pt x="7429" y="368141"/>
                  </a:lnTo>
                  <a:close/>
                </a:path>
                <a:path w="727075" h="727075">
                  <a:moveTo>
                    <a:pt x="443272" y="717423"/>
                  </a:moveTo>
                  <a:lnTo>
                    <a:pt x="363569" y="717423"/>
                  </a:lnTo>
                  <a:lnTo>
                    <a:pt x="411614" y="714191"/>
                  </a:lnTo>
                  <a:lnTo>
                    <a:pt x="457693" y="704777"/>
                  </a:lnTo>
                  <a:lnTo>
                    <a:pt x="501385" y="689602"/>
                  </a:lnTo>
                  <a:lnTo>
                    <a:pt x="542268" y="669089"/>
                  </a:lnTo>
                  <a:lnTo>
                    <a:pt x="579921" y="643658"/>
                  </a:lnTo>
                  <a:lnTo>
                    <a:pt x="613921" y="613731"/>
                  </a:lnTo>
                  <a:lnTo>
                    <a:pt x="643848" y="579731"/>
                  </a:lnTo>
                  <a:lnTo>
                    <a:pt x="669279" y="542078"/>
                  </a:lnTo>
                  <a:lnTo>
                    <a:pt x="689793" y="501195"/>
                  </a:lnTo>
                  <a:lnTo>
                    <a:pt x="704967" y="457503"/>
                  </a:lnTo>
                  <a:lnTo>
                    <a:pt x="714381" y="411423"/>
                  </a:lnTo>
                  <a:lnTo>
                    <a:pt x="717293" y="368141"/>
                  </a:lnTo>
                  <a:lnTo>
                    <a:pt x="717389" y="366712"/>
                  </a:lnTo>
                  <a:lnTo>
                    <a:pt x="717434" y="366046"/>
                  </a:lnTo>
                  <a:lnTo>
                    <a:pt x="717530" y="362146"/>
                  </a:lnTo>
                  <a:lnTo>
                    <a:pt x="718089" y="360902"/>
                  </a:lnTo>
                  <a:lnTo>
                    <a:pt x="719042" y="360045"/>
                  </a:lnTo>
                  <a:lnTo>
                    <a:pt x="725709" y="366712"/>
                  </a:lnTo>
                  <a:lnTo>
                    <a:pt x="726914" y="366712"/>
                  </a:lnTo>
                  <a:lnTo>
                    <a:pt x="723906" y="411423"/>
                  </a:lnTo>
                  <a:lnTo>
                    <a:pt x="723819" y="412711"/>
                  </a:lnTo>
                  <a:lnTo>
                    <a:pt x="714151" y="460027"/>
                  </a:lnTo>
                  <a:lnTo>
                    <a:pt x="698566" y="504893"/>
                  </a:lnTo>
                  <a:lnTo>
                    <a:pt x="677499" y="546876"/>
                  </a:lnTo>
                  <a:lnTo>
                    <a:pt x="651382" y="585542"/>
                  </a:lnTo>
                  <a:lnTo>
                    <a:pt x="620648" y="620458"/>
                  </a:lnTo>
                  <a:lnTo>
                    <a:pt x="585732" y="651191"/>
                  </a:lnTo>
                  <a:lnTo>
                    <a:pt x="547066" y="677308"/>
                  </a:lnTo>
                  <a:lnTo>
                    <a:pt x="505083" y="698376"/>
                  </a:lnTo>
                  <a:lnTo>
                    <a:pt x="460217" y="713960"/>
                  </a:lnTo>
                  <a:lnTo>
                    <a:pt x="443272" y="717423"/>
                  </a:lnTo>
                  <a:close/>
                </a:path>
                <a:path w="727075" h="727075">
                  <a:moveTo>
                    <a:pt x="725709" y="366712"/>
                  </a:moveTo>
                  <a:lnTo>
                    <a:pt x="719042" y="360045"/>
                  </a:lnTo>
                  <a:lnTo>
                    <a:pt x="726914" y="360045"/>
                  </a:lnTo>
                  <a:lnTo>
                    <a:pt x="727037" y="364879"/>
                  </a:lnTo>
                  <a:lnTo>
                    <a:pt x="726662" y="365855"/>
                  </a:lnTo>
                  <a:lnTo>
                    <a:pt x="725709" y="366712"/>
                  </a:lnTo>
                  <a:close/>
                </a:path>
                <a:path w="727075" h="727075">
                  <a:moveTo>
                    <a:pt x="0" y="362146"/>
                  </a:moveTo>
                  <a:lnTo>
                    <a:pt x="0" y="360711"/>
                  </a:lnTo>
                  <a:lnTo>
                    <a:pt x="192" y="360518"/>
                  </a:lnTo>
                  <a:lnTo>
                    <a:pt x="166" y="360902"/>
                  </a:lnTo>
                  <a:lnTo>
                    <a:pt x="0" y="362146"/>
                  </a:lnTo>
                  <a:close/>
                </a:path>
                <a:path w="727075" h="727075">
                  <a:moveTo>
                    <a:pt x="9845" y="368141"/>
                  </a:moveTo>
                  <a:lnTo>
                    <a:pt x="7429" y="368141"/>
                  </a:lnTo>
                  <a:lnTo>
                    <a:pt x="9525" y="366046"/>
                  </a:lnTo>
                  <a:lnTo>
                    <a:pt x="9625" y="364879"/>
                  </a:lnTo>
                  <a:lnTo>
                    <a:pt x="9749" y="366712"/>
                  </a:lnTo>
                  <a:lnTo>
                    <a:pt x="9845" y="368141"/>
                  </a:lnTo>
                  <a:close/>
                </a:path>
                <a:path w="727075" h="727075">
                  <a:moveTo>
                    <a:pt x="726914" y="366712"/>
                  </a:moveTo>
                  <a:lnTo>
                    <a:pt x="725709" y="366712"/>
                  </a:lnTo>
                  <a:lnTo>
                    <a:pt x="726662" y="365855"/>
                  </a:lnTo>
                  <a:lnTo>
                    <a:pt x="727037" y="364879"/>
                  </a:lnTo>
                  <a:lnTo>
                    <a:pt x="726914" y="366712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569" y="722185"/>
                  </a:lnTo>
                  <a:lnTo>
                    <a:pt x="419965" y="722185"/>
                  </a:lnTo>
                  <a:lnTo>
                    <a:pt x="412901" y="723629"/>
                  </a:lnTo>
                  <a:lnTo>
                    <a:pt x="363566" y="72694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45065" y="6402417"/>
              <a:ext cx="101391" cy="13612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608060" y="6622215"/>
              <a:ext cx="263525" cy="83820"/>
            </a:xfrm>
            <a:custGeom>
              <a:avLst/>
              <a:gdLst/>
              <a:ahLst/>
              <a:cxnLst/>
              <a:rect l="l" t="t" r="r" b="b"/>
              <a:pathLst>
                <a:path w="263525" h="83820">
                  <a:moveTo>
                    <a:pt x="0" y="82543"/>
                  </a:moveTo>
                  <a:lnTo>
                    <a:pt x="14266" y="45913"/>
                  </a:lnTo>
                  <a:lnTo>
                    <a:pt x="48157" y="17575"/>
                  </a:lnTo>
                  <a:lnTo>
                    <a:pt x="89433" y="3994"/>
                  </a:lnTo>
                  <a:lnTo>
                    <a:pt x="127642" y="0"/>
                  </a:lnTo>
                  <a:lnTo>
                    <a:pt x="137487" y="166"/>
                  </a:lnTo>
                  <a:lnTo>
                    <a:pt x="176622" y="4842"/>
                  </a:lnTo>
                  <a:lnTo>
                    <a:pt x="217298" y="19049"/>
                  </a:lnTo>
                  <a:lnTo>
                    <a:pt x="250394" y="47383"/>
                  </a:lnTo>
                  <a:lnTo>
                    <a:pt x="262396" y="76499"/>
                  </a:lnTo>
                  <a:lnTo>
                    <a:pt x="263225" y="83299"/>
                  </a:lnTo>
                </a:path>
              </a:pathLst>
            </a:custGeom>
            <a:ln w="15577">
              <a:solidFill>
                <a:srgbClr val="CFD0D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56127" y="6437792"/>
              <a:ext cx="166571" cy="16662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607864" y="6704759"/>
              <a:ext cx="264160" cy="53340"/>
            </a:xfrm>
            <a:custGeom>
              <a:avLst/>
              <a:gdLst/>
              <a:ahLst/>
              <a:cxnLst/>
              <a:rect l="l" t="t" r="r" b="b"/>
              <a:pathLst>
                <a:path w="264159" h="53340">
                  <a:moveTo>
                    <a:pt x="0" y="51148"/>
                  </a:moveTo>
                  <a:lnTo>
                    <a:pt x="195" y="0"/>
                  </a:lnTo>
                </a:path>
                <a:path w="264159" h="53340">
                  <a:moveTo>
                    <a:pt x="263421" y="756"/>
                  </a:moveTo>
                  <a:lnTo>
                    <a:pt x="263691" y="53214"/>
                  </a:lnTo>
                </a:path>
              </a:pathLst>
            </a:custGeom>
            <a:ln w="15574">
              <a:solidFill>
                <a:srgbClr val="CFD0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8767019" y="8099269"/>
            <a:ext cx="727075" cy="1485900"/>
            <a:chOff x="8767019" y="8099269"/>
            <a:chExt cx="727075" cy="1485900"/>
          </a:xfrm>
        </p:grpSpPr>
        <p:sp>
          <p:nvSpPr>
            <p:cNvPr id="30" name="object 30" descr=""/>
            <p:cNvSpPr/>
            <p:nvPr/>
          </p:nvSpPr>
          <p:spPr>
            <a:xfrm>
              <a:off x="9010944" y="8260851"/>
              <a:ext cx="239395" cy="1319530"/>
            </a:xfrm>
            <a:custGeom>
              <a:avLst/>
              <a:gdLst/>
              <a:ahLst/>
              <a:cxnLst/>
              <a:rect l="l" t="t" r="r" b="b"/>
              <a:pathLst>
                <a:path w="239395" h="1319529">
                  <a:moveTo>
                    <a:pt x="138684" y="1319498"/>
                  </a:moveTo>
                  <a:lnTo>
                    <a:pt x="100488" y="1319498"/>
                  </a:lnTo>
                  <a:lnTo>
                    <a:pt x="61360" y="1311354"/>
                  </a:lnTo>
                  <a:lnTo>
                    <a:pt x="29420" y="1289137"/>
                  </a:lnTo>
                  <a:lnTo>
                    <a:pt x="7892" y="1256168"/>
                  </a:lnTo>
                  <a:lnTo>
                    <a:pt x="0" y="1215771"/>
                  </a:lnTo>
                  <a:lnTo>
                    <a:pt x="0" y="103727"/>
                  </a:lnTo>
                  <a:lnTo>
                    <a:pt x="7892" y="63369"/>
                  </a:lnTo>
                  <a:lnTo>
                    <a:pt x="29420" y="30396"/>
                  </a:lnTo>
                  <a:lnTo>
                    <a:pt x="61360" y="8157"/>
                  </a:lnTo>
                  <a:lnTo>
                    <a:pt x="100488" y="0"/>
                  </a:lnTo>
                  <a:lnTo>
                    <a:pt x="138684" y="0"/>
                  </a:lnTo>
                  <a:lnTo>
                    <a:pt x="177812" y="8157"/>
                  </a:lnTo>
                  <a:lnTo>
                    <a:pt x="209752" y="30396"/>
                  </a:lnTo>
                  <a:lnTo>
                    <a:pt x="231280" y="63369"/>
                  </a:lnTo>
                  <a:lnTo>
                    <a:pt x="239172" y="103727"/>
                  </a:lnTo>
                  <a:lnTo>
                    <a:pt x="239172" y="1215771"/>
                  </a:lnTo>
                  <a:lnTo>
                    <a:pt x="231254" y="1256168"/>
                  </a:lnTo>
                  <a:lnTo>
                    <a:pt x="209701" y="1289137"/>
                  </a:lnTo>
                  <a:lnTo>
                    <a:pt x="177748" y="1311354"/>
                  </a:lnTo>
                  <a:lnTo>
                    <a:pt x="138684" y="1319498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9006182" y="8256088"/>
              <a:ext cx="248920" cy="1329055"/>
            </a:xfrm>
            <a:custGeom>
              <a:avLst/>
              <a:gdLst/>
              <a:ahLst/>
              <a:cxnLst/>
              <a:rect l="l" t="t" r="r" b="b"/>
              <a:pathLst>
                <a:path w="248920" h="1329054">
                  <a:moveTo>
                    <a:pt x="105251" y="1328931"/>
                  </a:moveTo>
                  <a:lnTo>
                    <a:pt x="64213" y="1320483"/>
                  </a:lnTo>
                  <a:lnTo>
                    <a:pt x="30765" y="1297209"/>
                  </a:lnTo>
                  <a:lnTo>
                    <a:pt x="8248" y="1262720"/>
                  </a:lnTo>
                  <a:lnTo>
                    <a:pt x="0" y="1220533"/>
                  </a:lnTo>
                  <a:lnTo>
                    <a:pt x="0" y="108489"/>
                  </a:lnTo>
                  <a:lnTo>
                    <a:pt x="8248" y="66303"/>
                  </a:lnTo>
                  <a:lnTo>
                    <a:pt x="30765" y="31813"/>
                  </a:lnTo>
                  <a:lnTo>
                    <a:pt x="64213" y="8539"/>
                  </a:lnTo>
                  <a:lnTo>
                    <a:pt x="105251" y="0"/>
                  </a:lnTo>
                  <a:lnTo>
                    <a:pt x="143446" y="0"/>
                  </a:lnTo>
                  <a:lnTo>
                    <a:pt x="143446" y="4762"/>
                  </a:lnTo>
                  <a:lnTo>
                    <a:pt x="105251" y="4762"/>
                  </a:lnTo>
                  <a:lnTo>
                    <a:pt x="105251" y="9525"/>
                  </a:lnTo>
                  <a:lnTo>
                    <a:pt x="68032" y="17286"/>
                  </a:lnTo>
                  <a:lnTo>
                    <a:pt x="37600" y="38469"/>
                  </a:lnTo>
                  <a:lnTo>
                    <a:pt x="17061" y="69921"/>
                  </a:lnTo>
                  <a:lnTo>
                    <a:pt x="9525" y="108489"/>
                  </a:lnTo>
                  <a:lnTo>
                    <a:pt x="9525" y="1220533"/>
                  </a:lnTo>
                  <a:lnTo>
                    <a:pt x="17061" y="1259102"/>
                  </a:lnTo>
                  <a:lnTo>
                    <a:pt x="37600" y="1290554"/>
                  </a:lnTo>
                  <a:lnTo>
                    <a:pt x="68032" y="1311737"/>
                  </a:lnTo>
                  <a:lnTo>
                    <a:pt x="105251" y="1319498"/>
                  </a:lnTo>
                  <a:lnTo>
                    <a:pt x="185900" y="1319498"/>
                  </a:lnTo>
                  <a:lnTo>
                    <a:pt x="184484" y="1320483"/>
                  </a:lnTo>
                  <a:lnTo>
                    <a:pt x="166332" y="1324260"/>
                  </a:lnTo>
                  <a:lnTo>
                    <a:pt x="105251" y="1324260"/>
                  </a:lnTo>
                  <a:lnTo>
                    <a:pt x="105251" y="1328931"/>
                  </a:lnTo>
                  <a:close/>
                </a:path>
                <a:path w="248920" h="1329054">
                  <a:moveTo>
                    <a:pt x="185900" y="1319498"/>
                  </a:moveTo>
                  <a:lnTo>
                    <a:pt x="143446" y="1319498"/>
                  </a:lnTo>
                  <a:lnTo>
                    <a:pt x="180625" y="1311737"/>
                  </a:lnTo>
                  <a:lnTo>
                    <a:pt x="211062" y="1290554"/>
                  </a:lnTo>
                  <a:lnTo>
                    <a:pt x="231622" y="1259102"/>
                  </a:lnTo>
                  <a:lnTo>
                    <a:pt x="239173" y="1220533"/>
                  </a:lnTo>
                  <a:lnTo>
                    <a:pt x="239173" y="108489"/>
                  </a:lnTo>
                  <a:lnTo>
                    <a:pt x="231636" y="69921"/>
                  </a:lnTo>
                  <a:lnTo>
                    <a:pt x="211098" y="38469"/>
                  </a:lnTo>
                  <a:lnTo>
                    <a:pt x="180665" y="17286"/>
                  </a:lnTo>
                  <a:lnTo>
                    <a:pt x="143446" y="9525"/>
                  </a:lnTo>
                  <a:lnTo>
                    <a:pt x="105251" y="9525"/>
                  </a:lnTo>
                  <a:lnTo>
                    <a:pt x="105251" y="4762"/>
                  </a:lnTo>
                  <a:lnTo>
                    <a:pt x="143446" y="4762"/>
                  </a:lnTo>
                  <a:lnTo>
                    <a:pt x="143446" y="0"/>
                  </a:lnTo>
                  <a:lnTo>
                    <a:pt x="184484" y="8539"/>
                  </a:lnTo>
                  <a:lnTo>
                    <a:pt x="217932" y="31813"/>
                  </a:lnTo>
                  <a:lnTo>
                    <a:pt x="240449" y="66303"/>
                  </a:lnTo>
                  <a:lnTo>
                    <a:pt x="248688" y="108489"/>
                  </a:lnTo>
                  <a:lnTo>
                    <a:pt x="248688" y="1220533"/>
                  </a:lnTo>
                  <a:lnTo>
                    <a:pt x="240449" y="1262720"/>
                  </a:lnTo>
                  <a:lnTo>
                    <a:pt x="217932" y="1297209"/>
                  </a:lnTo>
                  <a:lnTo>
                    <a:pt x="185900" y="1319498"/>
                  </a:lnTo>
                  <a:close/>
                </a:path>
                <a:path w="248920" h="1329054">
                  <a:moveTo>
                    <a:pt x="143446" y="1328931"/>
                  </a:moveTo>
                  <a:lnTo>
                    <a:pt x="105270" y="1328931"/>
                  </a:lnTo>
                  <a:lnTo>
                    <a:pt x="105251" y="1324260"/>
                  </a:lnTo>
                  <a:lnTo>
                    <a:pt x="143446" y="1324260"/>
                  </a:lnTo>
                  <a:lnTo>
                    <a:pt x="143446" y="1328931"/>
                  </a:lnTo>
                  <a:close/>
                </a:path>
                <a:path w="248920" h="1329054">
                  <a:moveTo>
                    <a:pt x="143887" y="1328931"/>
                  </a:moveTo>
                  <a:lnTo>
                    <a:pt x="143446" y="1328931"/>
                  </a:lnTo>
                  <a:lnTo>
                    <a:pt x="143446" y="1324260"/>
                  </a:lnTo>
                  <a:lnTo>
                    <a:pt x="166332" y="1324260"/>
                  </a:lnTo>
                  <a:lnTo>
                    <a:pt x="143887" y="1328931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771782" y="8103841"/>
              <a:ext cx="718185" cy="718185"/>
            </a:xfrm>
            <a:custGeom>
              <a:avLst/>
              <a:gdLst/>
              <a:ahLst/>
              <a:cxnLst/>
              <a:rect l="l" t="t" r="r" b="b"/>
              <a:pathLst>
                <a:path w="718184" h="718184">
                  <a:moveTo>
                    <a:pt x="358806" y="717613"/>
                  </a:moveTo>
                  <a:lnTo>
                    <a:pt x="310108" y="714339"/>
                  </a:lnTo>
                  <a:lnTo>
                    <a:pt x="263403" y="704800"/>
                  </a:lnTo>
                  <a:lnTo>
                    <a:pt x="219121" y="689423"/>
                  </a:lnTo>
                  <a:lnTo>
                    <a:pt x="177687" y="668637"/>
                  </a:lnTo>
                  <a:lnTo>
                    <a:pt x="139528" y="642867"/>
                  </a:lnTo>
                  <a:lnTo>
                    <a:pt x="105072" y="612540"/>
                  </a:lnTo>
                  <a:lnTo>
                    <a:pt x="74746" y="578084"/>
                  </a:lnTo>
                  <a:lnTo>
                    <a:pt x="48976" y="539926"/>
                  </a:lnTo>
                  <a:lnTo>
                    <a:pt x="28189" y="498492"/>
                  </a:lnTo>
                  <a:lnTo>
                    <a:pt x="12813" y="454209"/>
                  </a:lnTo>
                  <a:lnTo>
                    <a:pt x="3274" y="407505"/>
                  </a:lnTo>
                  <a:lnTo>
                    <a:pt x="0" y="358806"/>
                  </a:lnTo>
                  <a:lnTo>
                    <a:pt x="3276" y="310128"/>
                  </a:lnTo>
                  <a:lnTo>
                    <a:pt x="12819" y="263436"/>
                  </a:lnTo>
                  <a:lnTo>
                    <a:pt x="28202" y="219161"/>
                  </a:lnTo>
                  <a:lnTo>
                    <a:pt x="48997" y="177729"/>
                  </a:lnTo>
                  <a:lnTo>
                    <a:pt x="74775" y="139569"/>
                  </a:lnTo>
                  <a:lnTo>
                    <a:pt x="105108" y="105108"/>
                  </a:lnTo>
                  <a:lnTo>
                    <a:pt x="139569" y="74775"/>
                  </a:lnTo>
                  <a:lnTo>
                    <a:pt x="177729" y="48997"/>
                  </a:lnTo>
                  <a:lnTo>
                    <a:pt x="219161" y="28202"/>
                  </a:lnTo>
                  <a:lnTo>
                    <a:pt x="263436" y="12819"/>
                  </a:lnTo>
                  <a:lnTo>
                    <a:pt x="310128" y="3276"/>
                  </a:lnTo>
                  <a:lnTo>
                    <a:pt x="358806" y="0"/>
                  </a:lnTo>
                  <a:lnTo>
                    <a:pt x="407485" y="3276"/>
                  </a:lnTo>
                  <a:lnTo>
                    <a:pt x="454176" y="12819"/>
                  </a:lnTo>
                  <a:lnTo>
                    <a:pt x="498452" y="28202"/>
                  </a:lnTo>
                  <a:lnTo>
                    <a:pt x="539884" y="48997"/>
                  </a:lnTo>
                  <a:lnTo>
                    <a:pt x="578044" y="74775"/>
                  </a:lnTo>
                  <a:lnTo>
                    <a:pt x="612505" y="105108"/>
                  </a:lnTo>
                  <a:lnTo>
                    <a:pt x="642838" y="139569"/>
                  </a:lnTo>
                  <a:lnTo>
                    <a:pt x="668616" y="177729"/>
                  </a:lnTo>
                  <a:lnTo>
                    <a:pt x="689410" y="219161"/>
                  </a:lnTo>
                  <a:lnTo>
                    <a:pt x="704793" y="263436"/>
                  </a:lnTo>
                  <a:lnTo>
                    <a:pt x="714337" y="310128"/>
                  </a:lnTo>
                  <a:lnTo>
                    <a:pt x="717613" y="358806"/>
                  </a:lnTo>
                  <a:lnTo>
                    <a:pt x="714334" y="407505"/>
                  </a:lnTo>
                  <a:lnTo>
                    <a:pt x="704788" y="454209"/>
                  </a:lnTo>
                  <a:lnTo>
                    <a:pt x="689403" y="498492"/>
                  </a:lnTo>
                  <a:lnTo>
                    <a:pt x="668608" y="539926"/>
                  </a:lnTo>
                  <a:lnTo>
                    <a:pt x="642831" y="578084"/>
                  </a:lnTo>
                  <a:lnTo>
                    <a:pt x="612500" y="612540"/>
                  </a:lnTo>
                  <a:lnTo>
                    <a:pt x="578042" y="642867"/>
                  </a:lnTo>
                  <a:lnTo>
                    <a:pt x="539884" y="668637"/>
                  </a:lnTo>
                  <a:lnTo>
                    <a:pt x="498453" y="689423"/>
                  </a:lnTo>
                  <a:lnTo>
                    <a:pt x="454177" y="704800"/>
                  </a:lnTo>
                  <a:lnTo>
                    <a:pt x="407478" y="714339"/>
                  </a:lnTo>
                  <a:lnTo>
                    <a:pt x="358806" y="717613"/>
                  </a:lnTo>
                  <a:close/>
                </a:path>
              </a:pathLst>
            </a:custGeom>
            <a:solidFill>
              <a:srgbClr val="1725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767019" y="8099269"/>
              <a:ext cx="727075" cy="727075"/>
            </a:xfrm>
            <a:custGeom>
              <a:avLst/>
              <a:gdLst/>
              <a:ahLst/>
              <a:cxnLst/>
              <a:rect l="l" t="t" r="r" b="b"/>
              <a:pathLst>
                <a:path w="727075" h="727075">
                  <a:moveTo>
                    <a:pt x="192" y="360519"/>
                  </a:moveTo>
                  <a:lnTo>
                    <a:pt x="3232" y="315334"/>
                  </a:lnTo>
                  <a:lnTo>
                    <a:pt x="12987" y="266730"/>
                  </a:lnTo>
                  <a:lnTo>
                    <a:pt x="28572" y="221864"/>
                  </a:lnTo>
                  <a:lnTo>
                    <a:pt x="49639" y="179881"/>
                  </a:lnTo>
                  <a:lnTo>
                    <a:pt x="75756" y="141215"/>
                  </a:lnTo>
                  <a:lnTo>
                    <a:pt x="106489" y="106299"/>
                  </a:lnTo>
                  <a:lnTo>
                    <a:pt x="141405" y="75565"/>
                  </a:lnTo>
                  <a:lnTo>
                    <a:pt x="180072" y="49448"/>
                  </a:lnTo>
                  <a:lnTo>
                    <a:pt x="222054" y="28381"/>
                  </a:lnTo>
                  <a:lnTo>
                    <a:pt x="266920" y="12797"/>
                  </a:lnTo>
                  <a:lnTo>
                    <a:pt x="314236" y="3128"/>
                  </a:lnTo>
                  <a:lnTo>
                    <a:pt x="360737" y="0"/>
                  </a:lnTo>
                  <a:lnTo>
                    <a:pt x="363569" y="0"/>
                  </a:lnTo>
                  <a:lnTo>
                    <a:pt x="363569" y="4572"/>
                  </a:lnTo>
                  <a:lnTo>
                    <a:pt x="362080" y="9334"/>
                  </a:lnTo>
                  <a:lnTo>
                    <a:pt x="363569" y="9334"/>
                  </a:lnTo>
                  <a:lnTo>
                    <a:pt x="315524" y="12566"/>
                  </a:lnTo>
                  <a:lnTo>
                    <a:pt x="269445" y="21980"/>
                  </a:lnTo>
                  <a:lnTo>
                    <a:pt x="225752" y="37154"/>
                  </a:lnTo>
                  <a:lnTo>
                    <a:pt x="184869" y="57668"/>
                  </a:lnTo>
                  <a:lnTo>
                    <a:pt x="147217" y="83099"/>
                  </a:lnTo>
                  <a:lnTo>
                    <a:pt x="113216" y="113026"/>
                  </a:lnTo>
                  <a:lnTo>
                    <a:pt x="83290" y="147026"/>
                  </a:lnTo>
                  <a:lnTo>
                    <a:pt x="57859" y="184679"/>
                  </a:lnTo>
                  <a:lnTo>
                    <a:pt x="37345" y="225562"/>
                  </a:lnTo>
                  <a:lnTo>
                    <a:pt x="22170" y="269254"/>
                  </a:lnTo>
                  <a:lnTo>
                    <a:pt x="12756" y="315334"/>
                  </a:lnTo>
                  <a:lnTo>
                    <a:pt x="9845" y="358616"/>
                  </a:lnTo>
                  <a:lnTo>
                    <a:pt x="2095" y="358616"/>
                  </a:lnTo>
                  <a:lnTo>
                    <a:pt x="192" y="360519"/>
                  </a:lnTo>
                  <a:close/>
                </a:path>
                <a:path w="727075" h="727075">
                  <a:moveTo>
                    <a:pt x="363569" y="4572"/>
                  </a:moveTo>
                  <a:lnTo>
                    <a:pt x="363569" y="0"/>
                  </a:lnTo>
                  <a:lnTo>
                    <a:pt x="364998" y="0"/>
                  </a:lnTo>
                  <a:lnTo>
                    <a:pt x="363569" y="4572"/>
                  </a:lnTo>
                  <a:close/>
                </a:path>
                <a:path w="727075" h="727075">
                  <a:moveTo>
                    <a:pt x="717530" y="362146"/>
                  </a:moveTo>
                  <a:lnTo>
                    <a:pt x="714381" y="315334"/>
                  </a:lnTo>
                  <a:lnTo>
                    <a:pt x="704967" y="269254"/>
                  </a:lnTo>
                  <a:lnTo>
                    <a:pt x="689793" y="225562"/>
                  </a:lnTo>
                  <a:lnTo>
                    <a:pt x="669279" y="184679"/>
                  </a:lnTo>
                  <a:lnTo>
                    <a:pt x="643848" y="147026"/>
                  </a:lnTo>
                  <a:lnTo>
                    <a:pt x="613922" y="113026"/>
                  </a:lnTo>
                  <a:lnTo>
                    <a:pt x="579921" y="83099"/>
                  </a:lnTo>
                  <a:lnTo>
                    <a:pt x="542268" y="57668"/>
                  </a:lnTo>
                  <a:lnTo>
                    <a:pt x="501385" y="37154"/>
                  </a:lnTo>
                  <a:lnTo>
                    <a:pt x="457693" y="21980"/>
                  </a:lnTo>
                  <a:lnTo>
                    <a:pt x="411614" y="12566"/>
                  </a:lnTo>
                  <a:lnTo>
                    <a:pt x="363569" y="9334"/>
                  </a:lnTo>
                  <a:lnTo>
                    <a:pt x="363569" y="4572"/>
                  </a:lnTo>
                  <a:lnTo>
                    <a:pt x="364998" y="0"/>
                  </a:lnTo>
                  <a:lnTo>
                    <a:pt x="366400" y="0"/>
                  </a:lnTo>
                  <a:lnTo>
                    <a:pt x="412902" y="3128"/>
                  </a:lnTo>
                  <a:lnTo>
                    <a:pt x="460218" y="12797"/>
                  </a:lnTo>
                  <a:lnTo>
                    <a:pt x="505084" y="28381"/>
                  </a:lnTo>
                  <a:lnTo>
                    <a:pt x="547066" y="49448"/>
                  </a:lnTo>
                  <a:lnTo>
                    <a:pt x="585732" y="75565"/>
                  </a:lnTo>
                  <a:lnTo>
                    <a:pt x="620649" y="106299"/>
                  </a:lnTo>
                  <a:lnTo>
                    <a:pt x="651382" y="141215"/>
                  </a:lnTo>
                  <a:lnTo>
                    <a:pt x="677499" y="179881"/>
                  </a:lnTo>
                  <a:lnTo>
                    <a:pt x="698566" y="221864"/>
                  </a:lnTo>
                  <a:lnTo>
                    <a:pt x="714151" y="266730"/>
                  </a:lnTo>
                  <a:lnTo>
                    <a:pt x="723819" y="314046"/>
                  </a:lnTo>
                  <a:lnTo>
                    <a:pt x="726818" y="358616"/>
                  </a:lnTo>
                  <a:lnTo>
                    <a:pt x="726914" y="360045"/>
                  </a:lnTo>
                  <a:lnTo>
                    <a:pt x="719042" y="360045"/>
                  </a:lnTo>
                  <a:lnTo>
                    <a:pt x="718089" y="360902"/>
                  </a:lnTo>
                  <a:lnTo>
                    <a:pt x="717530" y="362146"/>
                  </a:lnTo>
                  <a:close/>
                </a:path>
                <a:path w="727075" h="727075">
                  <a:moveTo>
                    <a:pt x="363569" y="9334"/>
                  </a:moveTo>
                  <a:lnTo>
                    <a:pt x="362080" y="9334"/>
                  </a:lnTo>
                  <a:lnTo>
                    <a:pt x="363569" y="4572"/>
                  </a:lnTo>
                  <a:lnTo>
                    <a:pt x="363569" y="9334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013" y="726948"/>
                  </a:lnTo>
                  <a:lnTo>
                    <a:pt x="314236" y="723628"/>
                  </a:lnTo>
                  <a:lnTo>
                    <a:pt x="266920" y="713960"/>
                  </a:lnTo>
                  <a:lnTo>
                    <a:pt x="222054" y="698376"/>
                  </a:lnTo>
                  <a:lnTo>
                    <a:pt x="180072" y="677308"/>
                  </a:lnTo>
                  <a:lnTo>
                    <a:pt x="141405" y="651191"/>
                  </a:lnTo>
                  <a:lnTo>
                    <a:pt x="106489" y="620458"/>
                  </a:lnTo>
                  <a:lnTo>
                    <a:pt x="75756" y="585542"/>
                  </a:lnTo>
                  <a:lnTo>
                    <a:pt x="49639" y="546876"/>
                  </a:lnTo>
                  <a:lnTo>
                    <a:pt x="28572" y="504893"/>
                  </a:lnTo>
                  <a:lnTo>
                    <a:pt x="12987" y="460027"/>
                  </a:lnTo>
                  <a:lnTo>
                    <a:pt x="3319" y="412711"/>
                  </a:lnTo>
                  <a:lnTo>
                    <a:pt x="320" y="368141"/>
                  </a:lnTo>
                  <a:lnTo>
                    <a:pt x="224" y="366712"/>
                  </a:lnTo>
                  <a:lnTo>
                    <a:pt x="192" y="360519"/>
                  </a:lnTo>
                  <a:lnTo>
                    <a:pt x="2095" y="358616"/>
                  </a:lnTo>
                  <a:lnTo>
                    <a:pt x="4762" y="358616"/>
                  </a:lnTo>
                  <a:lnTo>
                    <a:pt x="4762" y="368141"/>
                  </a:lnTo>
                  <a:lnTo>
                    <a:pt x="9845" y="368141"/>
                  </a:lnTo>
                  <a:lnTo>
                    <a:pt x="12756" y="411423"/>
                  </a:lnTo>
                  <a:lnTo>
                    <a:pt x="22170" y="457503"/>
                  </a:lnTo>
                  <a:lnTo>
                    <a:pt x="37345" y="501195"/>
                  </a:lnTo>
                  <a:lnTo>
                    <a:pt x="57859" y="542078"/>
                  </a:lnTo>
                  <a:lnTo>
                    <a:pt x="83290" y="579731"/>
                  </a:lnTo>
                  <a:lnTo>
                    <a:pt x="113216" y="613731"/>
                  </a:lnTo>
                  <a:lnTo>
                    <a:pt x="147217" y="643658"/>
                  </a:lnTo>
                  <a:lnTo>
                    <a:pt x="184869" y="669088"/>
                  </a:lnTo>
                  <a:lnTo>
                    <a:pt x="225752" y="689602"/>
                  </a:lnTo>
                  <a:lnTo>
                    <a:pt x="269445" y="704777"/>
                  </a:lnTo>
                  <a:lnTo>
                    <a:pt x="315524" y="714191"/>
                  </a:lnTo>
                  <a:lnTo>
                    <a:pt x="363569" y="717423"/>
                  </a:lnTo>
                  <a:lnTo>
                    <a:pt x="443273" y="717423"/>
                  </a:lnTo>
                  <a:lnTo>
                    <a:pt x="419966" y="722185"/>
                  </a:lnTo>
                  <a:lnTo>
                    <a:pt x="363569" y="722185"/>
                  </a:lnTo>
                  <a:lnTo>
                    <a:pt x="363566" y="726948"/>
                  </a:lnTo>
                  <a:close/>
                </a:path>
                <a:path w="727075" h="727075">
                  <a:moveTo>
                    <a:pt x="7429" y="368141"/>
                  </a:moveTo>
                  <a:lnTo>
                    <a:pt x="4762" y="368141"/>
                  </a:lnTo>
                  <a:lnTo>
                    <a:pt x="4762" y="358616"/>
                  </a:lnTo>
                  <a:lnTo>
                    <a:pt x="9845" y="358616"/>
                  </a:lnTo>
                  <a:lnTo>
                    <a:pt x="9749" y="360045"/>
                  </a:lnTo>
                  <a:lnTo>
                    <a:pt x="9691" y="360902"/>
                  </a:lnTo>
                  <a:lnTo>
                    <a:pt x="9607" y="362146"/>
                  </a:lnTo>
                  <a:lnTo>
                    <a:pt x="9525" y="366045"/>
                  </a:lnTo>
                  <a:lnTo>
                    <a:pt x="7429" y="368141"/>
                  </a:lnTo>
                  <a:close/>
                </a:path>
                <a:path w="727075" h="727075">
                  <a:moveTo>
                    <a:pt x="443273" y="717423"/>
                  </a:moveTo>
                  <a:lnTo>
                    <a:pt x="363569" y="717423"/>
                  </a:lnTo>
                  <a:lnTo>
                    <a:pt x="411614" y="714191"/>
                  </a:lnTo>
                  <a:lnTo>
                    <a:pt x="457693" y="704777"/>
                  </a:lnTo>
                  <a:lnTo>
                    <a:pt x="501385" y="689602"/>
                  </a:lnTo>
                  <a:lnTo>
                    <a:pt x="542268" y="669088"/>
                  </a:lnTo>
                  <a:lnTo>
                    <a:pt x="579921" y="643658"/>
                  </a:lnTo>
                  <a:lnTo>
                    <a:pt x="613922" y="613731"/>
                  </a:lnTo>
                  <a:lnTo>
                    <a:pt x="643848" y="579731"/>
                  </a:lnTo>
                  <a:lnTo>
                    <a:pt x="669279" y="542078"/>
                  </a:lnTo>
                  <a:lnTo>
                    <a:pt x="689793" y="501195"/>
                  </a:lnTo>
                  <a:lnTo>
                    <a:pt x="704967" y="457503"/>
                  </a:lnTo>
                  <a:lnTo>
                    <a:pt x="714381" y="411423"/>
                  </a:lnTo>
                  <a:lnTo>
                    <a:pt x="717293" y="368141"/>
                  </a:lnTo>
                  <a:lnTo>
                    <a:pt x="717389" y="366712"/>
                  </a:lnTo>
                  <a:lnTo>
                    <a:pt x="717434" y="366045"/>
                  </a:lnTo>
                  <a:lnTo>
                    <a:pt x="717530" y="362146"/>
                  </a:lnTo>
                  <a:lnTo>
                    <a:pt x="718089" y="360902"/>
                  </a:lnTo>
                  <a:lnTo>
                    <a:pt x="719042" y="360045"/>
                  </a:lnTo>
                  <a:lnTo>
                    <a:pt x="725709" y="366712"/>
                  </a:lnTo>
                  <a:lnTo>
                    <a:pt x="726914" y="366712"/>
                  </a:lnTo>
                  <a:lnTo>
                    <a:pt x="723906" y="411423"/>
                  </a:lnTo>
                  <a:lnTo>
                    <a:pt x="723819" y="412711"/>
                  </a:lnTo>
                  <a:lnTo>
                    <a:pt x="714151" y="460027"/>
                  </a:lnTo>
                  <a:lnTo>
                    <a:pt x="698566" y="504893"/>
                  </a:lnTo>
                  <a:lnTo>
                    <a:pt x="677499" y="546876"/>
                  </a:lnTo>
                  <a:lnTo>
                    <a:pt x="651382" y="585542"/>
                  </a:lnTo>
                  <a:lnTo>
                    <a:pt x="620649" y="620458"/>
                  </a:lnTo>
                  <a:lnTo>
                    <a:pt x="585732" y="651191"/>
                  </a:lnTo>
                  <a:lnTo>
                    <a:pt x="547066" y="677308"/>
                  </a:lnTo>
                  <a:lnTo>
                    <a:pt x="505084" y="698376"/>
                  </a:lnTo>
                  <a:lnTo>
                    <a:pt x="460218" y="713960"/>
                  </a:lnTo>
                  <a:lnTo>
                    <a:pt x="443273" y="717423"/>
                  </a:lnTo>
                  <a:close/>
                </a:path>
                <a:path w="727075" h="727075">
                  <a:moveTo>
                    <a:pt x="725709" y="366712"/>
                  </a:moveTo>
                  <a:lnTo>
                    <a:pt x="719042" y="360045"/>
                  </a:lnTo>
                  <a:lnTo>
                    <a:pt x="726914" y="360045"/>
                  </a:lnTo>
                  <a:lnTo>
                    <a:pt x="727037" y="364879"/>
                  </a:lnTo>
                  <a:lnTo>
                    <a:pt x="726662" y="365855"/>
                  </a:lnTo>
                  <a:lnTo>
                    <a:pt x="725709" y="366712"/>
                  </a:lnTo>
                  <a:close/>
                </a:path>
                <a:path w="727075" h="727075">
                  <a:moveTo>
                    <a:pt x="0" y="362146"/>
                  </a:moveTo>
                  <a:lnTo>
                    <a:pt x="0" y="360711"/>
                  </a:lnTo>
                  <a:lnTo>
                    <a:pt x="192" y="360519"/>
                  </a:lnTo>
                  <a:lnTo>
                    <a:pt x="166" y="360902"/>
                  </a:lnTo>
                  <a:lnTo>
                    <a:pt x="0" y="362146"/>
                  </a:lnTo>
                  <a:close/>
                </a:path>
                <a:path w="727075" h="727075">
                  <a:moveTo>
                    <a:pt x="9845" y="368141"/>
                  </a:moveTo>
                  <a:lnTo>
                    <a:pt x="7429" y="368141"/>
                  </a:lnTo>
                  <a:lnTo>
                    <a:pt x="9525" y="366045"/>
                  </a:lnTo>
                  <a:lnTo>
                    <a:pt x="9625" y="364879"/>
                  </a:lnTo>
                  <a:lnTo>
                    <a:pt x="9749" y="366712"/>
                  </a:lnTo>
                  <a:lnTo>
                    <a:pt x="9845" y="368141"/>
                  </a:lnTo>
                  <a:close/>
                </a:path>
                <a:path w="727075" h="727075">
                  <a:moveTo>
                    <a:pt x="726914" y="366712"/>
                  </a:moveTo>
                  <a:lnTo>
                    <a:pt x="725709" y="366712"/>
                  </a:lnTo>
                  <a:lnTo>
                    <a:pt x="726662" y="365855"/>
                  </a:lnTo>
                  <a:lnTo>
                    <a:pt x="727037" y="364879"/>
                  </a:lnTo>
                  <a:lnTo>
                    <a:pt x="726914" y="366712"/>
                  </a:lnTo>
                  <a:close/>
                </a:path>
                <a:path w="727075" h="727075">
                  <a:moveTo>
                    <a:pt x="363566" y="726948"/>
                  </a:moveTo>
                  <a:lnTo>
                    <a:pt x="363569" y="722185"/>
                  </a:lnTo>
                  <a:lnTo>
                    <a:pt x="419966" y="722185"/>
                  </a:lnTo>
                  <a:lnTo>
                    <a:pt x="412902" y="723628"/>
                  </a:lnTo>
                  <a:lnTo>
                    <a:pt x="363566" y="726948"/>
                  </a:lnTo>
                  <a:close/>
                </a:path>
              </a:pathLst>
            </a:custGeom>
            <a:solidFill>
              <a:srgbClr val="313D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42401" y="8292883"/>
              <a:ext cx="379381" cy="24367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995768" y="8589962"/>
              <a:ext cx="273685" cy="37465"/>
            </a:xfrm>
            <a:custGeom>
              <a:avLst/>
              <a:gdLst/>
              <a:ahLst/>
              <a:cxnLst/>
              <a:rect l="l" t="t" r="r" b="b"/>
              <a:pathLst>
                <a:path w="273684" h="37465">
                  <a:moveTo>
                    <a:pt x="273414" y="0"/>
                  </a:moveTo>
                  <a:lnTo>
                    <a:pt x="236" y="185"/>
                  </a:lnTo>
                </a:path>
                <a:path w="273684" h="37465">
                  <a:moveTo>
                    <a:pt x="273664" y="36937"/>
                  </a:moveTo>
                  <a:lnTo>
                    <a:pt x="273414" y="0"/>
                  </a:lnTo>
                </a:path>
                <a:path w="273684" h="37465">
                  <a:moveTo>
                    <a:pt x="273664" y="36937"/>
                  </a:moveTo>
                  <a:lnTo>
                    <a:pt x="0" y="36950"/>
                  </a:lnTo>
                </a:path>
                <a:path w="273684" h="37465">
                  <a:moveTo>
                    <a:pt x="236" y="185"/>
                  </a:moveTo>
                  <a:lnTo>
                    <a:pt x="0" y="36950"/>
                  </a:lnTo>
                </a:path>
              </a:pathLst>
            </a:custGeom>
            <a:ln w="17432">
              <a:solidFill>
                <a:srgbClr val="CFD0D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2720" rIns="0" bIns="0" rtlCol="0" vert="horz">
            <a:spAutoFit/>
          </a:bodyPr>
          <a:lstStyle/>
          <a:p>
            <a:pPr algn="r" marR="4717415">
              <a:lnSpc>
                <a:spcPct val="100000"/>
              </a:lnSpc>
              <a:spcBef>
                <a:spcPts val="1360"/>
              </a:spcBef>
            </a:pPr>
            <a:r>
              <a:rPr dirty="0"/>
              <a:t>Deep</a:t>
            </a:r>
            <a:r>
              <a:rPr dirty="0" spc="-75"/>
              <a:t> </a:t>
            </a:r>
            <a:r>
              <a:rPr dirty="0" spc="-10"/>
              <a:t>Learning</a:t>
            </a:r>
            <a:r>
              <a:rPr dirty="0" spc="-75"/>
              <a:t> </a:t>
            </a:r>
            <a:r>
              <a:rPr dirty="0" spc="-10"/>
              <a:t>Advancements</a:t>
            </a:r>
          </a:p>
          <a:p>
            <a:pPr marL="12700" marR="550545">
              <a:lnSpc>
                <a:spcPct val="121600"/>
              </a:lnSpc>
              <a:spcBef>
                <a:spcPts val="565"/>
              </a:spcBef>
            </a:pPr>
            <a:r>
              <a:rPr dirty="0" sz="1850"/>
              <a:t>Neural</a:t>
            </a:r>
            <a:r>
              <a:rPr dirty="0" sz="1850" spc="15"/>
              <a:t> </a:t>
            </a:r>
            <a:r>
              <a:rPr dirty="0" sz="1850"/>
              <a:t>networks</a:t>
            </a:r>
            <a:r>
              <a:rPr dirty="0" sz="1850" spc="15"/>
              <a:t> </a:t>
            </a:r>
            <a:r>
              <a:rPr dirty="0" sz="1850"/>
              <a:t>and</a:t>
            </a:r>
            <a:r>
              <a:rPr dirty="0" sz="1850" spc="15"/>
              <a:t> </a:t>
            </a:r>
            <a:r>
              <a:rPr dirty="0" sz="1850"/>
              <a:t>autoencoders</a:t>
            </a:r>
            <a:r>
              <a:rPr dirty="0" sz="1850" spc="20"/>
              <a:t> </a:t>
            </a:r>
            <a:r>
              <a:rPr dirty="0" sz="1850"/>
              <a:t>for</a:t>
            </a:r>
            <a:r>
              <a:rPr dirty="0" sz="1850" spc="15"/>
              <a:t> </a:t>
            </a:r>
            <a:r>
              <a:rPr dirty="0" sz="1850"/>
              <a:t>detecting</a:t>
            </a:r>
            <a:r>
              <a:rPr dirty="0" sz="1850" spc="15"/>
              <a:t> </a:t>
            </a:r>
            <a:r>
              <a:rPr dirty="0" sz="1850"/>
              <a:t>complex,</a:t>
            </a:r>
            <a:r>
              <a:rPr dirty="0" sz="1850" spc="15"/>
              <a:t> </a:t>
            </a:r>
            <a:r>
              <a:rPr dirty="0" sz="1850" spc="-25"/>
              <a:t>multi-</a:t>
            </a:r>
            <a:r>
              <a:rPr dirty="0" sz="1850" spc="-10"/>
              <a:t>dimensional </a:t>
            </a:r>
            <a:r>
              <a:rPr dirty="0" sz="1850"/>
              <a:t>anomaly </a:t>
            </a:r>
            <a:r>
              <a:rPr dirty="0" sz="1850" spc="-10"/>
              <a:t>patterns</a:t>
            </a:r>
            <a:endParaRPr sz="1850"/>
          </a:p>
          <a:p>
            <a:pPr>
              <a:lnSpc>
                <a:spcPct val="100000"/>
              </a:lnSpc>
            </a:pPr>
            <a:endParaRPr sz="1850"/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850"/>
          </a:p>
          <a:p>
            <a:pPr marL="371475">
              <a:lnSpc>
                <a:spcPct val="100000"/>
              </a:lnSpc>
            </a:pPr>
            <a:r>
              <a:rPr dirty="0" spc="-100"/>
              <a:t>Real-</a:t>
            </a:r>
            <a:r>
              <a:rPr dirty="0"/>
              <a:t>Time</a:t>
            </a:r>
            <a:r>
              <a:rPr dirty="0" spc="25"/>
              <a:t> </a:t>
            </a:r>
            <a:r>
              <a:rPr dirty="0" spc="-10"/>
              <a:t>Detection</a:t>
            </a:r>
          </a:p>
          <a:p>
            <a:pPr marL="371475">
              <a:lnSpc>
                <a:spcPct val="100000"/>
              </a:lnSpc>
              <a:spcBef>
                <a:spcPts val="1045"/>
              </a:spcBef>
            </a:pPr>
            <a:r>
              <a:rPr dirty="0" sz="1850"/>
              <a:t>Streaming</a:t>
            </a:r>
            <a:r>
              <a:rPr dirty="0" sz="1850" spc="-30"/>
              <a:t> </a:t>
            </a:r>
            <a:r>
              <a:rPr dirty="0" sz="1850"/>
              <a:t>algorithms</a:t>
            </a:r>
            <a:r>
              <a:rPr dirty="0" sz="1850" spc="-30"/>
              <a:t> </a:t>
            </a:r>
            <a:r>
              <a:rPr dirty="0" sz="1850"/>
              <a:t>that</a:t>
            </a:r>
            <a:r>
              <a:rPr dirty="0" sz="1850" spc="-30"/>
              <a:t> </a:t>
            </a:r>
            <a:r>
              <a:rPr dirty="0" sz="1850"/>
              <a:t>identify</a:t>
            </a:r>
            <a:r>
              <a:rPr dirty="0" sz="1850" spc="-25"/>
              <a:t> </a:t>
            </a:r>
            <a:r>
              <a:rPr dirty="0" sz="1850"/>
              <a:t>outliers</a:t>
            </a:r>
            <a:r>
              <a:rPr dirty="0" sz="1850" spc="-30"/>
              <a:t> </a:t>
            </a:r>
            <a:r>
              <a:rPr dirty="0" sz="1850" spc="-10"/>
              <a:t>instantly</a:t>
            </a:r>
            <a:r>
              <a:rPr dirty="0" sz="1850" spc="-30"/>
              <a:t> </a:t>
            </a:r>
            <a:r>
              <a:rPr dirty="0" sz="1850"/>
              <a:t>as</a:t>
            </a:r>
            <a:r>
              <a:rPr dirty="0" sz="1850" spc="-30"/>
              <a:t> </a:t>
            </a:r>
            <a:r>
              <a:rPr dirty="0" sz="1850"/>
              <a:t>data</a:t>
            </a:r>
            <a:r>
              <a:rPr dirty="0" sz="1850" spc="-25"/>
              <a:t> </a:t>
            </a:r>
            <a:r>
              <a:rPr dirty="0" sz="1850"/>
              <a:t>arrives</a:t>
            </a:r>
            <a:r>
              <a:rPr dirty="0" sz="1850" spc="-30"/>
              <a:t> </a:t>
            </a:r>
            <a:r>
              <a:rPr dirty="0" sz="1850"/>
              <a:t>in</a:t>
            </a:r>
            <a:r>
              <a:rPr dirty="0" sz="1850" spc="-30"/>
              <a:t> </a:t>
            </a:r>
            <a:r>
              <a:rPr dirty="0" sz="1850" spc="-40"/>
              <a:t>real-</a:t>
            </a:r>
            <a:r>
              <a:rPr dirty="0" sz="1850" spc="-20"/>
              <a:t>time</a:t>
            </a:r>
            <a:endParaRPr sz="1850"/>
          </a:p>
          <a:p>
            <a:pPr>
              <a:lnSpc>
                <a:spcPct val="100000"/>
              </a:lnSpc>
            </a:pPr>
            <a:endParaRPr sz="1850"/>
          </a:p>
          <a:p>
            <a:pPr>
              <a:lnSpc>
                <a:spcPct val="100000"/>
              </a:lnSpc>
            </a:pPr>
            <a:endParaRPr sz="1850"/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850"/>
          </a:p>
          <a:p>
            <a:pPr algn="r" marR="4657725">
              <a:lnSpc>
                <a:spcPct val="100000"/>
              </a:lnSpc>
            </a:pPr>
            <a:r>
              <a:rPr dirty="0"/>
              <a:t>Enhanced</a:t>
            </a:r>
            <a:r>
              <a:rPr dirty="0" spc="-120"/>
              <a:t> </a:t>
            </a:r>
            <a:r>
              <a:rPr dirty="0" spc="-10"/>
              <a:t>Interpretability</a:t>
            </a:r>
          </a:p>
          <a:p>
            <a:pPr marL="730250" marR="224154">
              <a:lnSpc>
                <a:spcPct val="121600"/>
              </a:lnSpc>
              <a:spcBef>
                <a:spcPts val="565"/>
              </a:spcBef>
            </a:pPr>
            <a:r>
              <a:rPr dirty="0" sz="1850" spc="-10"/>
              <a:t>Understanding</a:t>
            </a:r>
            <a:r>
              <a:rPr dirty="0" sz="1850" spc="-25"/>
              <a:t> </a:t>
            </a:r>
            <a:r>
              <a:rPr dirty="0" sz="1850" spc="-10" i="1">
                <a:latin typeface="Roboto"/>
                <a:cs typeface="Roboto"/>
              </a:rPr>
              <a:t>why</a:t>
            </a:r>
            <a:r>
              <a:rPr dirty="0" sz="1850" spc="-20" i="1">
                <a:latin typeface="Roboto"/>
                <a:cs typeface="Roboto"/>
              </a:rPr>
              <a:t> </a:t>
            </a:r>
            <a:r>
              <a:rPr dirty="0" sz="1850"/>
              <a:t>a</a:t>
            </a:r>
            <a:r>
              <a:rPr dirty="0" sz="1850" spc="-20"/>
              <a:t> </a:t>
            </a:r>
            <a:r>
              <a:rPr dirty="0" sz="1850"/>
              <a:t>point</a:t>
            </a:r>
            <a:r>
              <a:rPr dirty="0" sz="1850" spc="-20"/>
              <a:t> </a:t>
            </a:r>
            <a:r>
              <a:rPr dirty="0" sz="1850"/>
              <a:t>is</a:t>
            </a:r>
            <a:r>
              <a:rPr dirty="0" sz="1850" spc="-20"/>
              <a:t> </a:t>
            </a:r>
            <a:r>
              <a:rPr dirty="0" sz="1850"/>
              <a:t>flagged</a:t>
            </a:r>
            <a:r>
              <a:rPr dirty="0" sz="1850" spc="-25"/>
              <a:t> </a:t>
            </a:r>
            <a:r>
              <a:rPr dirty="0" sz="1850"/>
              <a:t>as</a:t>
            </a:r>
            <a:r>
              <a:rPr dirty="0" sz="1850" spc="-20"/>
              <a:t> </a:t>
            </a:r>
            <a:r>
              <a:rPr dirty="0" sz="1850"/>
              <a:t>an</a:t>
            </a:r>
            <a:r>
              <a:rPr dirty="0" sz="1850" spc="-20"/>
              <a:t> </a:t>
            </a:r>
            <a:r>
              <a:rPr dirty="0" sz="1850"/>
              <a:t>outlier</a:t>
            </a:r>
            <a:r>
              <a:rPr dirty="0" sz="1850" spc="-20"/>
              <a:t> </a:t>
            </a:r>
            <a:r>
              <a:rPr dirty="0" sz="1850"/>
              <a:t>through</a:t>
            </a:r>
            <a:r>
              <a:rPr dirty="0" sz="1850" spc="-20"/>
              <a:t> </a:t>
            </a:r>
            <a:r>
              <a:rPr dirty="0" sz="1850"/>
              <a:t>explainable</a:t>
            </a:r>
            <a:r>
              <a:rPr dirty="0" sz="1850" spc="-25"/>
              <a:t> AI </a:t>
            </a:r>
            <a:r>
              <a:rPr dirty="0" sz="1850" spc="-10"/>
              <a:t>techniques</a:t>
            </a:r>
            <a:endParaRPr sz="18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850"/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1850"/>
          </a:p>
          <a:p>
            <a:pPr marL="1089025">
              <a:lnSpc>
                <a:spcPct val="100000"/>
              </a:lnSpc>
            </a:pPr>
            <a:r>
              <a:rPr dirty="0" spc="-10"/>
              <a:t>Robust</a:t>
            </a:r>
            <a:r>
              <a:rPr dirty="0" spc="-110"/>
              <a:t> </a:t>
            </a:r>
            <a:r>
              <a:rPr dirty="0" spc="-10"/>
              <a:t>Algorithms</a:t>
            </a:r>
          </a:p>
          <a:p>
            <a:pPr marL="1089025" marR="243840">
              <a:lnSpc>
                <a:spcPct val="121600"/>
              </a:lnSpc>
              <a:spcBef>
                <a:spcPts val="565"/>
              </a:spcBef>
            </a:pPr>
            <a:r>
              <a:rPr dirty="0" sz="1850"/>
              <a:t>Continued</a:t>
            </a:r>
            <a:r>
              <a:rPr dirty="0" sz="1850" spc="20"/>
              <a:t> </a:t>
            </a:r>
            <a:r>
              <a:rPr dirty="0" sz="1850"/>
              <a:t>development</a:t>
            </a:r>
            <a:r>
              <a:rPr dirty="0" sz="1850" spc="20"/>
              <a:t> </a:t>
            </a:r>
            <a:r>
              <a:rPr dirty="0" sz="1850"/>
              <a:t>of</a:t>
            </a:r>
            <a:r>
              <a:rPr dirty="0" sz="1850" spc="25"/>
              <a:t> </a:t>
            </a:r>
            <a:r>
              <a:rPr dirty="0" sz="1850"/>
              <a:t>efficient,</a:t>
            </a:r>
            <a:r>
              <a:rPr dirty="0" sz="1850" spc="20"/>
              <a:t> </a:t>
            </a:r>
            <a:r>
              <a:rPr dirty="0" sz="1850"/>
              <a:t>scalable</a:t>
            </a:r>
            <a:r>
              <a:rPr dirty="0" sz="1850" spc="25"/>
              <a:t> </a:t>
            </a:r>
            <a:r>
              <a:rPr dirty="0" sz="1850"/>
              <a:t>methods</a:t>
            </a:r>
            <a:r>
              <a:rPr dirty="0" sz="1850" spc="20"/>
              <a:t> </a:t>
            </a:r>
            <a:r>
              <a:rPr dirty="0" sz="1850"/>
              <a:t>like</a:t>
            </a:r>
            <a:r>
              <a:rPr dirty="0" sz="1850" spc="25"/>
              <a:t> </a:t>
            </a:r>
            <a:r>
              <a:rPr dirty="0" sz="1850"/>
              <a:t>EHBOS</a:t>
            </a:r>
            <a:r>
              <a:rPr dirty="0" sz="1850" spc="20"/>
              <a:t> </a:t>
            </a:r>
            <a:r>
              <a:rPr dirty="0" sz="1850" spc="-25"/>
              <a:t>for </a:t>
            </a:r>
            <a:r>
              <a:rPr dirty="0" sz="1850"/>
              <a:t>large </a:t>
            </a:r>
            <a:r>
              <a:rPr dirty="0" sz="1850" spc="-10"/>
              <a:t>datasets</a:t>
            </a:r>
            <a:endParaRPr sz="1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74521" y="4631442"/>
            <a:ext cx="3900804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/>
              <a:t>THANK</a:t>
            </a:r>
            <a:r>
              <a:rPr dirty="0" sz="5550" spc="45"/>
              <a:t> </a:t>
            </a:r>
            <a:r>
              <a:rPr dirty="0" sz="5550" spc="-35"/>
              <a:t>YOU</a:t>
            </a:r>
            <a:endParaRPr sz="55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Shivansh Mishra</dc:creator>
  <cp:keywords>DAHHYRNKEDw,BAGM45YgWs4,0</cp:keywords>
  <dc:title>Unmasking-the-Unusual-A-Guide-to-Outlier-Detection-Methods (2) (1).pptx</dc:title>
  <dcterms:created xsi:type="dcterms:W3CDTF">2026-04-20T10:02:16Z</dcterms:created>
  <dcterms:modified xsi:type="dcterms:W3CDTF">2026-04-20T10:02:16Z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2026-04-20T00:00:00Z</vt:filetime>
  </property>
  <property fmtid="{D5CDD505-2E9C-101B-9397-08002B2CF9AE}" pid="5" name="Producer">
    <vt:lpwstr>Canva</vt:lpwstr>
  </property>
</Properties>
</file>